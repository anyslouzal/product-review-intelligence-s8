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ravis de vous présenter notre projet de fin de semestre, Product Review Intelligence, un système multi-agents pour l'analyse de critiques produits. Je suis Anouar et je présente avec Yassine, Imad et Anys.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est simple. Les marques e-commerce reçoivent des milliers d'avis texte par jour. Le triage manuel est lent, et les APIs de sentiment basiques renvoient un label sans contexte concurrentiel ni audit. Notre objectif : produire un JSON structuré combinant sentiment déterministe ET contexte marché, le tout auditable avec un point de validation humain.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pipeline est séquentiel. Une review brute passe par un guardrail, puis par le SentimentAgent qui appelle BERT, ensuite un checkpoint HITL, puis le MarketAgent qui fait des recherches web, et enfin le ReportAgent qui synthétise le tout. Trois agents spécialisés orchestrés par une fonction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données, on utilise Amazon Reviews 2023, catégorie Beauty, 10 000 lignes pour l'entraînement. La distribution est déséquilibrée : 75% positif, 14% négatif, 11% neutre. On a fait un split stratifié 80/20, un mapping rating vers label, et une tokenisation BERT à 128 tokens max avec padding dynamique.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 fine-tuning, on a pris bert-base-uncased, 3 classes, 3 epochs, learning rate 2e-5, AdamW. Métrique de sélection : F1 pondéré pour ne pas être trompé par la classe majoritaire. Résultats : 86,2% d'accuracy et 0,859 de F1 pondéré au meilleur checkpoint epoch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agents avec des profils différents. SentimentAgent à température 0 avec l'outil BERT déterministe. MarketAgent à 0.3 pour varier les requêtes web. ReportAgent à 0 pour une synthèse reproductible. Chaque agent a son rôle, son LLM, ses outils.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mis en place plusieurs couches de robustesse. Un guardrail qui valide la longueur et le type. Des try/except dans chaque outil. Des callbacks sur chaque tâche pour l'audit. Et un catch-all au niveau orchestrateur. Six cas limites testés, six passés.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sorties réelles tirées de nos logs. Le cas positif a 0,997 de confiance, le négatif 0,971, et le cas ambigu mixte tombe à 0,664. C'est exactement ce qu'on veut d'un classifieur bien calibré.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 défis rencontrés. Les plus marquants : compat CrewAI 0.5.0 avec un dummy tool obligatoire, migration de Gemini à OpenAI, fichiers BERT 440 MB à purger de git, et deux passes de QA visuelle sur le 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Limites actuelles : déséquilibre classes, BERT 128 tokens, anglais uniquement, HITL en stdin. Perspectives : migration LangGraph, UI Streamlit, modèle multilingue XLM-RoBERTa, schéma Pydantic strict. Merci de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1426"/>
          </a:solidFill>
          <a:ln/>
        </p:spPr>
      </p:sp>
      <p:sp>
        <p:nvSpPr>
          <p:cNvPr id="3" name="Shape 1"/>
          <p:cNvSpPr/>
          <p:nvPr/>
        </p:nvSpPr>
        <p:spPr>
          <a:xfrm>
            <a:off x="0" y="0"/>
            <a:ext cx="18288000" cy="10287000"/>
          </a:xfrm>
          <a:prstGeom prst="rect">
            <a:avLst/>
          </a:prstGeom>
          <a:solidFill>
            <a:srgbClr val="213251">
              <a:alpha val="25000"/>
            </a:srgbClr>
          </a:solidFill>
          <a:ln/>
        </p:spPr>
      </p:sp>
      <p:sp>
        <p:nvSpPr>
          <p:cNvPr id="4" name="Shape 2"/>
          <p:cNvSpPr/>
          <p:nvPr/>
        </p:nvSpPr>
        <p:spPr>
          <a:xfrm>
            <a:off x="952500" y="838200"/>
            <a:ext cx="390525" cy="390525"/>
          </a:xfrm>
          <a:prstGeom prst="rect">
            <a:avLst/>
          </a:prstGeom>
          <a:ln w="14288">
            <a:solidFill>
              <a:srgbClr val="D4B06A"/>
            </a:solidFill>
            <a:prstDash val="solid"/>
          </a:ln>
        </p:spPr>
      </p:sp>
      <p:sp>
        <p:nvSpPr>
          <p:cNvPr id="5" name="Text 3"/>
          <p:cNvSpPr/>
          <p:nvPr/>
        </p:nvSpPr>
        <p:spPr>
          <a:xfrm>
            <a:off x="966788" y="852488"/>
            <a:ext cx="438150" cy="400050"/>
          </a:xfrm>
          <a:prstGeom prst="rect">
            <a:avLst/>
          </a:prstGeom>
          <a:noFill/>
          <a:ln/>
        </p:spPr>
        <p:txBody>
          <a:bodyPr wrap="square" lIns="25400" tIns="25400" rIns="25400" bIns="25400" rtlCol="0" anchor="t">
            <a:normAutofit/>
          </a:bodyPr>
          <a:lstStyle/>
          <a:p>
            <a:pPr algn="l" indent="0" marL="0">
              <a:buNone/>
            </a:pPr>
            <a:r>
              <a:rPr lang="en-US" sz="1650" i="1" dirty="0">
                <a:solidFill>
                  <a:srgbClr val="D4B06A"/>
                </a:solidFill>
                <a:latin typeface="Georgia" pitchFamily="34" charset="0"/>
                <a:ea typeface="Georgia" pitchFamily="34" charset="-122"/>
                <a:cs typeface="Georgia" pitchFamily="34" charset="-120"/>
              </a:rPr>
              <a:t>P</a:t>
            </a:r>
            <a:endParaRPr lang="en-US" sz="1650" dirty="0"/>
          </a:p>
        </p:txBody>
      </p:sp>
      <p:sp>
        <p:nvSpPr>
          <p:cNvPr id="6" name="Text 4"/>
          <p:cNvSpPr/>
          <p:nvPr/>
        </p:nvSpPr>
        <p:spPr>
          <a:xfrm>
            <a:off x="1476375" y="947737"/>
            <a:ext cx="3052063"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EEF2F8"/>
                </a:solidFill>
                <a:latin typeface="Courier New" pitchFamily="34" charset="0"/>
                <a:ea typeface="Courier New" pitchFamily="34" charset="-122"/>
                <a:cs typeface="Courier New" pitchFamily="34" charset="-120"/>
              </a:rPr>
              <a:t>PRODUCT REVIEW INTELLIGENCE</a:t>
            </a:r>
            <a:endParaRPr lang="en-US" sz="1200" dirty="0"/>
          </a:p>
        </p:txBody>
      </p:sp>
      <p:sp>
        <p:nvSpPr>
          <p:cNvPr id="7" name="Text 5"/>
          <p:cNvSpPr/>
          <p:nvPr/>
        </p:nvSpPr>
        <p:spPr>
          <a:xfrm>
            <a:off x="14701540" y="838200"/>
            <a:ext cx="2712979"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7D8AA3"/>
                </a:solidFill>
                <a:latin typeface="Courier New" pitchFamily="34" charset="0"/>
                <a:ea typeface="Courier New" pitchFamily="34" charset="-122"/>
                <a:cs typeface="Courier New" pitchFamily="34" charset="-120"/>
              </a:rPr>
              <a:t>S8 · ESIN UIR · MAI 2026</a:t>
            </a:r>
            <a:endParaRPr lang="en-US" sz="1200" dirty="0"/>
          </a:p>
        </p:txBody>
      </p:sp>
      <p:sp>
        <p:nvSpPr>
          <p:cNvPr id="8" name="Text 6"/>
          <p:cNvSpPr/>
          <p:nvPr/>
        </p:nvSpPr>
        <p:spPr>
          <a:xfrm>
            <a:off x="952500" y="2557463"/>
            <a:ext cx="16874490" cy="257175"/>
          </a:xfrm>
          <a:prstGeom prst="rect">
            <a:avLst/>
          </a:prstGeom>
          <a:noFill/>
          <a:ln/>
        </p:spPr>
        <p:txBody>
          <a:bodyPr wrap="square" lIns="25400" tIns="25400" rIns="25400" bIns="25400" rtlCol="0" anchor="t">
            <a:normAutofit/>
          </a:bodyPr>
          <a:lstStyle/>
          <a:p>
            <a:pPr algn="l" indent="0" marL="0">
              <a:buNone/>
            </a:pPr>
            <a:r>
              <a:rPr lang="en-US" sz="1500" spc="300" kern="0" dirty="0">
                <a:solidFill>
                  <a:srgbClr val="D4B06A"/>
                </a:solidFill>
                <a:latin typeface="Courier New" pitchFamily="34" charset="0"/>
                <a:ea typeface="Courier New" pitchFamily="34" charset="-122"/>
                <a:cs typeface="Courier New" pitchFamily="34" charset="-120"/>
              </a:rPr>
              <a:t>SOUTENANCE — DEEP LEARNING &amp; NLP</a:t>
            </a:r>
            <a:endParaRPr lang="en-US" sz="1500" dirty="0"/>
          </a:p>
        </p:txBody>
      </p:sp>
      <p:sp>
        <p:nvSpPr>
          <p:cNvPr id="9" name="Text 7"/>
          <p:cNvSpPr/>
          <p:nvPr/>
        </p:nvSpPr>
        <p:spPr>
          <a:xfrm>
            <a:off x="952500" y="3043238"/>
            <a:ext cx="16874490" cy="2200275"/>
          </a:xfrm>
          <a:prstGeom prst="rect">
            <a:avLst/>
          </a:prstGeom>
          <a:noFill/>
          <a:ln/>
        </p:spPr>
        <p:txBody>
          <a:bodyPr wrap="square" lIns="25400" tIns="25400" rIns="25400" bIns="25400" rtlCol="0" anchor="t">
            <a:normAutofit/>
          </a:bodyPr>
          <a:lstStyle/>
          <a:p>
            <a:pPr algn="l" indent="0" marL="0">
              <a:lnSpc>
                <a:spcPct val="98000"/>
              </a:lnSpc>
              <a:buNone/>
            </a:pPr>
            <a:r>
              <a:rPr lang="en-US" sz="8700" spc="-304" kern="0" dirty="0">
                <a:solidFill>
                  <a:srgbClr val="EEF2F8"/>
                </a:solidFill>
                <a:latin typeface="Arial" pitchFamily="34" charset="0"/>
                <a:ea typeface="Arial" pitchFamily="34" charset="-122"/>
                <a:cs typeface="Arial" pitchFamily="34" charset="-120"/>
              </a:rPr>
              <a:t>Analyse de critiques produits par </a:t>
            </a:r>
            <a:pPr algn="l" indent="0" marL="0">
              <a:lnSpc>
                <a:spcPct val="98000"/>
              </a:lnSpc>
              <a:buNone/>
            </a:pPr>
            <a:r>
              <a:rPr lang="en-US" sz="8700" i="1" spc="-304" kern="0" dirty="0">
                <a:solidFill>
                  <a:srgbClr val="D4B06A"/>
                </a:solidFill>
                <a:latin typeface="Georgia" pitchFamily="34" charset="0"/>
                <a:ea typeface="Georgia" pitchFamily="34" charset="-122"/>
                <a:cs typeface="Georgia" pitchFamily="34" charset="-120"/>
              </a:rPr>
              <a:t>système multi-agents</a:t>
            </a:r>
            <a:endParaRPr lang="en-US" sz="8700" dirty="0"/>
          </a:p>
        </p:txBody>
      </p:sp>
      <p:sp>
        <p:nvSpPr>
          <p:cNvPr id="10" name="Text 8"/>
          <p:cNvSpPr/>
          <p:nvPr/>
        </p:nvSpPr>
        <p:spPr>
          <a:xfrm>
            <a:off x="952500" y="5586413"/>
            <a:ext cx="12753975"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B8C2D4"/>
                </a:solidFill>
                <a:latin typeface="Arial" pitchFamily="34" charset="0"/>
                <a:ea typeface="Arial" pitchFamily="34" charset="-122"/>
                <a:cs typeface="Arial" pitchFamily="34" charset="-120"/>
              </a:rPr>
              <a:t>Sentiment déterministe via BERT fine-tuné, contexte concurrentiel via recherche web, et validation humaine entre les deux — pour un JSON auditable de bout en bout.</a:t>
            </a:r>
            <a:endParaRPr lang="en-US" sz="2250" dirty="0"/>
          </a:p>
        </p:txBody>
      </p:sp>
      <p:sp>
        <p:nvSpPr>
          <p:cNvPr id="11" name="Shape 9"/>
          <p:cNvSpPr/>
          <p:nvPr/>
        </p:nvSpPr>
        <p:spPr>
          <a:xfrm>
            <a:off x="952500" y="7715250"/>
            <a:ext cx="16383000" cy="9525"/>
          </a:xfrm>
          <a:prstGeom prst="rect">
            <a:avLst/>
          </a:prstGeom>
          <a:solidFill>
            <a:srgbClr val="2D4268"/>
          </a:solidFill>
          <a:ln/>
        </p:spPr>
      </p:sp>
      <p:sp>
        <p:nvSpPr>
          <p:cNvPr id="12" name="Text 10"/>
          <p:cNvSpPr/>
          <p:nvPr/>
        </p:nvSpPr>
        <p:spPr>
          <a:xfrm>
            <a:off x="952500" y="8067675"/>
            <a:ext cx="4844671" cy="180975"/>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7D8AA3"/>
                </a:solidFill>
                <a:latin typeface="Courier New" pitchFamily="34" charset="0"/>
                <a:ea typeface="Courier New" pitchFamily="34" charset="-122"/>
                <a:cs typeface="Courier New" pitchFamily="34" charset="-120"/>
              </a:rPr>
              <a:t>ÉQUIPE</a:t>
            </a:r>
            <a:endParaRPr lang="en-US" sz="975" dirty="0"/>
          </a:p>
        </p:txBody>
      </p:sp>
      <p:sp>
        <p:nvSpPr>
          <p:cNvPr id="13" name="Text 11"/>
          <p:cNvSpPr/>
          <p:nvPr/>
        </p:nvSpPr>
        <p:spPr>
          <a:xfrm>
            <a:off x="952500" y="8324850"/>
            <a:ext cx="2294632"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EEF2F8"/>
                </a:solidFill>
                <a:latin typeface="Arial" pitchFamily="34" charset="0"/>
                <a:ea typeface="Arial" pitchFamily="34" charset="-122"/>
                <a:cs typeface="Arial" pitchFamily="34" charset="-120"/>
              </a:rPr>
              <a:t>Mohamed Anouar FARESS</a:t>
            </a:r>
            <a:endParaRPr lang="en-US" sz="1500" dirty="0"/>
          </a:p>
        </p:txBody>
      </p:sp>
      <p:sp>
        <p:nvSpPr>
          <p:cNvPr id="14" name="Text 12"/>
          <p:cNvSpPr/>
          <p:nvPr/>
        </p:nvSpPr>
        <p:spPr>
          <a:xfrm>
            <a:off x="3437632" y="8324850"/>
            <a:ext cx="2294632"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EEF2F8"/>
                </a:solidFill>
                <a:latin typeface="Arial" pitchFamily="34" charset="0"/>
                <a:ea typeface="Arial" pitchFamily="34" charset="-122"/>
                <a:cs typeface="Arial" pitchFamily="34" charset="-120"/>
              </a:rPr>
              <a:t>Imad Eddine EL KHORASSANI</a:t>
            </a:r>
            <a:endParaRPr lang="en-US" sz="1500" dirty="0"/>
          </a:p>
        </p:txBody>
      </p:sp>
      <p:sp>
        <p:nvSpPr>
          <p:cNvPr id="15" name="Text 13"/>
          <p:cNvSpPr/>
          <p:nvPr/>
        </p:nvSpPr>
        <p:spPr>
          <a:xfrm>
            <a:off x="952500" y="8915400"/>
            <a:ext cx="2294632"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EEF2F8"/>
                </a:solidFill>
                <a:latin typeface="Arial" pitchFamily="34" charset="0"/>
                <a:ea typeface="Arial" pitchFamily="34" charset="-122"/>
                <a:cs typeface="Arial" pitchFamily="34" charset="-120"/>
              </a:rPr>
              <a:t>Mohammed Yassine BEN MEZIANE</a:t>
            </a:r>
            <a:endParaRPr lang="en-US" sz="1500" dirty="0"/>
          </a:p>
        </p:txBody>
      </p:sp>
      <p:sp>
        <p:nvSpPr>
          <p:cNvPr id="16" name="Text 14"/>
          <p:cNvSpPr/>
          <p:nvPr/>
        </p:nvSpPr>
        <p:spPr>
          <a:xfrm>
            <a:off x="3437632" y="8915400"/>
            <a:ext cx="2294632"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EEF2F8"/>
                </a:solidFill>
                <a:latin typeface="Arial" pitchFamily="34" charset="0"/>
                <a:ea typeface="Arial" pitchFamily="34" charset="-122"/>
                <a:cs typeface="Arial" pitchFamily="34" charset="-120"/>
              </a:rPr>
              <a:t>Anys LOUZAL</a:t>
            </a:r>
            <a:endParaRPr lang="en-US" sz="1500" dirty="0"/>
          </a:p>
        </p:txBody>
      </p:sp>
      <p:sp>
        <p:nvSpPr>
          <p:cNvPr id="17" name="Text 15"/>
          <p:cNvSpPr/>
          <p:nvPr/>
        </p:nvSpPr>
        <p:spPr>
          <a:xfrm>
            <a:off x="6189464" y="8067675"/>
            <a:ext cx="3460435" cy="180975"/>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7D8AA3"/>
                </a:solidFill>
                <a:latin typeface="Courier New" pitchFamily="34" charset="0"/>
                <a:ea typeface="Courier New" pitchFamily="34" charset="-122"/>
                <a:cs typeface="Courier New" pitchFamily="34" charset="-120"/>
              </a:rPr>
              <a:t>ENCADRANTS</a:t>
            </a:r>
            <a:endParaRPr lang="en-US" sz="975" dirty="0"/>
          </a:p>
        </p:txBody>
      </p:sp>
      <p:sp>
        <p:nvSpPr>
          <p:cNvPr id="18" name="Text 16"/>
          <p:cNvSpPr/>
          <p:nvPr/>
        </p:nvSpPr>
        <p:spPr>
          <a:xfrm>
            <a:off x="6189464" y="8324850"/>
            <a:ext cx="3460435" cy="60960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EF2F8"/>
                </a:solidFill>
                <a:latin typeface="Arial" pitchFamily="34" charset="0"/>
                <a:ea typeface="Arial" pitchFamily="34" charset="-122"/>
                <a:cs typeface="Arial" pitchFamily="34" charset="-120"/>
              </a:rPr>
              <a:t>Hakim Hafidi Youness Moukafih</a:t>
            </a:r>
            <a:endParaRPr lang="en-US" sz="1650" dirty="0"/>
          </a:p>
        </p:txBody>
      </p:sp>
      <p:sp>
        <p:nvSpPr>
          <p:cNvPr id="19" name="Text 17"/>
          <p:cNvSpPr/>
          <p:nvPr/>
        </p:nvSpPr>
        <p:spPr>
          <a:xfrm>
            <a:off x="10082510" y="8067675"/>
            <a:ext cx="3460589" cy="180975"/>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7D8AA3"/>
                </a:solidFill>
                <a:latin typeface="Courier New" pitchFamily="34" charset="0"/>
                <a:ea typeface="Courier New" pitchFamily="34" charset="-122"/>
                <a:cs typeface="Courier New" pitchFamily="34" charset="-120"/>
              </a:rPr>
              <a:t>COURS</a:t>
            </a:r>
            <a:endParaRPr lang="en-US" sz="975" dirty="0"/>
          </a:p>
        </p:txBody>
      </p:sp>
      <p:sp>
        <p:nvSpPr>
          <p:cNvPr id="20" name="Text 18"/>
          <p:cNvSpPr/>
          <p:nvPr/>
        </p:nvSpPr>
        <p:spPr>
          <a:xfrm>
            <a:off x="10082510" y="8324850"/>
            <a:ext cx="3460589" cy="60960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EF2F8"/>
                </a:solidFill>
                <a:latin typeface="Arial" pitchFamily="34" charset="0"/>
                <a:ea typeface="Arial" pitchFamily="34" charset="-122"/>
                <a:cs typeface="Arial" pitchFamily="34" charset="-120"/>
              </a:rPr>
              <a:t>Deep Learning &amp; NLP </a:t>
            </a:r>
            <a:pPr algn="l" indent="0" marL="0">
              <a:lnSpc>
                <a:spcPct val="140000"/>
              </a:lnSpc>
              <a:buNone/>
            </a:pPr>
            <a:r>
              <a:rPr lang="en-US" sz="1650" dirty="0">
                <a:solidFill>
                  <a:srgbClr val="D4B06A"/>
                </a:solidFill>
                <a:latin typeface="Arial" pitchFamily="34" charset="0"/>
                <a:ea typeface="Arial" pitchFamily="34" charset="-122"/>
                <a:cs typeface="Arial" pitchFamily="34" charset="-120"/>
              </a:rPr>
              <a:t>S8 — ESIN UIR</a:t>
            </a:r>
            <a:endParaRPr lang="en-US" sz="1650" dirty="0"/>
          </a:p>
        </p:txBody>
      </p:sp>
      <p:sp>
        <p:nvSpPr>
          <p:cNvPr id="21" name="Text 19"/>
          <p:cNvSpPr/>
          <p:nvPr/>
        </p:nvSpPr>
        <p:spPr>
          <a:xfrm>
            <a:off x="13975705" y="8067675"/>
            <a:ext cx="3460435" cy="180975"/>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7D8AA3"/>
                </a:solidFill>
                <a:latin typeface="Courier New" pitchFamily="34" charset="0"/>
                <a:ea typeface="Courier New" pitchFamily="34" charset="-122"/>
                <a:cs typeface="Courier New" pitchFamily="34" charset="-120"/>
              </a:rPr>
              <a:t>REPOSITORY</a:t>
            </a:r>
            <a:endParaRPr lang="en-US" sz="975" dirty="0"/>
          </a:p>
        </p:txBody>
      </p:sp>
      <p:sp>
        <p:nvSpPr>
          <p:cNvPr id="22" name="Text 20"/>
          <p:cNvSpPr/>
          <p:nvPr/>
        </p:nvSpPr>
        <p:spPr>
          <a:xfrm>
            <a:off x="13975705" y="8324850"/>
            <a:ext cx="3460435" cy="51435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EEF2F8"/>
                </a:solidFill>
                <a:latin typeface="Courier New" pitchFamily="34" charset="0"/>
                <a:ea typeface="Courier New" pitchFamily="34" charset="-122"/>
                <a:cs typeface="Courier New" pitchFamily="34" charset="-120"/>
              </a:rPr>
              <a:t>product-review- intelligence-s8</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533823"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02 — CONTEXTE</a:t>
            </a:r>
            <a:endParaRPr lang="en-US" sz="1125" dirty="0"/>
          </a:p>
        </p:txBody>
      </p:sp>
      <p:sp>
        <p:nvSpPr>
          <p:cNvPr id="3" name="Text 1"/>
          <p:cNvSpPr/>
          <p:nvPr/>
        </p:nvSpPr>
        <p:spPr>
          <a:xfrm>
            <a:off x="15489287" y="342900"/>
            <a:ext cx="1922413"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PROBLÈME &amp; OBJECTIF</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POURQUOI CE PROJET</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Des milliers d'avis bruts, aucune lecture structurée derrière.</a:t>
            </a:r>
            <a:endParaRPr lang="en-US" sz="4500" dirty="0"/>
          </a:p>
        </p:txBody>
      </p:sp>
      <p:sp>
        <p:nvSpPr>
          <p:cNvPr id="6" name="Shape 4"/>
          <p:cNvSpPr/>
          <p:nvPr/>
        </p:nvSpPr>
        <p:spPr>
          <a:xfrm>
            <a:off x="952500" y="2876550"/>
            <a:ext cx="8001000" cy="1857375"/>
          </a:xfrm>
          <a:prstGeom prst="rect">
            <a:avLst/>
          </a:prstGeom>
          <a:solidFill>
            <a:srgbClr val="0F1B30"/>
          </a:solidFill>
          <a:ln/>
        </p:spPr>
      </p:sp>
      <p:sp>
        <p:nvSpPr>
          <p:cNvPr id="7" name="Shape 5"/>
          <p:cNvSpPr/>
          <p:nvPr/>
        </p:nvSpPr>
        <p:spPr>
          <a:xfrm>
            <a:off x="952500" y="4724400"/>
            <a:ext cx="8001000" cy="9525"/>
          </a:xfrm>
          <a:prstGeom prst="rect">
            <a:avLst/>
          </a:prstGeom>
          <a:solidFill>
            <a:srgbClr val="213251"/>
          </a:solidFill>
          <a:ln/>
        </p:spPr>
      </p:sp>
      <p:sp>
        <p:nvSpPr>
          <p:cNvPr id="8" name="Shape 6"/>
          <p:cNvSpPr/>
          <p:nvPr/>
        </p:nvSpPr>
        <p:spPr>
          <a:xfrm>
            <a:off x="952500" y="2876550"/>
            <a:ext cx="8001000" cy="9525"/>
          </a:xfrm>
          <a:prstGeom prst="rect">
            <a:avLst/>
          </a:prstGeom>
          <a:solidFill>
            <a:srgbClr val="213251"/>
          </a:solidFill>
          <a:ln/>
        </p:spPr>
      </p:sp>
      <p:sp>
        <p:nvSpPr>
          <p:cNvPr id="9" name="Shape 7"/>
          <p:cNvSpPr/>
          <p:nvPr/>
        </p:nvSpPr>
        <p:spPr>
          <a:xfrm>
            <a:off x="952500" y="2876550"/>
            <a:ext cx="28575" cy="1857375"/>
          </a:xfrm>
          <a:prstGeom prst="rect">
            <a:avLst/>
          </a:prstGeom>
          <a:solidFill>
            <a:srgbClr val="D4B06A"/>
          </a:solidFill>
          <a:ln/>
        </p:spPr>
      </p:sp>
      <p:sp>
        <p:nvSpPr>
          <p:cNvPr id="10" name="Shape 8"/>
          <p:cNvSpPr/>
          <p:nvPr/>
        </p:nvSpPr>
        <p:spPr>
          <a:xfrm>
            <a:off x="8943975" y="2876550"/>
            <a:ext cx="9525" cy="1857375"/>
          </a:xfrm>
          <a:prstGeom prst="rect">
            <a:avLst/>
          </a:prstGeom>
          <a:solidFill>
            <a:srgbClr val="213251"/>
          </a:solidFill>
          <a:ln/>
        </p:spPr>
      </p:sp>
      <p:sp>
        <p:nvSpPr>
          <p:cNvPr id="11" name="Text 9"/>
          <p:cNvSpPr/>
          <p:nvPr/>
        </p:nvSpPr>
        <p:spPr>
          <a:xfrm>
            <a:off x="1323975" y="3190875"/>
            <a:ext cx="7495413" cy="1905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D4B06A"/>
                </a:solidFill>
                <a:latin typeface="Courier New" pitchFamily="34" charset="0"/>
                <a:ea typeface="Courier New" pitchFamily="34" charset="-122"/>
                <a:cs typeface="Courier New" pitchFamily="34" charset="-120"/>
              </a:rPr>
              <a:t>PROBLÈME</a:t>
            </a:r>
            <a:endParaRPr lang="en-US" sz="1050" dirty="0"/>
          </a:p>
        </p:txBody>
      </p:sp>
      <p:sp>
        <p:nvSpPr>
          <p:cNvPr id="12" name="Text 10"/>
          <p:cNvSpPr/>
          <p:nvPr/>
        </p:nvSpPr>
        <p:spPr>
          <a:xfrm>
            <a:off x="1323975" y="3476625"/>
            <a:ext cx="7495413"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EEF2F8"/>
                </a:solidFill>
                <a:latin typeface="Arial" pitchFamily="34" charset="0"/>
                <a:ea typeface="Arial" pitchFamily="34" charset="-122"/>
                <a:cs typeface="Arial" pitchFamily="34" charset="-120"/>
              </a:rPr>
              <a:t>Les marques e-commerce reçoivent des milliers d'avis texte par jour. Le triage manuel est lent et coûteux ; les APIs de sentiment basiques renvoient un label sans contexte concurrentiel, sans piste d'audit et sans override humain.</a:t>
            </a:r>
            <a:endParaRPr lang="en-US" sz="1650" dirty="0"/>
          </a:p>
        </p:txBody>
      </p:sp>
      <p:sp>
        <p:nvSpPr>
          <p:cNvPr id="13" name="Shape 11"/>
          <p:cNvSpPr/>
          <p:nvPr/>
        </p:nvSpPr>
        <p:spPr>
          <a:xfrm>
            <a:off x="952500" y="4905375"/>
            <a:ext cx="8001000" cy="1857375"/>
          </a:xfrm>
          <a:prstGeom prst="rect">
            <a:avLst/>
          </a:prstGeom>
          <a:solidFill>
            <a:srgbClr val="0F1B30"/>
          </a:solidFill>
          <a:ln/>
        </p:spPr>
      </p:sp>
      <p:sp>
        <p:nvSpPr>
          <p:cNvPr id="14" name="Shape 12"/>
          <p:cNvSpPr/>
          <p:nvPr/>
        </p:nvSpPr>
        <p:spPr>
          <a:xfrm>
            <a:off x="952500" y="6753225"/>
            <a:ext cx="8001000" cy="9525"/>
          </a:xfrm>
          <a:prstGeom prst="rect">
            <a:avLst/>
          </a:prstGeom>
          <a:solidFill>
            <a:srgbClr val="213251"/>
          </a:solidFill>
          <a:ln/>
        </p:spPr>
      </p:sp>
      <p:sp>
        <p:nvSpPr>
          <p:cNvPr id="15" name="Shape 13"/>
          <p:cNvSpPr/>
          <p:nvPr/>
        </p:nvSpPr>
        <p:spPr>
          <a:xfrm>
            <a:off x="952500" y="4905375"/>
            <a:ext cx="8001000" cy="9525"/>
          </a:xfrm>
          <a:prstGeom prst="rect">
            <a:avLst/>
          </a:prstGeom>
          <a:solidFill>
            <a:srgbClr val="213251"/>
          </a:solidFill>
          <a:ln/>
        </p:spPr>
      </p:sp>
      <p:sp>
        <p:nvSpPr>
          <p:cNvPr id="16" name="Shape 14"/>
          <p:cNvSpPr/>
          <p:nvPr/>
        </p:nvSpPr>
        <p:spPr>
          <a:xfrm>
            <a:off x="952500" y="4905375"/>
            <a:ext cx="28575" cy="1857375"/>
          </a:xfrm>
          <a:prstGeom prst="rect">
            <a:avLst/>
          </a:prstGeom>
          <a:solidFill>
            <a:srgbClr val="6FA3D2"/>
          </a:solidFill>
          <a:ln/>
        </p:spPr>
      </p:sp>
      <p:sp>
        <p:nvSpPr>
          <p:cNvPr id="17" name="Shape 15"/>
          <p:cNvSpPr/>
          <p:nvPr/>
        </p:nvSpPr>
        <p:spPr>
          <a:xfrm>
            <a:off x="8943975" y="4905375"/>
            <a:ext cx="9525" cy="1857375"/>
          </a:xfrm>
          <a:prstGeom prst="rect">
            <a:avLst/>
          </a:prstGeom>
          <a:solidFill>
            <a:srgbClr val="213251"/>
          </a:solidFill>
          <a:ln/>
        </p:spPr>
      </p:sp>
      <p:sp>
        <p:nvSpPr>
          <p:cNvPr id="18" name="Text 16"/>
          <p:cNvSpPr/>
          <p:nvPr/>
        </p:nvSpPr>
        <p:spPr>
          <a:xfrm>
            <a:off x="1323975" y="5219700"/>
            <a:ext cx="7495413" cy="1905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6FA3D2"/>
                </a:solidFill>
                <a:latin typeface="Courier New" pitchFamily="34" charset="0"/>
                <a:ea typeface="Courier New" pitchFamily="34" charset="-122"/>
                <a:cs typeface="Courier New" pitchFamily="34" charset="-120"/>
              </a:rPr>
              <a:t>OBJECTIF</a:t>
            </a:r>
            <a:endParaRPr lang="en-US" sz="1050" dirty="0"/>
          </a:p>
        </p:txBody>
      </p:sp>
      <p:sp>
        <p:nvSpPr>
          <p:cNvPr id="19" name="Text 17"/>
          <p:cNvSpPr/>
          <p:nvPr/>
        </p:nvSpPr>
        <p:spPr>
          <a:xfrm>
            <a:off x="1323975" y="5505450"/>
            <a:ext cx="7495413" cy="98107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EEF2F8"/>
                </a:solidFill>
                <a:latin typeface="Arial" pitchFamily="34" charset="0"/>
                <a:ea typeface="Arial" pitchFamily="34" charset="-122"/>
                <a:cs typeface="Arial" pitchFamily="34" charset="-120"/>
              </a:rPr>
              <a:t>À partir d'un avis libre, produire un JSON structuré combinant </a:t>
            </a:r>
            <a:pPr algn="l" indent="0" marL="0">
              <a:lnSpc>
                <a:spcPct val="150000"/>
              </a:lnSpc>
              <a:buNone/>
            </a:pPr>
            <a:r>
              <a:rPr lang="en-US" sz="1650" dirty="0">
                <a:solidFill>
                  <a:srgbClr val="D4B06A"/>
                </a:solidFill>
                <a:latin typeface="Arial" pitchFamily="34" charset="0"/>
                <a:ea typeface="Arial" pitchFamily="34" charset="-122"/>
                <a:cs typeface="Arial" pitchFamily="34" charset="-120"/>
              </a:rPr>
              <a:t>sentiment déterministe </a:t>
            </a:r>
            <a:pPr algn="l" indent="0" marL="0">
              <a:lnSpc>
                <a:spcPct val="150000"/>
              </a:lnSpc>
              <a:buNone/>
            </a:pPr>
            <a:r>
              <a:rPr lang="en-US" sz="1650" dirty="0">
                <a:solidFill>
                  <a:srgbClr val="EEF2F8"/>
                </a:solidFill>
                <a:latin typeface="Arial" pitchFamily="34" charset="0"/>
                <a:ea typeface="Arial" pitchFamily="34" charset="-122"/>
                <a:cs typeface="Arial" pitchFamily="34" charset="-120"/>
              </a:rPr>
              <a:t>et </a:t>
            </a:r>
            <a:pPr algn="l" indent="0" marL="0">
              <a:lnSpc>
                <a:spcPct val="150000"/>
              </a:lnSpc>
              <a:buNone/>
            </a:pPr>
            <a:r>
              <a:rPr lang="en-US" sz="1650" dirty="0">
                <a:solidFill>
                  <a:srgbClr val="D4B06A"/>
                </a:solidFill>
                <a:latin typeface="Arial" pitchFamily="34" charset="0"/>
                <a:ea typeface="Arial" pitchFamily="34" charset="-122"/>
                <a:cs typeface="Arial" pitchFamily="34" charset="-120"/>
              </a:rPr>
              <a:t>contexte marché </a:t>
            </a:r>
            <a:pPr algn="l" indent="0" marL="0">
              <a:lnSpc>
                <a:spcPct val="150000"/>
              </a:lnSpc>
              <a:buNone/>
            </a:pPr>
            <a:r>
              <a:rPr lang="en-US" sz="1650" dirty="0">
                <a:solidFill>
                  <a:srgbClr val="EEF2F8"/>
                </a:solidFill>
                <a:latin typeface="Arial" pitchFamily="34" charset="0"/>
                <a:ea typeface="Arial" pitchFamily="34" charset="-122"/>
                <a:cs typeface="Arial" pitchFamily="34" charset="-120"/>
              </a:rPr>
              <a:t>dans une seule sortie auditable, exploitable par les dashboards et alertes qualité.</a:t>
            </a:r>
            <a:endParaRPr lang="en-US" sz="1650" dirty="0"/>
          </a:p>
        </p:txBody>
      </p:sp>
      <p:sp>
        <p:nvSpPr>
          <p:cNvPr id="20" name="Text 18"/>
          <p:cNvSpPr/>
          <p:nvPr/>
        </p:nvSpPr>
        <p:spPr>
          <a:xfrm>
            <a:off x="9715500" y="2876550"/>
            <a:ext cx="7848600" cy="333375"/>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D4B06A"/>
                </a:solidFill>
                <a:latin typeface="Courier New" pitchFamily="34" charset="0"/>
                <a:ea typeface="Courier New" pitchFamily="34" charset="-122"/>
                <a:cs typeface="Courier New" pitchFamily="34" charset="-120"/>
              </a:rPr>
              <a:t>POURQUOI MULTI-AGENTS ?</a:t>
            </a:r>
            <a:endParaRPr lang="en-US" sz="1800" dirty="0"/>
          </a:p>
        </p:txBody>
      </p:sp>
      <p:sp>
        <p:nvSpPr>
          <p:cNvPr id="21" name="Shape 19"/>
          <p:cNvSpPr/>
          <p:nvPr/>
        </p:nvSpPr>
        <p:spPr>
          <a:xfrm>
            <a:off x="9715500" y="3457575"/>
            <a:ext cx="323850" cy="323850"/>
          </a:xfrm>
          <a:prstGeom prst="rect">
            <a:avLst/>
          </a:prstGeom>
          <a:ln w="9525">
            <a:solidFill>
              <a:srgbClr val="D4B06A"/>
            </a:solidFill>
            <a:prstDash val="solid"/>
          </a:ln>
        </p:spPr>
      </p:sp>
      <p:sp>
        <p:nvSpPr>
          <p:cNvPr id="22" name="Text 20"/>
          <p:cNvSpPr/>
          <p:nvPr/>
        </p:nvSpPr>
        <p:spPr>
          <a:xfrm>
            <a:off x="9725025" y="3467100"/>
            <a:ext cx="381000" cy="342900"/>
          </a:xfrm>
          <a:prstGeom prst="rect">
            <a:avLst/>
          </a:prstGeom>
          <a:noFill/>
          <a:ln/>
        </p:spPr>
        <p:txBody>
          <a:bodyPr wrap="square" lIns="25400" tIns="25400" rIns="25400" bIns="25400" rtlCol="0" anchor="t">
            <a:normAutofit/>
          </a:bodyPr>
          <a:lstStyle/>
          <a:p>
            <a:pPr algn="l" indent="0" marL="0">
              <a:buNone/>
            </a:pPr>
            <a:r>
              <a:rPr lang="en-US" sz="1350" dirty="0">
                <a:solidFill>
                  <a:srgbClr val="D4B06A"/>
                </a:solidFill>
                <a:latin typeface="Courier New" pitchFamily="34" charset="0"/>
                <a:ea typeface="Courier New" pitchFamily="34" charset="-122"/>
                <a:cs typeface="Courier New" pitchFamily="34" charset="-120"/>
              </a:rPr>
              <a:t>1</a:t>
            </a:r>
            <a:endParaRPr lang="en-US" sz="1350" dirty="0"/>
          </a:p>
        </p:txBody>
      </p:sp>
      <p:sp>
        <p:nvSpPr>
          <p:cNvPr id="23" name="Text 21"/>
          <p:cNvSpPr/>
          <p:nvPr/>
        </p:nvSpPr>
        <p:spPr>
          <a:xfrm>
            <a:off x="10287000" y="3438525"/>
            <a:ext cx="7259955" cy="609600"/>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EEF2F8"/>
                </a:solidFill>
                <a:latin typeface="Arial" pitchFamily="34" charset="0"/>
                <a:ea typeface="Arial" pitchFamily="34" charset="-122"/>
                <a:cs typeface="Arial" pitchFamily="34" charset="-120"/>
              </a:rPr>
              <a:t>Séparation des responsabilités </a:t>
            </a:r>
            <a:pPr algn="l" indent="0" marL="0">
              <a:lnSpc>
                <a:spcPct val="145000"/>
              </a:lnSpc>
              <a:buNone/>
            </a:pPr>
            <a:r>
              <a:rPr lang="en-US" sz="1575" dirty="0">
                <a:solidFill>
                  <a:srgbClr val="B8C2D4"/>
                </a:solidFill>
                <a:latin typeface="Arial" pitchFamily="34" charset="0"/>
                <a:ea typeface="Arial" pitchFamily="34" charset="-122"/>
                <a:cs typeface="Arial" pitchFamily="34" charset="-120"/>
              </a:rPr>
              <a:t>— sentiment déterministe et contexte marché ont des profils de fiabilité différents.</a:t>
            </a:r>
            <a:endParaRPr lang="en-US" sz="1575" dirty="0"/>
          </a:p>
        </p:txBody>
      </p:sp>
      <p:sp>
        <p:nvSpPr>
          <p:cNvPr id="24" name="Shape 22"/>
          <p:cNvSpPr/>
          <p:nvPr/>
        </p:nvSpPr>
        <p:spPr>
          <a:xfrm>
            <a:off x="9715500" y="4200525"/>
            <a:ext cx="323850" cy="323850"/>
          </a:xfrm>
          <a:prstGeom prst="rect">
            <a:avLst/>
          </a:prstGeom>
          <a:ln w="9525">
            <a:solidFill>
              <a:srgbClr val="D4B06A"/>
            </a:solidFill>
            <a:prstDash val="solid"/>
          </a:ln>
        </p:spPr>
      </p:sp>
      <p:sp>
        <p:nvSpPr>
          <p:cNvPr id="25" name="Text 23"/>
          <p:cNvSpPr/>
          <p:nvPr/>
        </p:nvSpPr>
        <p:spPr>
          <a:xfrm>
            <a:off x="9725025" y="4210050"/>
            <a:ext cx="381000" cy="342900"/>
          </a:xfrm>
          <a:prstGeom prst="rect">
            <a:avLst/>
          </a:prstGeom>
          <a:noFill/>
          <a:ln/>
        </p:spPr>
        <p:txBody>
          <a:bodyPr wrap="square" lIns="25400" tIns="25400" rIns="25400" bIns="25400" rtlCol="0" anchor="t">
            <a:normAutofit/>
          </a:bodyPr>
          <a:lstStyle/>
          <a:p>
            <a:pPr algn="l" indent="0" marL="0">
              <a:buNone/>
            </a:pPr>
            <a:r>
              <a:rPr lang="en-US" sz="1350" dirty="0">
                <a:solidFill>
                  <a:srgbClr val="D4B06A"/>
                </a:solidFill>
                <a:latin typeface="Courier New" pitchFamily="34" charset="0"/>
                <a:ea typeface="Courier New" pitchFamily="34" charset="-122"/>
                <a:cs typeface="Courier New" pitchFamily="34" charset="-120"/>
              </a:rPr>
              <a:t>2</a:t>
            </a:r>
            <a:endParaRPr lang="en-US" sz="1350" dirty="0"/>
          </a:p>
        </p:txBody>
      </p:sp>
      <p:sp>
        <p:nvSpPr>
          <p:cNvPr id="26" name="Text 24"/>
          <p:cNvSpPr/>
          <p:nvPr/>
        </p:nvSpPr>
        <p:spPr>
          <a:xfrm>
            <a:off x="10287000" y="4181475"/>
            <a:ext cx="7259955" cy="609600"/>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EEF2F8"/>
                </a:solidFill>
                <a:latin typeface="Arial" pitchFamily="34" charset="0"/>
                <a:ea typeface="Arial" pitchFamily="34" charset="-122"/>
                <a:cs typeface="Arial" pitchFamily="34" charset="-120"/>
              </a:rPr>
              <a:t>Déterminisme outillé </a:t>
            </a:r>
            <a:pPr algn="l" indent="0" marL="0">
              <a:lnSpc>
                <a:spcPct val="145000"/>
              </a:lnSpc>
              <a:buNone/>
            </a:pPr>
            <a:r>
              <a:rPr lang="en-US" sz="1575" dirty="0">
                <a:solidFill>
                  <a:srgbClr val="B8C2D4"/>
                </a:solidFill>
                <a:latin typeface="Arial" pitchFamily="34" charset="0"/>
                <a:ea typeface="Arial" pitchFamily="34" charset="-122"/>
                <a:cs typeface="Arial" pitchFamily="34" charset="-120"/>
              </a:rPr>
              <a:t>— l'agent sentiment appelle toujours BERT, jamais ne devine.</a:t>
            </a:r>
            <a:endParaRPr lang="en-US" sz="1575" dirty="0"/>
          </a:p>
        </p:txBody>
      </p:sp>
      <p:sp>
        <p:nvSpPr>
          <p:cNvPr id="27" name="Shape 25"/>
          <p:cNvSpPr/>
          <p:nvPr/>
        </p:nvSpPr>
        <p:spPr>
          <a:xfrm>
            <a:off x="9715500" y="4943475"/>
            <a:ext cx="323850" cy="323850"/>
          </a:xfrm>
          <a:prstGeom prst="rect">
            <a:avLst/>
          </a:prstGeom>
          <a:ln w="9525">
            <a:solidFill>
              <a:srgbClr val="D4B06A"/>
            </a:solidFill>
            <a:prstDash val="solid"/>
          </a:ln>
        </p:spPr>
      </p:sp>
      <p:sp>
        <p:nvSpPr>
          <p:cNvPr id="28" name="Text 26"/>
          <p:cNvSpPr/>
          <p:nvPr/>
        </p:nvSpPr>
        <p:spPr>
          <a:xfrm>
            <a:off x="9725025" y="4953000"/>
            <a:ext cx="381000" cy="342900"/>
          </a:xfrm>
          <a:prstGeom prst="rect">
            <a:avLst/>
          </a:prstGeom>
          <a:noFill/>
          <a:ln/>
        </p:spPr>
        <p:txBody>
          <a:bodyPr wrap="square" lIns="25400" tIns="25400" rIns="25400" bIns="25400" rtlCol="0" anchor="t">
            <a:normAutofit/>
          </a:bodyPr>
          <a:lstStyle/>
          <a:p>
            <a:pPr algn="l" indent="0" marL="0">
              <a:buNone/>
            </a:pPr>
            <a:r>
              <a:rPr lang="en-US" sz="1350" dirty="0">
                <a:solidFill>
                  <a:srgbClr val="D4B06A"/>
                </a:solidFill>
                <a:latin typeface="Courier New" pitchFamily="34" charset="0"/>
                <a:ea typeface="Courier New" pitchFamily="34" charset="-122"/>
                <a:cs typeface="Courier New" pitchFamily="34" charset="-120"/>
              </a:rPr>
              <a:t>3</a:t>
            </a:r>
            <a:endParaRPr lang="en-US" sz="1350" dirty="0"/>
          </a:p>
        </p:txBody>
      </p:sp>
      <p:sp>
        <p:nvSpPr>
          <p:cNvPr id="29" name="Text 27"/>
          <p:cNvSpPr/>
          <p:nvPr/>
        </p:nvSpPr>
        <p:spPr>
          <a:xfrm>
            <a:off x="10287000" y="4924425"/>
            <a:ext cx="7259955" cy="323850"/>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EEF2F8"/>
                </a:solidFill>
                <a:latin typeface="Arial" pitchFamily="34" charset="0"/>
                <a:ea typeface="Arial" pitchFamily="34" charset="-122"/>
                <a:cs typeface="Arial" pitchFamily="34" charset="-120"/>
              </a:rPr>
              <a:t>Auditabilité </a:t>
            </a:r>
            <a:pPr algn="l" indent="0" marL="0">
              <a:lnSpc>
                <a:spcPct val="145000"/>
              </a:lnSpc>
              <a:buNone/>
            </a:pPr>
            <a:r>
              <a:rPr lang="en-US" sz="1575" dirty="0">
                <a:solidFill>
                  <a:srgbClr val="B8C2D4"/>
                </a:solidFill>
                <a:latin typeface="Arial" pitchFamily="34" charset="0"/>
                <a:ea typeface="Arial" pitchFamily="34" charset="-122"/>
                <a:cs typeface="Arial" pitchFamily="34" charset="-120"/>
              </a:rPr>
              <a:t>— chaque agent émet son propre log horodaté.</a:t>
            </a:r>
            <a:endParaRPr lang="en-US" sz="1575" dirty="0"/>
          </a:p>
        </p:txBody>
      </p:sp>
      <p:sp>
        <p:nvSpPr>
          <p:cNvPr id="30" name="Shape 28"/>
          <p:cNvSpPr/>
          <p:nvPr/>
        </p:nvSpPr>
        <p:spPr>
          <a:xfrm>
            <a:off x="9715500" y="5457825"/>
            <a:ext cx="323850" cy="323850"/>
          </a:xfrm>
          <a:prstGeom prst="rect">
            <a:avLst/>
          </a:prstGeom>
          <a:ln w="9525">
            <a:solidFill>
              <a:srgbClr val="D4B06A"/>
            </a:solidFill>
            <a:prstDash val="solid"/>
          </a:ln>
        </p:spPr>
      </p:sp>
      <p:sp>
        <p:nvSpPr>
          <p:cNvPr id="31" name="Text 29"/>
          <p:cNvSpPr/>
          <p:nvPr/>
        </p:nvSpPr>
        <p:spPr>
          <a:xfrm>
            <a:off x="9725025" y="5467350"/>
            <a:ext cx="381000" cy="342900"/>
          </a:xfrm>
          <a:prstGeom prst="rect">
            <a:avLst/>
          </a:prstGeom>
          <a:noFill/>
          <a:ln/>
        </p:spPr>
        <p:txBody>
          <a:bodyPr wrap="square" lIns="25400" tIns="25400" rIns="25400" bIns="25400" rtlCol="0" anchor="t">
            <a:normAutofit/>
          </a:bodyPr>
          <a:lstStyle/>
          <a:p>
            <a:pPr algn="l" indent="0" marL="0">
              <a:buNone/>
            </a:pPr>
            <a:r>
              <a:rPr lang="en-US" sz="1350" dirty="0">
                <a:solidFill>
                  <a:srgbClr val="D4B06A"/>
                </a:solidFill>
                <a:latin typeface="Courier New" pitchFamily="34" charset="0"/>
                <a:ea typeface="Courier New" pitchFamily="34" charset="-122"/>
                <a:cs typeface="Courier New" pitchFamily="34" charset="-120"/>
              </a:rPr>
              <a:t>4</a:t>
            </a:r>
            <a:endParaRPr lang="en-US" sz="1350" dirty="0"/>
          </a:p>
        </p:txBody>
      </p:sp>
      <p:sp>
        <p:nvSpPr>
          <p:cNvPr id="32" name="Text 30"/>
          <p:cNvSpPr/>
          <p:nvPr/>
        </p:nvSpPr>
        <p:spPr>
          <a:xfrm>
            <a:off x="10287000" y="5438775"/>
            <a:ext cx="7259955" cy="609600"/>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EEF2F8"/>
                </a:solidFill>
                <a:latin typeface="Arial" pitchFamily="34" charset="0"/>
                <a:ea typeface="Arial" pitchFamily="34" charset="-122"/>
                <a:cs typeface="Arial" pitchFamily="34" charset="-120"/>
              </a:rPr>
              <a:t>Override humain </a:t>
            </a:r>
            <a:pPr algn="l" indent="0" marL="0">
              <a:lnSpc>
                <a:spcPct val="145000"/>
              </a:lnSpc>
              <a:buNone/>
            </a:pPr>
            <a:r>
              <a:rPr lang="en-US" sz="1575" dirty="0">
                <a:solidFill>
                  <a:srgbClr val="B8C2D4"/>
                </a:solidFill>
                <a:latin typeface="Arial" pitchFamily="34" charset="0"/>
                <a:ea typeface="Arial" pitchFamily="34" charset="-122"/>
                <a:cs typeface="Arial" pitchFamily="34" charset="-120"/>
              </a:rPr>
              <a:t>— un checkpoint HITL propre entre l'étape déterministe et l'étape ouverte.</a:t>
            </a:r>
            <a:endParaRPr lang="en-US" sz="1575" dirty="0"/>
          </a:p>
        </p:txBody>
      </p:sp>
      <p:sp>
        <p:nvSpPr>
          <p:cNvPr id="33" name="Shape 31"/>
          <p:cNvSpPr/>
          <p:nvPr/>
        </p:nvSpPr>
        <p:spPr>
          <a:xfrm>
            <a:off x="9715500" y="6200775"/>
            <a:ext cx="323850" cy="323850"/>
          </a:xfrm>
          <a:prstGeom prst="rect">
            <a:avLst/>
          </a:prstGeom>
          <a:ln w="9525">
            <a:solidFill>
              <a:srgbClr val="D4B06A"/>
            </a:solidFill>
            <a:prstDash val="solid"/>
          </a:ln>
        </p:spPr>
      </p:sp>
      <p:sp>
        <p:nvSpPr>
          <p:cNvPr id="34" name="Text 32"/>
          <p:cNvSpPr/>
          <p:nvPr/>
        </p:nvSpPr>
        <p:spPr>
          <a:xfrm>
            <a:off x="9725025" y="6210300"/>
            <a:ext cx="381000" cy="342900"/>
          </a:xfrm>
          <a:prstGeom prst="rect">
            <a:avLst/>
          </a:prstGeom>
          <a:noFill/>
          <a:ln/>
        </p:spPr>
        <p:txBody>
          <a:bodyPr wrap="square" lIns="25400" tIns="25400" rIns="25400" bIns="25400" rtlCol="0" anchor="t">
            <a:normAutofit/>
          </a:bodyPr>
          <a:lstStyle/>
          <a:p>
            <a:pPr algn="l" indent="0" marL="0">
              <a:buNone/>
            </a:pPr>
            <a:r>
              <a:rPr lang="en-US" sz="1350" dirty="0">
                <a:solidFill>
                  <a:srgbClr val="D4B06A"/>
                </a:solidFill>
                <a:latin typeface="Courier New" pitchFamily="34" charset="0"/>
                <a:ea typeface="Courier New" pitchFamily="34" charset="-122"/>
                <a:cs typeface="Courier New" pitchFamily="34" charset="-120"/>
              </a:rPr>
              <a:t>5</a:t>
            </a:r>
            <a:endParaRPr lang="en-US" sz="1350" dirty="0"/>
          </a:p>
        </p:txBody>
      </p:sp>
      <p:sp>
        <p:nvSpPr>
          <p:cNvPr id="35" name="Text 33"/>
          <p:cNvSpPr/>
          <p:nvPr/>
        </p:nvSpPr>
        <p:spPr>
          <a:xfrm>
            <a:off x="10287000" y="6181725"/>
            <a:ext cx="7259955" cy="609600"/>
          </a:xfrm>
          <a:prstGeom prst="rect">
            <a:avLst/>
          </a:prstGeom>
          <a:noFill/>
          <a:ln/>
        </p:spPr>
        <p:txBody>
          <a:bodyPr wrap="square" lIns="25400" tIns="25400" rIns="25400" bIns="25400" rtlCol="0" anchor="t">
            <a:normAutofit/>
          </a:bodyPr>
          <a:lstStyle/>
          <a:p>
            <a:pPr algn="l" indent="0" marL="0">
              <a:lnSpc>
                <a:spcPct val="145000"/>
              </a:lnSpc>
              <a:buNone/>
            </a:pPr>
            <a:r>
              <a:rPr lang="en-US" sz="1575" b="1" dirty="0">
                <a:solidFill>
                  <a:srgbClr val="EEF2F8"/>
                </a:solidFill>
                <a:latin typeface="Arial" pitchFamily="34" charset="0"/>
                <a:ea typeface="Arial" pitchFamily="34" charset="-122"/>
                <a:cs typeface="Arial" pitchFamily="34" charset="-120"/>
              </a:rPr>
              <a:t>Cadre pédagogique </a:t>
            </a:r>
            <a:pPr algn="l" indent="0" marL="0">
              <a:lnSpc>
                <a:spcPct val="145000"/>
              </a:lnSpc>
              <a:buNone/>
            </a:pPr>
            <a:r>
              <a:rPr lang="en-US" sz="1575" dirty="0">
                <a:solidFill>
                  <a:srgbClr val="B8C2D4"/>
                </a:solidFill>
                <a:latin typeface="Arial" pitchFamily="34" charset="0"/>
                <a:ea typeface="Arial" pitchFamily="34" charset="-122"/>
                <a:cs typeface="Arial" pitchFamily="34" charset="-120"/>
              </a:rPr>
              <a:t>— l'orchestration multi-agents est l'objectif explicite du S8.</a:t>
            </a:r>
            <a:endParaRPr lang="en-US" sz="1575" dirty="0"/>
          </a:p>
        </p:txBody>
      </p:sp>
      <p:sp>
        <p:nvSpPr>
          <p:cNvPr id="36" name="Text 34"/>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37" name="Text 35"/>
          <p:cNvSpPr/>
          <p:nvPr/>
        </p:nvSpPr>
        <p:spPr>
          <a:xfrm>
            <a:off x="15310842" y="9791700"/>
            <a:ext cx="2100858"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A. FARESS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436638"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03 — SYSTÈME</a:t>
            </a:r>
            <a:endParaRPr lang="en-US" sz="1125" dirty="0"/>
          </a:p>
        </p:txBody>
      </p:sp>
      <p:sp>
        <p:nvSpPr>
          <p:cNvPr id="3" name="Text 1"/>
          <p:cNvSpPr/>
          <p:nvPr/>
        </p:nvSpPr>
        <p:spPr>
          <a:xfrm>
            <a:off x="15003363" y="342900"/>
            <a:ext cx="2408337"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ARCHITECTURE DU PIPELINE</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COMMENT ÇA S'ENCHAÎNE</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Un pipeline séquentiel, trois spécialistes, un point d'arrêt humain.</a:t>
            </a:r>
            <a:endParaRPr lang="en-US" sz="4500" dirty="0"/>
          </a:p>
        </p:txBody>
      </p:sp>
      <p:sp>
        <p:nvSpPr>
          <p:cNvPr id="6" name="Shape 4"/>
          <p:cNvSpPr/>
          <p:nvPr/>
        </p:nvSpPr>
        <p:spPr>
          <a:xfrm>
            <a:off x="952500" y="3067050"/>
            <a:ext cx="2651075" cy="1038225"/>
          </a:xfrm>
          <a:prstGeom prst="rect">
            <a:avLst/>
          </a:prstGeom>
          <a:solidFill>
            <a:srgbClr val="0F1B30"/>
          </a:solidFill>
          <a:ln w="9525">
            <a:solidFill>
              <a:srgbClr val="213251"/>
            </a:solidFill>
            <a:prstDash val="solid"/>
          </a:ln>
        </p:spPr>
      </p:sp>
      <p:sp>
        <p:nvSpPr>
          <p:cNvPr id="7" name="Text 5"/>
          <p:cNvSpPr/>
          <p:nvPr/>
        </p:nvSpPr>
        <p:spPr>
          <a:xfrm>
            <a:off x="1805434" y="3267075"/>
            <a:ext cx="945059" cy="171450"/>
          </a:xfrm>
          <a:prstGeom prst="rect">
            <a:avLst/>
          </a:prstGeom>
          <a:noFill/>
          <a:ln/>
        </p:spPr>
        <p:txBody>
          <a:bodyPr wrap="square" lIns="25400" tIns="25400" rIns="25400" bIns="25400" rtlCol="0" anchor="t">
            <a:normAutofit/>
          </a:bodyPr>
          <a:lstStyle/>
          <a:p>
            <a:pPr algn="ctr" indent="0" marL="0">
              <a:buNone/>
            </a:pPr>
            <a:r>
              <a:rPr lang="en-US" sz="900" spc="144" kern="0" dirty="0">
                <a:solidFill>
                  <a:srgbClr val="7D8AA3"/>
                </a:solidFill>
                <a:latin typeface="Courier New" pitchFamily="34" charset="0"/>
                <a:ea typeface="Courier New" pitchFamily="34" charset="-122"/>
                <a:cs typeface="Courier New" pitchFamily="34" charset="-120"/>
              </a:rPr>
              <a:t>01 · INPUT</a:t>
            </a:r>
            <a:endParaRPr lang="en-US" sz="900" dirty="0"/>
          </a:p>
        </p:txBody>
      </p:sp>
      <p:sp>
        <p:nvSpPr>
          <p:cNvPr id="8" name="Text 6"/>
          <p:cNvSpPr/>
          <p:nvPr/>
        </p:nvSpPr>
        <p:spPr>
          <a:xfrm>
            <a:off x="1739950" y="3476625"/>
            <a:ext cx="1076176" cy="247650"/>
          </a:xfrm>
          <a:prstGeom prst="rect">
            <a:avLst/>
          </a:prstGeom>
          <a:noFill/>
          <a:ln/>
        </p:spPr>
        <p:txBody>
          <a:bodyPr wrap="square" lIns="25400" tIns="25400" rIns="25400" bIns="25400" rtlCol="0" anchor="t">
            <a:normAutofit/>
          </a:bodyPr>
          <a:lstStyle/>
          <a:p>
            <a:pPr algn="ctr" indent="0" marL="0">
              <a:lnSpc>
                <a:spcPct val="120000"/>
              </a:lnSpc>
              <a:buNone/>
            </a:pPr>
            <a:r>
              <a:rPr lang="en-US" sz="1425" b="1" dirty="0">
                <a:solidFill>
                  <a:srgbClr val="EEF2F8"/>
                </a:solidFill>
                <a:latin typeface="Arial" pitchFamily="34" charset="0"/>
                <a:ea typeface="Arial" pitchFamily="34" charset="-122"/>
                <a:cs typeface="Arial" pitchFamily="34" charset="-120"/>
              </a:rPr>
              <a:t>Raw review</a:t>
            </a:r>
            <a:endParaRPr lang="en-US" sz="1425" dirty="0"/>
          </a:p>
        </p:txBody>
      </p:sp>
      <p:sp>
        <p:nvSpPr>
          <p:cNvPr id="9" name="Text 7"/>
          <p:cNvSpPr/>
          <p:nvPr/>
        </p:nvSpPr>
        <p:spPr>
          <a:xfrm>
            <a:off x="2128391" y="3762375"/>
            <a:ext cx="299145" cy="180975"/>
          </a:xfrm>
          <a:prstGeom prst="rect">
            <a:avLst/>
          </a:prstGeom>
          <a:noFill/>
          <a:ln/>
        </p:spPr>
        <p:txBody>
          <a:bodyPr wrap="square" lIns="25400" tIns="25400" rIns="25400" bIns="25400" rtlCol="0" anchor="t">
            <a:normAutofit/>
          </a:bodyPr>
          <a:lstStyle/>
          <a:p>
            <a:pPr algn="ctr" indent="0" marL="0">
              <a:buNone/>
            </a:pPr>
            <a:r>
              <a:rPr lang="en-US" sz="975" dirty="0">
                <a:solidFill>
                  <a:srgbClr val="7D8AA3"/>
                </a:solidFill>
                <a:latin typeface="Courier New" pitchFamily="34" charset="0"/>
                <a:ea typeface="Courier New" pitchFamily="34" charset="-122"/>
                <a:cs typeface="Courier New" pitchFamily="34" charset="-120"/>
              </a:rPr>
              <a:t>str</a:t>
            </a:r>
            <a:endParaRPr lang="en-US" sz="975" dirty="0"/>
          </a:p>
        </p:txBody>
      </p:sp>
      <p:sp>
        <p:nvSpPr>
          <p:cNvPr id="10" name="Shape 8"/>
          <p:cNvSpPr/>
          <p:nvPr/>
        </p:nvSpPr>
        <p:spPr>
          <a:xfrm>
            <a:off x="3698825" y="3067050"/>
            <a:ext cx="2651075" cy="1038225"/>
          </a:xfrm>
          <a:prstGeom prst="rect">
            <a:avLst/>
          </a:prstGeom>
          <a:solidFill>
            <a:srgbClr val="0F1B30"/>
          </a:solidFill>
          <a:ln w="9525">
            <a:solidFill>
              <a:srgbClr val="213251"/>
            </a:solidFill>
            <a:prstDash val="solid"/>
          </a:ln>
        </p:spPr>
      </p:sp>
      <p:sp>
        <p:nvSpPr>
          <p:cNvPr id="11" name="Text 9"/>
          <p:cNvSpPr/>
          <p:nvPr/>
        </p:nvSpPr>
        <p:spPr>
          <a:xfrm>
            <a:off x="4378077" y="3267075"/>
            <a:ext cx="1292572" cy="171450"/>
          </a:xfrm>
          <a:prstGeom prst="rect">
            <a:avLst/>
          </a:prstGeom>
          <a:noFill/>
          <a:ln/>
        </p:spPr>
        <p:txBody>
          <a:bodyPr wrap="square" lIns="25400" tIns="25400" rIns="25400" bIns="25400" rtlCol="0" anchor="t">
            <a:normAutofit/>
          </a:bodyPr>
          <a:lstStyle/>
          <a:p>
            <a:pPr algn="ctr" indent="0" marL="0">
              <a:buNone/>
            </a:pPr>
            <a:r>
              <a:rPr lang="en-US" sz="900" spc="144" kern="0" dirty="0">
                <a:solidFill>
                  <a:srgbClr val="7D8AA3"/>
                </a:solidFill>
                <a:latin typeface="Courier New" pitchFamily="34" charset="0"/>
                <a:ea typeface="Courier New" pitchFamily="34" charset="-122"/>
                <a:cs typeface="Courier New" pitchFamily="34" charset="-120"/>
              </a:rPr>
              <a:t>02 · GARDE-FOU</a:t>
            </a:r>
            <a:endParaRPr lang="en-US" sz="900" dirty="0"/>
          </a:p>
        </p:txBody>
      </p:sp>
      <p:sp>
        <p:nvSpPr>
          <p:cNvPr id="12" name="Text 10"/>
          <p:cNvSpPr/>
          <p:nvPr/>
        </p:nvSpPr>
        <p:spPr>
          <a:xfrm>
            <a:off x="4237732" y="3476625"/>
            <a:ext cx="1573113" cy="247650"/>
          </a:xfrm>
          <a:prstGeom prst="rect">
            <a:avLst/>
          </a:prstGeom>
          <a:noFill/>
          <a:ln/>
        </p:spPr>
        <p:txBody>
          <a:bodyPr wrap="square" lIns="25400" tIns="25400" rIns="25400" bIns="25400" rtlCol="0" anchor="t">
            <a:normAutofit/>
          </a:bodyPr>
          <a:lstStyle/>
          <a:p>
            <a:pPr algn="ctr" indent="0" marL="0">
              <a:lnSpc>
                <a:spcPct val="120000"/>
              </a:lnSpc>
              <a:buNone/>
            </a:pPr>
            <a:r>
              <a:rPr lang="en-US" sz="1425" b="1" dirty="0">
                <a:solidFill>
                  <a:srgbClr val="EEF2F8"/>
                </a:solidFill>
                <a:latin typeface="Arial" pitchFamily="34" charset="0"/>
                <a:ea typeface="Arial" pitchFamily="34" charset="-122"/>
                <a:cs typeface="Arial" pitchFamily="34" charset="-120"/>
              </a:rPr>
              <a:t>validate_review()</a:t>
            </a:r>
            <a:endParaRPr lang="en-US" sz="1425" dirty="0"/>
          </a:p>
        </p:txBody>
      </p:sp>
      <p:sp>
        <p:nvSpPr>
          <p:cNvPr id="13" name="Text 11"/>
          <p:cNvSpPr/>
          <p:nvPr/>
        </p:nvSpPr>
        <p:spPr>
          <a:xfrm>
            <a:off x="4503241" y="3762375"/>
            <a:ext cx="1042243" cy="180975"/>
          </a:xfrm>
          <a:prstGeom prst="rect">
            <a:avLst/>
          </a:prstGeom>
          <a:noFill/>
          <a:ln/>
        </p:spPr>
        <p:txBody>
          <a:bodyPr wrap="square" lIns="25400" tIns="25400" rIns="25400" bIns="25400" rtlCol="0" anchor="t">
            <a:normAutofit/>
          </a:bodyPr>
          <a:lstStyle/>
          <a:p>
            <a:pPr algn="ctr" indent="0" marL="0">
              <a:buNone/>
            </a:pPr>
            <a:r>
              <a:rPr lang="en-US" sz="975" dirty="0">
                <a:solidFill>
                  <a:srgbClr val="7D8AA3"/>
                </a:solidFill>
                <a:latin typeface="Courier New" pitchFamily="34" charset="0"/>
                <a:ea typeface="Courier New" pitchFamily="34" charset="-122"/>
                <a:cs typeface="Courier New" pitchFamily="34" charset="-120"/>
              </a:rPr>
              <a:t>guardrails.py</a:t>
            </a:r>
            <a:endParaRPr lang="en-US" sz="975" dirty="0"/>
          </a:p>
        </p:txBody>
      </p:sp>
      <p:sp>
        <p:nvSpPr>
          <p:cNvPr id="14" name="Shape 12"/>
          <p:cNvSpPr/>
          <p:nvPr/>
        </p:nvSpPr>
        <p:spPr>
          <a:xfrm>
            <a:off x="6445151" y="3067050"/>
            <a:ext cx="2651075" cy="1038225"/>
          </a:xfrm>
          <a:prstGeom prst="rect">
            <a:avLst/>
          </a:prstGeom>
          <a:solidFill>
            <a:srgbClr val="D4B06A">
              <a:alpha val="14000"/>
            </a:srgbClr>
          </a:solidFill>
          <a:ln w="9525">
            <a:solidFill>
              <a:srgbClr val="D4B06A"/>
            </a:solidFill>
            <a:prstDash val="solid"/>
          </a:ln>
        </p:spPr>
      </p:sp>
      <p:sp>
        <p:nvSpPr>
          <p:cNvPr id="15" name="Text 13"/>
          <p:cNvSpPr/>
          <p:nvPr/>
        </p:nvSpPr>
        <p:spPr>
          <a:xfrm>
            <a:off x="7298085" y="3267075"/>
            <a:ext cx="945059" cy="171450"/>
          </a:xfrm>
          <a:prstGeom prst="rect">
            <a:avLst/>
          </a:prstGeom>
          <a:noFill/>
          <a:ln/>
        </p:spPr>
        <p:txBody>
          <a:bodyPr wrap="square" lIns="25400" tIns="25400" rIns="25400" bIns="25400" rtlCol="0" anchor="t">
            <a:normAutofit/>
          </a:bodyPr>
          <a:lstStyle/>
          <a:p>
            <a:pPr algn="ctr" indent="0" marL="0">
              <a:buNone/>
            </a:pPr>
            <a:r>
              <a:rPr lang="en-US" sz="900" spc="144" kern="0" dirty="0">
                <a:solidFill>
                  <a:srgbClr val="7D8AA3"/>
                </a:solidFill>
                <a:latin typeface="Courier New" pitchFamily="34" charset="0"/>
                <a:ea typeface="Courier New" pitchFamily="34" charset="-122"/>
                <a:cs typeface="Courier New" pitchFamily="34" charset="-120"/>
              </a:rPr>
              <a:t>03 · AGENT</a:t>
            </a:r>
            <a:endParaRPr lang="en-US" sz="900" dirty="0"/>
          </a:p>
        </p:txBody>
      </p:sp>
      <p:sp>
        <p:nvSpPr>
          <p:cNvPr id="16" name="Text 14"/>
          <p:cNvSpPr/>
          <p:nvPr/>
        </p:nvSpPr>
        <p:spPr>
          <a:xfrm>
            <a:off x="7024985" y="3476625"/>
            <a:ext cx="1491407" cy="247650"/>
          </a:xfrm>
          <a:prstGeom prst="rect">
            <a:avLst/>
          </a:prstGeom>
          <a:noFill/>
          <a:ln/>
        </p:spPr>
        <p:txBody>
          <a:bodyPr wrap="square" lIns="25400" tIns="25400" rIns="25400" bIns="25400" rtlCol="0" anchor="t">
            <a:normAutofit/>
          </a:bodyPr>
          <a:lstStyle/>
          <a:p>
            <a:pPr algn="ctr" indent="0" marL="0">
              <a:lnSpc>
                <a:spcPct val="120000"/>
              </a:lnSpc>
              <a:buNone/>
            </a:pPr>
            <a:r>
              <a:rPr lang="en-US" sz="1425" b="1" dirty="0">
                <a:solidFill>
                  <a:srgbClr val="EEF2F8"/>
                </a:solidFill>
                <a:latin typeface="Arial" pitchFamily="34" charset="0"/>
                <a:ea typeface="Arial" pitchFamily="34" charset="-122"/>
                <a:cs typeface="Arial" pitchFamily="34" charset="-120"/>
              </a:rPr>
              <a:t>SentimentAgent</a:t>
            </a:r>
            <a:endParaRPr lang="en-US" sz="1425" dirty="0"/>
          </a:p>
        </p:txBody>
      </p:sp>
      <p:sp>
        <p:nvSpPr>
          <p:cNvPr id="17" name="Text 15"/>
          <p:cNvSpPr/>
          <p:nvPr/>
        </p:nvSpPr>
        <p:spPr>
          <a:xfrm>
            <a:off x="7361039" y="3762375"/>
            <a:ext cx="819299" cy="180975"/>
          </a:xfrm>
          <a:prstGeom prst="rect">
            <a:avLst/>
          </a:prstGeom>
          <a:noFill/>
          <a:ln/>
        </p:spPr>
        <p:txBody>
          <a:bodyPr wrap="square" lIns="25400" tIns="25400" rIns="25400" bIns="25400" rtlCol="0" anchor="t">
            <a:normAutofit/>
          </a:bodyPr>
          <a:lstStyle/>
          <a:p>
            <a:pPr algn="ctr" indent="0" marL="0">
              <a:buNone/>
            </a:pPr>
            <a:r>
              <a:rPr lang="en-US" sz="975" dirty="0">
                <a:solidFill>
                  <a:srgbClr val="7D8AA3"/>
                </a:solidFill>
                <a:latin typeface="Courier New" pitchFamily="34" charset="0"/>
                <a:ea typeface="Courier New" pitchFamily="34" charset="-122"/>
                <a:cs typeface="Courier New" pitchFamily="34" charset="-120"/>
              </a:rPr>
              <a:t>tool: BERT</a:t>
            </a:r>
            <a:endParaRPr lang="en-US" sz="975" dirty="0"/>
          </a:p>
        </p:txBody>
      </p:sp>
      <p:sp>
        <p:nvSpPr>
          <p:cNvPr id="18" name="Shape 16"/>
          <p:cNvSpPr/>
          <p:nvPr/>
        </p:nvSpPr>
        <p:spPr>
          <a:xfrm>
            <a:off x="9191476" y="3067050"/>
            <a:ext cx="2651224" cy="1038225"/>
          </a:xfrm>
          <a:prstGeom prst="rect">
            <a:avLst/>
          </a:prstGeom>
          <a:solidFill>
            <a:srgbClr val="6FA3D2">
              <a:alpha val="8000"/>
            </a:srgbClr>
          </a:solidFill>
          <a:ln w="9525">
            <a:solidFill>
              <a:srgbClr val="6FA3D2"/>
            </a:solidFill>
            <a:prstDash val="solid"/>
          </a:ln>
        </p:spPr>
      </p:sp>
      <p:sp>
        <p:nvSpPr>
          <p:cNvPr id="19" name="Text 17"/>
          <p:cNvSpPr/>
          <p:nvPr/>
        </p:nvSpPr>
        <p:spPr>
          <a:xfrm>
            <a:off x="10001101" y="3267075"/>
            <a:ext cx="1031974" cy="171450"/>
          </a:xfrm>
          <a:prstGeom prst="rect">
            <a:avLst/>
          </a:prstGeom>
          <a:noFill/>
          <a:ln/>
        </p:spPr>
        <p:txBody>
          <a:bodyPr wrap="square" lIns="25400" tIns="25400" rIns="25400" bIns="25400" rtlCol="0" anchor="t">
            <a:normAutofit/>
          </a:bodyPr>
          <a:lstStyle/>
          <a:p>
            <a:pPr algn="ctr" indent="0" marL="0">
              <a:buNone/>
            </a:pPr>
            <a:r>
              <a:rPr lang="en-US" sz="900" spc="144" kern="0" dirty="0">
                <a:solidFill>
                  <a:srgbClr val="7D8AA3"/>
                </a:solidFill>
                <a:latin typeface="Courier New" pitchFamily="34" charset="0"/>
                <a:ea typeface="Courier New" pitchFamily="34" charset="-122"/>
                <a:cs typeface="Courier New" pitchFamily="34" charset="-120"/>
              </a:rPr>
              <a:t>04 · HUMAIN</a:t>
            </a:r>
            <a:endParaRPr lang="en-US" sz="900" dirty="0"/>
          </a:p>
        </p:txBody>
      </p:sp>
      <p:sp>
        <p:nvSpPr>
          <p:cNvPr id="20" name="Text 18"/>
          <p:cNvSpPr/>
          <p:nvPr/>
        </p:nvSpPr>
        <p:spPr>
          <a:xfrm>
            <a:off x="9764316" y="3476625"/>
            <a:ext cx="1505545" cy="247650"/>
          </a:xfrm>
          <a:prstGeom prst="rect">
            <a:avLst/>
          </a:prstGeom>
          <a:noFill/>
          <a:ln/>
        </p:spPr>
        <p:txBody>
          <a:bodyPr wrap="square" lIns="25400" tIns="25400" rIns="25400" bIns="25400" rtlCol="0" anchor="t">
            <a:normAutofit/>
          </a:bodyPr>
          <a:lstStyle/>
          <a:p>
            <a:pPr algn="ctr" indent="0" marL="0">
              <a:lnSpc>
                <a:spcPct val="120000"/>
              </a:lnSpc>
              <a:buNone/>
            </a:pPr>
            <a:r>
              <a:rPr lang="en-US" sz="1425" b="1" dirty="0">
                <a:solidFill>
                  <a:srgbClr val="EEF2F8"/>
                </a:solidFill>
                <a:latin typeface="Arial" pitchFamily="34" charset="0"/>
                <a:ea typeface="Arial" pitchFamily="34" charset="-122"/>
                <a:cs typeface="Arial" pitchFamily="34" charset="-120"/>
              </a:rPr>
              <a:t>HITL checkpoint</a:t>
            </a:r>
            <a:endParaRPr lang="en-US" sz="1425" dirty="0"/>
          </a:p>
        </p:txBody>
      </p:sp>
      <p:sp>
        <p:nvSpPr>
          <p:cNvPr id="21" name="Text 19"/>
          <p:cNvSpPr/>
          <p:nvPr/>
        </p:nvSpPr>
        <p:spPr>
          <a:xfrm>
            <a:off x="10293102" y="3762375"/>
            <a:ext cx="447824" cy="180975"/>
          </a:xfrm>
          <a:prstGeom prst="rect">
            <a:avLst/>
          </a:prstGeom>
          <a:noFill/>
          <a:ln/>
        </p:spPr>
        <p:txBody>
          <a:bodyPr wrap="square" lIns="25400" tIns="25400" rIns="25400" bIns="25400" rtlCol="0" anchor="t">
            <a:normAutofit/>
          </a:bodyPr>
          <a:lstStyle/>
          <a:p>
            <a:pPr algn="ctr" indent="0" marL="0">
              <a:buNone/>
            </a:pPr>
            <a:r>
              <a:rPr lang="en-US" sz="975" dirty="0">
                <a:solidFill>
                  <a:srgbClr val="7D8AA3"/>
                </a:solidFill>
                <a:latin typeface="Courier New" pitchFamily="34" charset="0"/>
                <a:ea typeface="Courier New" pitchFamily="34" charset="-122"/>
                <a:cs typeface="Courier New" pitchFamily="34" charset="-120"/>
              </a:rPr>
              <a:t>y / n</a:t>
            </a:r>
            <a:endParaRPr lang="en-US" sz="975" dirty="0"/>
          </a:p>
        </p:txBody>
      </p:sp>
      <p:sp>
        <p:nvSpPr>
          <p:cNvPr id="22" name="Shape 20"/>
          <p:cNvSpPr/>
          <p:nvPr/>
        </p:nvSpPr>
        <p:spPr>
          <a:xfrm>
            <a:off x="11937950" y="3067050"/>
            <a:ext cx="2651075" cy="1038225"/>
          </a:xfrm>
          <a:prstGeom prst="rect">
            <a:avLst/>
          </a:prstGeom>
          <a:solidFill>
            <a:srgbClr val="D4B06A">
              <a:alpha val="14000"/>
            </a:srgbClr>
          </a:solidFill>
          <a:ln w="9525">
            <a:solidFill>
              <a:srgbClr val="D4B06A"/>
            </a:solidFill>
            <a:prstDash val="solid"/>
          </a:ln>
        </p:spPr>
      </p:sp>
      <p:sp>
        <p:nvSpPr>
          <p:cNvPr id="23" name="Text 21"/>
          <p:cNvSpPr/>
          <p:nvPr/>
        </p:nvSpPr>
        <p:spPr>
          <a:xfrm>
            <a:off x="12790884" y="3267075"/>
            <a:ext cx="945059" cy="171450"/>
          </a:xfrm>
          <a:prstGeom prst="rect">
            <a:avLst/>
          </a:prstGeom>
          <a:noFill/>
          <a:ln/>
        </p:spPr>
        <p:txBody>
          <a:bodyPr wrap="square" lIns="25400" tIns="25400" rIns="25400" bIns="25400" rtlCol="0" anchor="t">
            <a:normAutofit/>
          </a:bodyPr>
          <a:lstStyle/>
          <a:p>
            <a:pPr algn="ctr" indent="0" marL="0">
              <a:buNone/>
            </a:pPr>
            <a:r>
              <a:rPr lang="en-US" sz="900" spc="144" kern="0" dirty="0">
                <a:solidFill>
                  <a:srgbClr val="7D8AA3"/>
                </a:solidFill>
                <a:latin typeface="Courier New" pitchFamily="34" charset="0"/>
                <a:ea typeface="Courier New" pitchFamily="34" charset="-122"/>
                <a:cs typeface="Courier New" pitchFamily="34" charset="-120"/>
              </a:rPr>
              <a:t>05 · AGENT</a:t>
            </a:r>
            <a:endParaRPr lang="en-US" sz="900" dirty="0"/>
          </a:p>
        </p:txBody>
      </p:sp>
      <p:sp>
        <p:nvSpPr>
          <p:cNvPr id="24" name="Text 22"/>
          <p:cNvSpPr/>
          <p:nvPr/>
        </p:nvSpPr>
        <p:spPr>
          <a:xfrm>
            <a:off x="12655600" y="3476625"/>
            <a:ext cx="1215628" cy="247650"/>
          </a:xfrm>
          <a:prstGeom prst="rect">
            <a:avLst/>
          </a:prstGeom>
          <a:noFill/>
          <a:ln/>
        </p:spPr>
        <p:txBody>
          <a:bodyPr wrap="square" lIns="25400" tIns="25400" rIns="25400" bIns="25400" rtlCol="0" anchor="t">
            <a:normAutofit/>
          </a:bodyPr>
          <a:lstStyle/>
          <a:p>
            <a:pPr algn="ctr" indent="0" marL="0">
              <a:lnSpc>
                <a:spcPct val="120000"/>
              </a:lnSpc>
              <a:buNone/>
            </a:pPr>
            <a:r>
              <a:rPr lang="en-US" sz="1425" b="1" dirty="0">
                <a:solidFill>
                  <a:srgbClr val="EEF2F8"/>
                </a:solidFill>
                <a:latin typeface="Arial" pitchFamily="34" charset="0"/>
                <a:ea typeface="Arial" pitchFamily="34" charset="-122"/>
                <a:cs typeface="Arial" pitchFamily="34" charset="-120"/>
              </a:rPr>
              <a:t>MarketAgent</a:t>
            </a:r>
            <a:endParaRPr lang="en-US" sz="1425" dirty="0"/>
          </a:p>
        </p:txBody>
      </p:sp>
      <p:sp>
        <p:nvSpPr>
          <p:cNvPr id="25" name="Text 23"/>
          <p:cNvSpPr/>
          <p:nvPr/>
        </p:nvSpPr>
        <p:spPr>
          <a:xfrm>
            <a:off x="12630894" y="3762375"/>
            <a:ext cx="1265188" cy="180975"/>
          </a:xfrm>
          <a:prstGeom prst="rect">
            <a:avLst/>
          </a:prstGeom>
          <a:noFill/>
          <a:ln/>
        </p:spPr>
        <p:txBody>
          <a:bodyPr wrap="square" lIns="25400" tIns="25400" rIns="25400" bIns="25400" rtlCol="0" anchor="t">
            <a:normAutofit/>
          </a:bodyPr>
          <a:lstStyle/>
          <a:p>
            <a:pPr algn="ctr" indent="0" marL="0">
              <a:buNone/>
            </a:pPr>
            <a:r>
              <a:rPr lang="en-US" sz="975" dirty="0">
                <a:solidFill>
                  <a:srgbClr val="7D8AA3"/>
                </a:solidFill>
                <a:latin typeface="Courier New" pitchFamily="34" charset="0"/>
                <a:ea typeface="Courier New" pitchFamily="34" charset="-122"/>
                <a:cs typeface="Courier New" pitchFamily="34" charset="-120"/>
              </a:rPr>
              <a:t>tool: web_search</a:t>
            </a:r>
            <a:endParaRPr lang="en-US" sz="975" dirty="0"/>
          </a:p>
        </p:txBody>
      </p:sp>
      <p:sp>
        <p:nvSpPr>
          <p:cNvPr id="26" name="Shape 24"/>
          <p:cNvSpPr/>
          <p:nvPr/>
        </p:nvSpPr>
        <p:spPr>
          <a:xfrm>
            <a:off x="14684276" y="3067050"/>
            <a:ext cx="2651075" cy="1038225"/>
          </a:xfrm>
          <a:prstGeom prst="rect">
            <a:avLst/>
          </a:prstGeom>
          <a:solidFill>
            <a:srgbClr val="D4B06A">
              <a:alpha val="14000"/>
            </a:srgbClr>
          </a:solidFill>
          <a:ln w="9525">
            <a:solidFill>
              <a:srgbClr val="D4B06A"/>
            </a:solidFill>
            <a:prstDash val="solid"/>
          </a:ln>
        </p:spPr>
      </p:sp>
      <p:sp>
        <p:nvSpPr>
          <p:cNvPr id="27" name="Text 25"/>
          <p:cNvSpPr/>
          <p:nvPr/>
        </p:nvSpPr>
        <p:spPr>
          <a:xfrm>
            <a:off x="15537210" y="3267075"/>
            <a:ext cx="945059" cy="171450"/>
          </a:xfrm>
          <a:prstGeom prst="rect">
            <a:avLst/>
          </a:prstGeom>
          <a:noFill/>
          <a:ln/>
        </p:spPr>
        <p:txBody>
          <a:bodyPr wrap="square" lIns="25400" tIns="25400" rIns="25400" bIns="25400" rtlCol="0" anchor="t">
            <a:normAutofit/>
          </a:bodyPr>
          <a:lstStyle/>
          <a:p>
            <a:pPr algn="ctr" indent="0" marL="0">
              <a:buNone/>
            </a:pPr>
            <a:r>
              <a:rPr lang="en-US" sz="900" spc="144" kern="0" dirty="0">
                <a:solidFill>
                  <a:srgbClr val="7D8AA3"/>
                </a:solidFill>
                <a:latin typeface="Courier New" pitchFamily="34" charset="0"/>
                <a:ea typeface="Courier New" pitchFamily="34" charset="-122"/>
                <a:cs typeface="Courier New" pitchFamily="34" charset="-120"/>
              </a:rPr>
              <a:t>06 · AGENT</a:t>
            </a:r>
            <a:endParaRPr lang="en-US" sz="900" dirty="0"/>
          </a:p>
        </p:txBody>
      </p:sp>
      <p:sp>
        <p:nvSpPr>
          <p:cNvPr id="28" name="Text 26"/>
          <p:cNvSpPr/>
          <p:nvPr/>
        </p:nvSpPr>
        <p:spPr>
          <a:xfrm>
            <a:off x="15417254" y="3476625"/>
            <a:ext cx="1185118" cy="247650"/>
          </a:xfrm>
          <a:prstGeom prst="rect">
            <a:avLst/>
          </a:prstGeom>
          <a:noFill/>
          <a:ln/>
        </p:spPr>
        <p:txBody>
          <a:bodyPr wrap="square" lIns="25400" tIns="25400" rIns="25400" bIns="25400" rtlCol="0" anchor="t">
            <a:normAutofit/>
          </a:bodyPr>
          <a:lstStyle/>
          <a:p>
            <a:pPr algn="ctr" indent="0" marL="0">
              <a:lnSpc>
                <a:spcPct val="120000"/>
              </a:lnSpc>
              <a:buNone/>
            </a:pPr>
            <a:r>
              <a:rPr lang="en-US" sz="1425" b="1" dirty="0">
                <a:solidFill>
                  <a:srgbClr val="EEF2F8"/>
                </a:solidFill>
                <a:latin typeface="Arial" pitchFamily="34" charset="0"/>
                <a:ea typeface="Arial" pitchFamily="34" charset="-122"/>
                <a:cs typeface="Arial" pitchFamily="34" charset="-120"/>
              </a:rPr>
              <a:t>ReportAgent</a:t>
            </a:r>
            <a:endParaRPr lang="en-US" sz="1425" dirty="0"/>
          </a:p>
        </p:txBody>
      </p:sp>
      <p:sp>
        <p:nvSpPr>
          <p:cNvPr id="29" name="Text 27"/>
          <p:cNvSpPr/>
          <p:nvPr/>
        </p:nvSpPr>
        <p:spPr>
          <a:xfrm>
            <a:off x="15488692" y="3762375"/>
            <a:ext cx="1042243" cy="180975"/>
          </a:xfrm>
          <a:prstGeom prst="rect">
            <a:avLst/>
          </a:prstGeom>
          <a:noFill/>
          <a:ln/>
        </p:spPr>
        <p:txBody>
          <a:bodyPr wrap="square" lIns="25400" tIns="25400" rIns="25400" bIns="25400" rtlCol="0" anchor="t">
            <a:normAutofit/>
          </a:bodyPr>
          <a:lstStyle/>
          <a:p>
            <a:pPr algn="ctr" indent="0" marL="0">
              <a:buNone/>
            </a:pPr>
            <a:r>
              <a:rPr lang="en-US" sz="975" dirty="0">
                <a:solidFill>
                  <a:srgbClr val="7D8AA3"/>
                </a:solidFill>
                <a:latin typeface="Courier New" pitchFamily="34" charset="0"/>
                <a:ea typeface="Courier New" pitchFamily="34" charset="-122"/>
                <a:cs typeface="Courier New" pitchFamily="34" charset="-120"/>
              </a:rPr>
              <a:t>synthèse JSON</a:t>
            </a:r>
            <a:endParaRPr lang="en-US" sz="975" dirty="0"/>
          </a:p>
        </p:txBody>
      </p:sp>
      <p:sp>
        <p:nvSpPr>
          <p:cNvPr id="30" name="Text 28"/>
          <p:cNvSpPr/>
          <p:nvPr/>
        </p:nvSpPr>
        <p:spPr>
          <a:xfrm>
            <a:off x="3659059" y="4181475"/>
            <a:ext cx="2730608" cy="276225"/>
          </a:xfrm>
          <a:prstGeom prst="rect">
            <a:avLst/>
          </a:prstGeom>
          <a:noFill/>
          <a:ln/>
        </p:spPr>
        <p:txBody>
          <a:bodyPr wrap="square" lIns="25400" tIns="25400" rIns="25400" bIns="25400" rtlCol="0" anchor="t">
            <a:normAutofit/>
          </a:bodyPr>
          <a:lstStyle/>
          <a:p>
            <a:pPr algn="ctr" indent="0" marL="0">
              <a:buNone/>
            </a:pPr>
            <a:r>
              <a:rPr lang="en-US" sz="1650" dirty="0">
                <a:solidFill>
                  <a:srgbClr val="D4B06A"/>
                </a:solidFill>
                <a:latin typeface="Courier New" pitchFamily="34" charset="0"/>
                <a:ea typeface="Courier New" pitchFamily="34" charset="-122"/>
                <a:cs typeface="Courier New" pitchFamily="34" charset="-120"/>
              </a:rPr>
              <a:t>→</a:t>
            </a:r>
            <a:endParaRPr lang="en-US" sz="1650" dirty="0"/>
          </a:p>
        </p:txBody>
      </p:sp>
      <p:sp>
        <p:nvSpPr>
          <p:cNvPr id="31" name="Text 29"/>
          <p:cNvSpPr/>
          <p:nvPr/>
        </p:nvSpPr>
        <p:spPr>
          <a:xfrm>
            <a:off x="6405385" y="4181475"/>
            <a:ext cx="2730608" cy="276225"/>
          </a:xfrm>
          <a:prstGeom prst="rect">
            <a:avLst/>
          </a:prstGeom>
          <a:noFill/>
          <a:ln/>
        </p:spPr>
        <p:txBody>
          <a:bodyPr wrap="square" lIns="25400" tIns="25400" rIns="25400" bIns="25400" rtlCol="0" anchor="t">
            <a:normAutofit/>
          </a:bodyPr>
          <a:lstStyle/>
          <a:p>
            <a:pPr algn="ctr" indent="0" marL="0">
              <a:buNone/>
            </a:pPr>
            <a:r>
              <a:rPr lang="en-US" sz="1650" dirty="0">
                <a:solidFill>
                  <a:srgbClr val="D4B06A"/>
                </a:solidFill>
                <a:latin typeface="Courier New" pitchFamily="34" charset="0"/>
                <a:ea typeface="Courier New" pitchFamily="34" charset="-122"/>
                <a:cs typeface="Courier New" pitchFamily="34" charset="-120"/>
              </a:rPr>
              <a:t>→</a:t>
            </a:r>
            <a:endParaRPr lang="en-US" sz="1650" dirty="0"/>
          </a:p>
        </p:txBody>
      </p:sp>
      <p:sp>
        <p:nvSpPr>
          <p:cNvPr id="32" name="Text 30"/>
          <p:cNvSpPr/>
          <p:nvPr/>
        </p:nvSpPr>
        <p:spPr>
          <a:xfrm>
            <a:off x="9151708" y="4181475"/>
            <a:ext cx="2730761" cy="276225"/>
          </a:xfrm>
          <a:prstGeom prst="rect">
            <a:avLst/>
          </a:prstGeom>
          <a:noFill/>
          <a:ln/>
        </p:spPr>
        <p:txBody>
          <a:bodyPr wrap="square" lIns="25400" tIns="25400" rIns="25400" bIns="25400" rtlCol="0" anchor="t">
            <a:normAutofit/>
          </a:bodyPr>
          <a:lstStyle/>
          <a:p>
            <a:pPr algn="ctr" indent="0" marL="0">
              <a:buNone/>
            </a:pPr>
            <a:r>
              <a:rPr lang="en-US" sz="1650" dirty="0">
                <a:solidFill>
                  <a:srgbClr val="D4B06A"/>
                </a:solidFill>
                <a:latin typeface="Courier New" pitchFamily="34" charset="0"/>
                <a:ea typeface="Courier New" pitchFamily="34" charset="-122"/>
                <a:cs typeface="Courier New" pitchFamily="34" charset="-120"/>
              </a:rPr>
              <a:t>→</a:t>
            </a:r>
            <a:endParaRPr lang="en-US" sz="1650" dirty="0"/>
          </a:p>
        </p:txBody>
      </p:sp>
      <p:sp>
        <p:nvSpPr>
          <p:cNvPr id="33" name="Text 31"/>
          <p:cNvSpPr/>
          <p:nvPr/>
        </p:nvSpPr>
        <p:spPr>
          <a:xfrm>
            <a:off x="11898184" y="4181475"/>
            <a:ext cx="2730608" cy="276225"/>
          </a:xfrm>
          <a:prstGeom prst="rect">
            <a:avLst/>
          </a:prstGeom>
          <a:noFill/>
          <a:ln/>
        </p:spPr>
        <p:txBody>
          <a:bodyPr wrap="square" lIns="25400" tIns="25400" rIns="25400" bIns="25400" rtlCol="0" anchor="t">
            <a:normAutofit/>
          </a:bodyPr>
          <a:lstStyle/>
          <a:p>
            <a:pPr algn="ctr" indent="0" marL="0">
              <a:buNone/>
            </a:pPr>
            <a:r>
              <a:rPr lang="en-US" sz="1650" dirty="0">
                <a:solidFill>
                  <a:srgbClr val="D4B06A"/>
                </a:solidFill>
                <a:latin typeface="Courier New" pitchFamily="34" charset="0"/>
                <a:ea typeface="Courier New" pitchFamily="34" charset="-122"/>
                <a:cs typeface="Courier New" pitchFamily="34" charset="-120"/>
              </a:rPr>
              <a:t>→</a:t>
            </a:r>
            <a:endParaRPr lang="en-US" sz="1650" dirty="0"/>
          </a:p>
        </p:txBody>
      </p:sp>
      <p:sp>
        <p:nvSpPr>
          <p:cNvPr id="34" name="Text 32"/>
          <p:cNvSpPr/>
          <p:nvPr/>
        </p:nvSpPr>
        <p:spPr>
          <a:xfrm>
            <a:off x="14644510" y="4181475"/>
            <a:ext cx="2730608" cy="276225"/>
          </a:xfrm>
          <a:prstGeom prst="rect">
            <a:avLst/>
          </a:prstGeom>
          <a:noFill/>
          <a:ln/>
        </p:spPr>
        <p:txBody>
          <a:bodyPr wrap="square" lIns="25400" tIns="25400" rIns="25400" bIns="25400" rtlCol="0" anchor="t">
            <a:normAutofit/>
          </a:bodyPr>
          <a:lstStyle/>
          <a:p>
            <a:pPr algn="ctr" indent="0" marL="0">
              <a:buNone/>
            </a:pPr>
            <a:r>
              <a:rPr lang="en-US" sz="1650" dirty="0">
                <a:solidFill>
                  <a:srgbClr val="D4B06A"/>
                </a:solidFill>
                <a:latin typeface="Courier New" pitchFamily="34" charset="0"/>
                <a:ea typeface="Courier New" pitchFamily="34" charset="-122"/>
                <a:cs typeface="Courier New" pitchFamily="34" charset="-120"/>
              </a:rPr>
              <a:t>→</a:t>
            </a:r>
            <a:endParaRPr lang="en-US" sz="1650" dirty="0"/>
          </a:p>
        </p:txBody>
      </p:sp>
      <p:sp>
        <p:nvSpPr>
          <p:cNvPr id="35" name="Shape 33"/>
          <p:cNvSpPr/>
          <p:nvPr/>
        </p:nvSpPr>
        <p:spPr>
          <a:xfrm>
            <a:off x="952500" y="4919663"/>
            <a:ext cx="2331244" cy="9525"/>
          </a:xfrm>
          <a:prstGeom prst="rect">
            <a:avLst/>
          </a:prstGeom>
          <a:solidFill>
            <a:srgbClr val="2D4268"/>
          </a:solidFill>
          <a:ln/>
        </p:spPr>
      </p:sp>
      <p:sp>
        <p:nvSpPr>
          <p:cNvPr id="36" name="Text 34"/>
          <p:cNvSpPr/>
          <p:nvPr/>
        </p:nvSpPr>
        <p:spPr>
          <a:xfrm>
            <a:off x="1123950" y="4629150"/>
            <a:ext cx="2064544" cy="195263"/>
          </a:xfrm>
          <a:prstGeom prst="rect">
            <a:avLst/>
          </a:prstGeom>
          <a:noFill/>
          <a:ln/>
        </p:spPr>
        <p:txBody>
          <a:bodyPr wrap="square" lIns="25400" tIns="25400" rIns="25400" bIns="25400" rtlCol="0" anchor="ctr">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AGENT</a:t>
            </a:r>
            <a:endParaRPr lang="en-US" sz="975" dirty="0"/>
          </a:p>
        </p:txBody>
      </p:sp>
      <p:sp>
        <p:nvSpPr>
          <p:cNvPr id="37" name="Shape 35"/>
          <p:cNvSpPr/>
          <p:nvPr/>
        </p:nvSpPr>
        <p:spPr>
          <a:xfrm>
            <a:off x="3283744" y="4919663"/>
            <a:ext cx="5560070" cy="9525"/>
          </a:xfrm>
          <a:prstGeom prst="rect">
            <a:avLst/>
          </a:prstGeom>
          <a:solidFill>
            <a:srgbClr val="2D4268"/>
          </a:solidFill>
          <a:ln/>
        </p:spPr>
      </p:sp>
      <p:sp>
        <p:nvSpPr>
          <p:cNvPr id="38" name="Text 36"/>
          <p:cNvSpPr/>
          <p:nvPr/>
        </p:nvSpPr>
        <p:spPr>
          <a:xfrm>
            <a:off x="3455194" y="4629150"/>
            <a:ext cx="5383972" cy="195263"/>
          </a:xfrm>
          <a:prstGeom prst="rect">
            <a:avLst/>
          </a:prstGeom>
          <a:noFill/>
          <a:ln/>
        </p:spPr>
        <p:txBody>
          <a:bodyPr wrap="square" lIns="25400" tIns="25400" rIns="25400" bIns="25400" rtlCol="0" anchor="ctr">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RÔLE</a:t>
            </a:r>
            <a:endParaRPr lang="en-US" sz="975" dirty="0"/>
          </a:p>
        </p:txBody>
      </p:sp>
      <p:sp>
        <p:nvSpPr>
          <p:cNvPr id="39" name="Shape 37"/>
          <p:cNvSpPr/>
          <p:nvPr/>
        </p:nvSpPr>
        <p:spPr>
          <a:xfrm>
            <a:off x="8843814" y="4919663"/>
            <a:ext cx="1788765" cy="9525"/>
          </a:xfrm>
          <a:prstGeom prst="rect">
            <a:avLst/>
          </a:prstGeom>
          <a:solidFill>
            <a:srgbClr val="2D4268"/>
          </a:solidFill>
          <a:ln/>
        </p:spPr>
      </p:sp>
      <p:sp>
        <p:nvSpPr>
          <p:cNvPr id="40" name="Text 38"/>
          <p:cNvSpPr/>
          <p:nvPr/>
        </p:nvSpPr>
        <p:spPr>
          <a:xfrm>
            <a:off x="9015264" y="4629150"/>
            <a:ext cx="1522065" cy="195263"/>
          </a:xfrm>
          <a:prstGeom prst="rect">
            <a:avLst/>
          </a:prstGeom>
          <a:noFill/>
          <a:ln/>
        </p:spPr>
        <p:txBody>
          <a:bodyPr wrap="square" lIns="25400" tIns="25400" rIns="25400" bIns="25400" rtlCol="0" anchor="ctr">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LLM</a:t>
            </a:r>
            <a:endParaRPr lang="en-US" sz="975" dirty="0"/>
          </a:p>
        </p:txBody>
      </p:sp>
      <p:sp>
        <p:nvSpPr>
          <p:cNvPr id="41" name="Shape 39"/>
          <p:cNvSpPr/>
          <p:nvPr/>
        </p:nvSpPr>
        <p:spPr>
          <a:xfrm>
            <a:off x="10632579" y="4919663"/>
            <a:ext cx="1062335" cy="9525"/>
          </a:xfrm>
          <a:prstGeom prst="rect">
            <a:avLst/>
          </a:prstGeom>
          <a:solidFill>
            <a:srgbClr val="2D4268"/>
          </a:solidFill>
          <a:ln/>
        </p:spPr>
      </p:sp>
      <p:sp>
        <p:nvSpPr>
          <p:cNvPr id="42" name="Text 40"/>
          <p:cNvSpPr/>
          <p:nvPr/>
        </p:nvSpPr>
        <p:spPr>
          <a:xfrm>
            <a:off x="10804029" y="4629150"/>
            <a:ext cx="795635" cy="195263"/>
          </a:xfrm>
          <a:prstGeom prst="rect">
            <a:avLst/>
          </a:prstGeom>
          <a:noFill/>
          <a:ln/>
        </p:spPr>
        <p:txBody>
          <a:bodyPr wrap="square" lIns="25400" tIns="25400" rIns="25400" bIns="25400" rtlCol="0" anchor="ctr">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TEMP.</a:t>
            </a:r>
            <a:endParaRPr lang="en-US" sz="975" dirty="0"/>
          </a:p>
        </p:txBody>
      </p:sp>
      <p:sp>
        <p:nvSpPr>
          <p:cNvPr id="43" name="Shape 41"/>
          <p:cNvSpPr/>
          <p:nvPr/>
        </p:nvSpPr>
        <p:spPr>
          <a:xfrm>
            <a:off x="11694914" y="4919663"/>
            <a:ext cx="3971479" cy="9525"/>
          </a:xfrm>
          <a:prstGeom prst="rect">
            <a:avLst/>
          </a:prstGeom>
          <a:solidFill>
            <a:srgbClr val="2D4268"/>
          </a:solidFill>
          <a:ln/>
        </p:spPr>
      </p:sp>
      <p:sp>
        <p:nvSpPr>
          <p:cNvPr id="44" name="Text 42"/>
          <p:cNvSpPr/>
          <p:nvPr/>
        </p:nvSpPr>
        <p:spPr>
          <a:xfrm>
            <a:off x="11866364" y="4629150"/>
            <a:ext cx="3747723" cy="195263"/>
          </a:xfrm>
          <a:prstGeom prst="rect">
            <a:avLst/>
          </a:prstGeom>
          <a:noFill/>
          <a:ln/>
        </p:spPr>
        <p:txBody>
          <a:bodyPr wrap="square" lIns="25400" tIns="25400" rIns="25400" bIns="25400" rtlCol="0" anchor="ctr">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OUTIL</a:t>
            </a:r>
            <a:endParaRPr lang="en-US" sz="975" dirty="0"/>
          </a:p>
        </p:txBody>
      </p:sp>
      <p:sp>
        <p:nvSpPr>
          <p:cNvPr id="45" name="Shape 43"/>
          <p:cNvSpPr/>
          <p:nvPr/>
        </p:nvSpPr>
        <p:spPr>
          <a:xfrm>
            <a:off x="15666393" y="4919663"/>
            <a:ext cx="1669703" cy="9525"/>
          </a:xfrm>
          <a:prstGeom prst="rect">
            <a:avLst/>
          </a:prstGeom>
          <a:solidFill>
            <a:srgbClr val="2D4268"/>
          </a:solidFill>
          <a:ln/>
        </p:spPr>
      </p:sp>
      <p:sp>
        <p:nvSpPr>
          <p:cNvPr id="46" name="Text 44"/>
          <p:cNvSpPr/>
          <p:nvPr/>
        </p:nvSpPr>
        <p:spPr>
          <a:xfrm>
            <a:off x="15837843" y="4629150"/>
            <a:ext cx="1403003" cy="195263"/>
          </a:xfrm>
          <a:prstGeom prst="rect">
            <a:avLst/>
          </a:prstGeom>
          <a:noFill/>
          <a:ln/>
        </p:spPr>
        <p:txBody>
          <a:bodyPr wrap="square" lIns="25400" tIns="25400" rIns="25400" bIns="25400" rtlCol="0" anchor="ctr">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DÉLÉGATION</a:t>
            </a:r>
            <a:endParaRPr lang="en-US" sz="975" dirty="0"/>
          </a:p>
        </p:txBody>
      </p:sp>
      <p:sp>
        <p:nvSpPr>
          <p:cNvPr id="47" name="Shape 45"/>
          <p:cNvSpPr/>
          <p:nvPr/>
        </p:nvSpPr>
        <p:spPr>
          <a:xfrm>
            <a:off x="952500" y="5414963"/>
            <a:ext cx="2331244" cy="9525"/>
          </a:xfrm>
          <a:prstGeom prst="rect">
            <a:avLst/>
          </a:prstGeom>
          <a:solidFill>
            <a:srgbClr val="213251"/>
          </a:solidFill>
          <a:ln/>
        </p:spPr>
      </p:sp>
      <p:sp>
        <p:nvSpPr>
          <p:cNvPr id="48" name="Text 46"/>
          <p:cNvSpPr/>
          <p:nvPr/>
        </p:nvSpPr>
        <p:spPr>
          <a:xfrm>
            <a:off x="1123950" y="5062538"/>
            <a:ext cx="2064544" cy="257175"/>
          </a:xfrm>
          <a:prstGeom prst="rect">
            <a:avLst/>
          </a:prstGeom>
          <a:noFill/>
          <a:ln/>
        </p:spPr>
        <p:txBody>
          <a:bodyPr wrap="square" lIns="25400" tIns="25400" rIns="25400" bIns="25400" rtlCol="0" anchor="ctr">
            <a:normAutofit/>
          </a:bodyPr>
          <a:lstStyle/>
          <a:p>
            <a:pPr algn="l" indent="0" marL="0">
              <a:buNone/>
            </a:pPr>
            <a:r>
              <a:rPr lang="en-US" sz="1425" b="1" dirty="0">
                <a:solidFill>
                  <a:srgbClr val="D4B06A"/>
                </a:solidFill>
                <a:latin typeface="Arial" pitchFamily="34" charset="0"/>
                <a:ea typeface="Arial" pitchFamily="34" charset="-122"/>
                <a:cs typeface="Arial" pitchFamily="34" charset="-120"/>
              </a:rPr>
              <a:t>SentimentAgent</a:t>
            </a:r>
            <a:endParaRPr lang="en-US" sz="1425" dirty="0"/>
          </a:p>
        </p:txBody>
      </p:sp>
      <p:sp>
        <p:nvSpPr>
          <p:cNvPr id="49" name="Shape 47"/>
          <p:cNvSpPr/>
          <p:nvPr/>
        </p:nvSpPr>
        <p:spPr>
          <a:xfrm>
            <a:off x="3283744" y="5414963"/>
            <a:ext cx="5560070" cy="9525"/>
          </a:xfrm>
          <a:prstGeom prst="rect">
            <a:avLst/>
          </a:prstGeom>
          <a:solidFill>
            <a:srgbClr val="213251"/>
          </a:solidFill>
          <a:ln/>
        </p:spPr>
      </p:sp>
      <p:sp>
        <p:nvSpPr>
          <p:cNvPr id="50" name="Text 48"/>
          <p:cNvSpPr/>
          <p:nvPr/>
        </p:nvSpPr>
        <p:spPr>
          <a:xfrm>
            <a:off x="3455194" y="5062538"/>
            <a:ext cx="5383972" cy="257175"/>
          </a:xfrm>
          <a:prstGeom prst="rect">
            <a:avLst/>
          </a:prstGeom>
          <a:noFill/>
          <a:ln/>
        </p:spPr>
        <p:txBody>
          <a:bodyPr wrap="square" lIns="25400" tIns="25400" rIns="25400" bIns="25400" rtlCol="0" anchor="ctr">
            <a:normAutofit/>
          </a:bodyPr>
          <a:lstStyle/>
          <a:p>
            <a:pPr algn="l" indent="0" marL="0">
              <a:buNone/>
            </a:pPr>
            <a:r>
              <a:rPr lang="en-US" sz="1350" dirty="0">
                <a:solidFill>
                  <a:srgbClr val="EEF2F8"/>
                </a:solidFill>
                <a:latin typeface="Arial" pitchFamily="34" charset="0"/>
                <a:ea typeface="Arial" pitchFamily="34" charset="-122"/>
                <a:cs typeface="Arial" pitchFamily="34" charset="-120"/>
              </a:rPr>
              <a:t>Sentiment Analysis Specialist</a:t>
            </a:r>
            <a:endParaRPr lang="en-US" sz="1350" dirty="0"/>
          </a:p>
        </p:txBody>
      </p:sp>
      <p:sp>
        <p:nvSpPr>
          <p:cNvPr id="51" name="Shape 49"/>
          <p:cNvSpPr/>
          <p:nvPr/>
        </p:nvSpPr>
        <p:spPr>
          <a:xfrm>
            <a:off x="8843814" y="5414963"/>
            <a:ext cx="1788765" cy="9525"/>
          </a:xfrm>
          <a:prstGeom prst="rect">
            <a:avLst/>
          </a:prstGeom>
          <a:solidFill>
            <a:srgbClr val="213251"/>
          </a:solidFill>
          <a:ln/>
        </p:spPr>
      </p:sp>
      <p:sp>
        <p:nvSpPr>
          <p:cNvPr id="52" name="Text 50"/>
          <p:cNvSpPr/>
          <p:nvPr/>
        </p:nvSpPr>
        <p:spPr>
          <a:xfrm>
            <a:off x="9015264" y="5062538"/>
            <a:ext cx="152206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gpt-4o-mini</a:t>
            </a:r>
            <a:endParaRPr lang="en-US" sz="1200" dirty="0"/>
          </a:p>
        </p:txBody>
      </p:sp>
      <p:sp>
        <p:nvSpPr>
          <p:cNvPr id="53" name="Shape 51"/>
          <p:cNvSpPr/>
          <p:nvPr/>
        </p:nvSpPr>
        <p:spPr>
          <a:xfrm>
            <a:off x="10632579" y="5414963"/>
            <a:ext cx="1062335" cy="9525"/>
          </a:xfrm>
          <a:prstGeom prst="rect">
            <a:avLst/>
          </a:prstGeom>
          <a:solidFill>
            <a:srgbClr val="213251"/>
          </a:solidFill>
          <a:ln/>
        </p:spPr>
      </p:sp>
      <p:sp>
        <p:nvSpPr>
          <p:cNvPr id="54" name="Text 52"/>
          <p:cNvSpPr/>
          <p:nvPr/>
        </p:nvSpPr>
        <p:spPr>
          <a:xfrm>
            <a:off x="10804029" y="5062538"/>
            <a:ext cx="79563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0.0</a:t>
            </a:r>
            <a:endParaRPr lang="en-US" sz="1200" dirty="0"/>
          </a:p>
        </p:txBody>
      </p:sp>
      <p:sp>
        <p:nvSpPr>
          <p:cNvPr id="55" name="Shape 53"/>
          <p:cNvSpPr/>
          <p:nvPr/>
        </p:nvSpPr>
        <p:spPr>
          <a:xfrm>
            <a:off x="11694914" y="5414963"/>
            <a:ext cx="3971479" cy="9525"/>
          </a:xfrm>
          <a:prstGeom prst="rect">
            <a:avLst/>
          </a:prstGeom>
          <a:solidFill>
            <a:srgbClr val="213251"/>
          </a:solidFill>
          <a:ln/>
        </p:spPr>
      </p:sp>
      <p:sp>
        <p:nvSpPr>
          <p:cNvPr id="56" name="Text 54"/>
          <p:cNvSpPr/>
          <p:nvPr/>
        </p:nvSpPr>
        <p:spPr>
          <a:xfrm>
            <a:off x="11866364" y="5062538"/>
            <a:ext cx="374772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SentimentAnalysisTool</a:t>
            </a:r>
            <a:endParaRPr lang="en-US" sz="1200" dirty="0"/>
          </a:p>
        </p:txBody>
      </p:sp>
      <p:sp>
        <p:nvSpPr>
          <p:cNvPr id="57" name="Shape 55"/>
          <p:cNvSpPr/>
          <p:nvPr/>
        </p:nvSpPr>
        <p:spPr>
          <a:xfrm>
            <a:off x="15666393" y="5414963"/>
            <a:ext cx="1669703" cy="9525"/>
          </a:xfrm>
          <a:prstGeom prst="rect">
            <a:avLst/>
          </a:prstGeom>
          <a:solidFill>
            <a:srgbClr val="213251"/>
          </a:solidFill>
          <a:ln/>
        </p:spPr>
      </p:sp>
      <p:sp>
        <p:nvSpPr>
          <p:cNvPr id="58" name="Text 56"/>
          <p:cNvSpPr/>
          <p:nvPr/>
        </p:nvSpPr>
        <p:spPr>
          <a:xfrm>
            <a:off x="15837843" y="5062538"/>
            <a:ext cx="140300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False</a:t>
            </a:r>
            <a:endParaRPr lang="en-US" sz="1200" dirty="0"/>
          </a:p>
        </p:txBody>
      </p:sp>
      <p:sp>
        <p:nvSpPr>
          <p:cNvPr id="59" name="Shape 57"/>
          <p:cNvSpPr/>
          <p:nvPr/>
        </p:nvSpPr>
        <p:spPr>
          <a:xfrm>
            <a:off x="952500" y="5910263"/>
            <a:ext cx="2331244" cy="9525"/>
          </a:xfrm>
          <a:prstGeom prst="rect">
            <a:avLst/>
          </a:prstGeom>
          <a:solidFill>
            <a:srgbClr val="213251"/>
          </a:solidFill>
          <a:ln/>
        </p:spPr>
      </p:sp>
      <p:sp>
        <p:nvSpPr>
          <p:cNvPr id="60" name="Text 58"/>
          <p:cNvSpPr/>
          <p:nvPr/>
        </p:nvSpPr>
        <p:spPr>
          <a:xfrm>
            <a:off x="1123950" y="5557838"/>
            <a:ext cx="2064544" cy="257175"/>
          </a:xfrm>
          <a:prstGeom prst="rect">
            <a:avLst/>
          </a:prstGeom>
          <a:noFill/>
          <a:ln/>
        </p:spPr>
        <p:txBody>
          <a:bodyPr wrap="square" lIns="25400" tIns="25400" rIns="25400" bIns="25400" rtlCol="0" anchor="ctr">
            <a:normAutofit/>
          </a:bodyPr>
          <a:lstStyle/>
          <a:p>
            <a:pPr algn="l" indent="0" marL="0">
              <a:buNone/>
            </a:pPr>
            <a:r>
              <a:rPr lang="en-US" sz="1425" b="1" dirty="0">
                <a:solidFill>
                  <a:srgbClr val="D4B06A"/>
                </a:solidFill>
                <a:latin typeface="Arial" pitchFamily="34" charset="0"/>
                <a:ea typeface="Arial" pitchFamily="34" charset="-122"/>
                <a:cs typeface="Arial" pitchFamily="34" charset="-120"/>
              </a:rPr>
              <a:t>MarketAgent</a:t>
            </a:r>
            <a:endParaRPr lang="en-US" sz="1425" dirty="0"/>
          </a:p>
        </p:txBody>
      </p:sp>
      <p:sp>
        <p:nvSpPr>
          <p:cNvPr id="61" name="Shape 59"/>
          <p:cNvSpPr/>
          <p:nvPr/>
        </p:nvSpPr>
        <p:spPr>
          <a:xfrm>
            <a:off x="3283744" y="5910263"/>
            <a:ext cx="5560070" cy="9525"/>
          </a:xfrm>
          <a:prstGeom prst="rect">
            <a:avLst/>
          </a:prstGeom>
          <a:solidFill>
            <a:srgbClr val="213251"/>
          </a:solidFill>
          <a:ln/>
        </p:spPr>
      </p:sp>
      <p:sp>
        <p:nvSpPr>
          <p:cNvPr id="62" name="Text 60"/>
          <p:cNvSpPr/>
          <p:nvPr/>
        </p:nvSpPr>
        <p:spPr>
          <a:xfrm>
            <a:off x="3455194" y="5557838"/>
            <a:ext cx="5383972" cy="257175"/>
          </a:xfrm>
          <a:prstGeom prst="rect">
            <a:avLst/>
          </a:prstGeom>
          <a:noFill/>
          <a:ln/>
        </p:spPr>
        <p:txBody>
          <a:bodyPr wrap="square" lIns="25400" tIns="25400" rIns="25400" bIns="25400" rtlCol="0" anchor="ctr">
            <a:normAutofit/>
          </a:bodyPr>
          <a:lstStyle/>
          <a:p>
            <a:pPr algn="l" indent="0" marL="0">
              <a:buNone/>
            </a:pPr>
            <a:r>
              <a:rPr lang="en-US" sz="1350" dirty="0">
                <a:solidFill>
                  <a:srgbClr val="EEF2F8"/>
                </a:solidFill>
                <a:latin typeface="Arial" pitchFamily="34" charset="0"/>
                <a:ea typeface="Arial" pitchFamily="34" charset="-122"/>
                <a:cs typeface="Arial" pitchFamily="34" charset="-120"/>
              </a:rPr>
              <a:t>Market Research Specialist</a:t>
            </a:r>
            <a:endParaRPr lang="en-US" sz="1350" dirty="0"/>
          </a:p>
        </p:txBody>
      </p:sp>
      <p:sp>
        <p:nvSpPr>
          <p:cNvPr id="63" name="Shape 61"/>
          <p:cNvSpPr/>
          <p:nvPr/>
        </p:nvSpPr>
        <p:spPr>
          <a:xfrm>
            <a:off x="8843814" y="5910263"/>
            <a:ext cx="1788765" cy="9525"/>
          </a:xfrm>
          <a:prstGeom prst="rect">
            <a:avLst/>
          </a:prstGeom>
          <a:solidFill>
            <a:srgbClr val="213251"/>
          </a:solidFill>
          <a:ln/>
        </p:spPr>
      </p:sp>
      <p:sp>
        <p:nvSpPr>
          <p:cNvPr id="64" name="Text 62"/>
          <p:cNvSpPr/>
          <p:nvPr/>
        </p:nvSpPr>
        <p:spPr>
          <a:xfrm>
            <a:off x="9015264" y="5557838"/>
            <a:ext cx="152206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gpt-4o-mini</a:t>
            </a:r>
            <a:endParaRPr lang="en-US" sz="1200" dirty="0"/>
          </a:p>
        </p:txBody>
      </p:sp>
      <p:sp>
        <p:nvSpPr>
          <p:cNvPr id="65" name="Shape 63"/>
          <p:cNvSpPr/>
          <p:nvPr/>
        </p:nvSpPr>
        <p:spPr>
          <a:xfrm>
            <a:off x="10632579" y="5910263"/>
            <a:ext cx="1062335" cy="9525"/>
          </a:xfrm>
          <a:prstGeom prst="rect">
            <a:avLst/>
          </a:prstGeom>
          <a:solidFill>
            <a:srgbClr val="213251"/>
          </a:solidFill>
          <a:ln/>
        </p:spPr>
      </p:sp>
      <p:sp>
        <p:nvSpPr>
          <p:cNvPr id="66" name="Text 64"/>
          <p:cNvSpPr/>
          <p:nvPr/>
        </p:nvSpPr>
        <p:spPr>
          <a:xfrm>
            <a:off x="10804029" y="5557838"/>
            <a:ext cx="79563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0.3</a:t>
            </a:r>
            <a:endParaRPr lang="en-US" sz="1200" dirty="0"/>
          </a:p>
        </p:txBody>
      </p:sp>
      <p:sp>
        <p:nvSpPr>
          <p:cNvPr id="67" name="Shape 65"/>
          <p:cNvSpPr/>
          <p:nvPr/>
        </p:nvSpPr>
        <p:spPr>
          <a:xfrm>
            <a:off x="11694914" y="5910263"/>
            <a:ext cx="3971479" cy="9525"/>
          </a:xfrm>
          <a:prstGeom prst="rect">
            <a:avLst/>
          </a:prstGeom>
          <a:solidFill>
            <a:srgbClr val="213251"/>
          </a:solidFill>
          <a:ln/>
        </p:spPr>
      </p:sp>
      <p:sp>
        <p:nvSpPr>
          <p:cNvPr id="68" name="Text 66"/>
          <p:cNvSpPr/>
          <p:nvPr/>
        </p:nvSpPr>
        <p:spPr>
          <a:xfrm>
            <a:off x="11866364" y="5557838"/>
            <a:ext cx="374772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WebSearchTool</a:t>
            </a:r>
            <a:endParaRPr lang="en-US" sz="1200" dirty="0"/>
          </a:p>
        </p:txBody>
      </p:sp>
      <p:sp>
        <p:nvSpPr>
          <p:cNvPr id="69" name="Shape 67"/>
          <p:cNvSpPr/>
          <p:nvPr/>
        </p:nvSpPr>
        <p:spPr>
          <a:xfrm>
            <a:off x="15666393" y="5910263"/>
            <a:ext cx="1669703" cy="9525"/>
          </a:xfrm>
          <a:prstGeom prst="rect">
            <a:avLst/>
          </a:prstGeom>
          <a:solidFill>
            <a:srgbClr val="213251"/>
          </a:solidFill>
          <a:ln/>
        </p:spPr>
      </p:sp>
      <p:sp>
        <p:nvSpPr>
          <p:cNvPr id="70" name="Text 68"/>
          <p:cNvSpPr/>
          <p:nvPr/>
        </p:nvSpPr>
        <p:spPr>
          <a:xfrm>
            <a:off x="15837843" y="5557838"/>
            <a:ext cx="140300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False</a:t>
            </a:r>
            <a:endParaRPr lang="en-US" sz="1200" dirty="0"/>
          </a:p>
        </p:txBody>
      </p:sp>
      <p:sp>
        <p:nvSpPr>
          <p:cNvPr id="71" name="Shape 69"/>
          <p:cNvSpPr/>
          <p:nvPr/>
        </p:nvSpPr>
        <p:spPr>
          <a:xfrm>
            <a:off x="952500" y="6405563"/>
            <a:ext cx="2331244" cy="9525"/>
          </a:xfrm>
          <a:prstGeom prst="rect">
            <a:avLst/>
          </a:prstGeom>
          <a:solidFill>
            <a:srgbClr val="213251"/>
          </a:solidFill>
          <a:ln/>
        </p:spPr>
      </p:sp>
      <p:sp>
        <p:nvSpPr>
          <p:cNvPr id="72" name="Text 70"/>
          <p:cNvSpPr/>
          <p:nvPr/>
        </p:nvSpPr>
        <p:spPr>
          <a:xfrm>
            <a:off x="1123950" y="6053137"/>
            <a:ext cx="2064544" cy="257175"/>
          </a:xfrm>
          <a:prstGeom prst="rect">
            <a:avLst/>
          </a:prstGeom>
          <a:noFill/>
          <a:ln/>
        </p:spPr>
        <p:txBody>
          <a:bodyPr wrap="square" lIns="25400" tIns="25400" rIns="25400" bIns="25400" rtlCol="0" anchor="ctr">
            <a:normAutofit/>
          </a:bodyPr>
          <a:lstStyle/>
          <a:p>
            <a:pPr algn="l" indent="0" marL="0">
              <a:buNone/>
            </a:pPr>
            <a:r>
              <a:rPr lang="en-US" sz="1425" b="1" dirty="0">
                <a:solidFill>
                  <a:srgbClr val="D4B06A"/>
                </a:solidFill>
                <a:latin typeface="Arial" pitchFamily="34" charset="0"/>
                <a:ea typeface="Arial" pitchFamily="34" charset="-122"/>
                <a:cs typeface="Arial" pitchFamily="34" charset="-120"/>
              </a:rPr>
              <a:t>ReportAgent</a:t>
            </a:r>
            <a:endParaRPr lang="en-US" sz="1425" dirty="0"/>
          </a:p>
        </p:txBody>
      </p:sp>
      <p:sp>
        <p:nvSpPr>
          <p:cNvPr id="73" name="Shape 71"/>
          <p:cNvSpPr/>
          <p:nvPr/>
        </p:nvSpPr>
        <p:spPr>
          <a:xfrm>
            <a:off x="3283744" y="6405563"/>
            <a:ext cx="5560070" cy="9525"/>
          </a:xfrm>
          <a:prstGeom prst="rect">
            <a:avLst/>
          </a:prstGeom>
          <a:solidFill>
            <a:srgbClr val="213251"/>
          </a:solidFill>
          <a:ln/>
        </p:spPr>
      </p:sp>
      <p:sp>
        <p:nvSpPr>
          <p:cNvPr id="74" name="Text 72"/>
          <p:cNvSpPr/>
          <p:nvPr/>
        </p:nvSpPr>
        <p:spPr>
          <a:xfrm>
            <a:off x="3455194" y="6053137"/>
            <a:ext cx="5383972" cy="257175"/>
          </a:xfrm>
          <a:prstGeom prst="rect">
            <a:avLst/>
          </a:prstGeom>
          <a:noFill/>
          <a:ln/>
        </p:spPr>
        <p:txBody>
          <a:bodyPr wrap="square" lIns="25400" tIns="25400" rIns="25400" bIns="25400" rtlCol="0" anchor="ctr">
            <a:normAutofit/>
          </a:bodyPr>
          <a:lstStyle/>
          <a:p>
            <a:pPr algn="l" indent="0" marL="0">
              <a:buNone/>
            </a:pPr>
            <a:r>
              <a:rPr lang="en-US" sz="1350" dirty="0">
                <a:solidFill>
                  <a:srgbClr val="EEF2F8"/>
                </a:solidFill>
                <a:latin typeface="Arial" pitchFamily="34" charset="0"/>
                <a:ea typeface="Arial" pitchFamily="34" charset="-122"/>
                <a:cs typeface="Arial" pitchFamily="34" charset="-120"/>
              </a:rPr>
              <a:t>Report Synthesizer</a:t>
            </a:r>
            <a:endParaRPr lang="en-US" sz="1350" dirty="0"/>
          </a:p>
        </p:txBody>
      </p:sp>
      <p:sp>
        <p:nvSpPr>
          <p:cNvPr id="75" name="Shape 73"/>
          <p:cNvSpPr/>
          <p:nvPr/>
        </p:nvSpPr>
        <p:spPr>
          <a:xfrm>
            <a:off x="8843814" y="6405563"/>
            <a:ext cx="1788765" cy="9525"/>
          </a:xfrm>
          <a:prstGeom prst="rect">
            <a:avLst/>
          </a:prstGeom>
          <a:solidFill>
            <a:srgbClr val="213251"/>
          </a:solidFill>
          <a:ln/>
        </p:spPr>
      </p:sp>
      <p:sp>
        <p:nvSpPr>
          <p:cNvPr id="76" name="Text 74"/>
          <p:cNvSpPr/>
          <p:nvPr/>
        </p:nvSpPr>
        <p:spPr>
          <a:xfrm>
            <a:off x="9015264" y="6053137"/>
            <a:ext cx="152206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gpt-4o-mini</a:t>
            </a:r>
            <a:endParaRPr lang="en-US" sz="1200" dirty="0"/>
          </a:p>
        </p:txBody>
      </p:sp>
      <p:sp>
        <p:nvSpPr>
          <p:cNvPr id="77" name="Shape 75"/>
          <p:cNvSpPr/>
          <p:nvPr/>
        </p:nvSpPr>
        <p:spPr>
          <a:xfrm>
            <a:off x="10632579" y="6405563"/>
            <a:ext cx="1062335" cy="9525"/>
          </a:xfrm>
          <a:prstGeom prst="rect">
            <a:avLst/>
          </a:prstGeom>
          <a:solidFill>
            <a:srgbClr val="213251"/>
          </a:solidFill>
          <a:ln/>
        </p:spPr>
      </p:sp>
      <p:sp>
        <p:nvSpPr>
          <p:cNvPr id="78" name="Text 76"/>
          <p:cNvSpPr/>
          <p:nvPr/>
        </p:nvSpPr>
        <p:spPr>
          <a:xfrm>
            <a:off x="10804029" y="6053137"/>
            <a:ext cx="79563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0.0</a:t>
            </a:r>
            <a:endParaRPr lang="en-US" sz="1200" dirty="0"/>
          </a:p>
        </p:txBody>
      </p:sp>
      <p:sp>
        <p:nvSpPr>
          <p:cNvPr id="79" name="Shape 77"/>
          <p:cNvSpPr/>
          <p:nvPr/>
        </p:nvSpPr>
        <p:spPr>
          <a:xfrm>
            <a:off x="11694914" y="6405563"/>
            <a:ext cx="3971479" cy="9525"/>
          </a:xfrm>
          <a:prstGeom prst="rect">
            <a:avLst/>
          </a:prstGeom>
          <a:solidFill>
            <a:srgbClr val="213251"/>
          </a:solidFill>
          <a:ln/>
        </p:spPr>
      </p:sp>
      <p:sp>
        <p:nvSpPr>
          <p:cNvPr id="80" name="Text 78"/>
          <p:cNvSpPr/>
          <p:nvPr/>
        </p:nvSpPr>
        <p:spPr>
          <a:xfrm>
            <a:off x="11866364" y="6053137"/>
            <a:ext cx="374772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_dummy_tool (no-op)</a:t>
            </a:r>
            <a:endParaRPr lang="en-US" sz="1200" dirty="0"/>
          </a:p>
        </p:txBody>
      </p:sp>
      <p:sp>
        <p:nvSpPr>
          <p:cNvPr id="81" name="Shape 79"/>
          <p:cNvSpPr/>
          <p:nvPr/>
        </p:nvSpPr>
        <p:spPr>
          <a:xfrm>
            <a:off x="15666393" y="6405563"/>
            <a:ext cx="1669703" cy="9525"/>
          </a:xfrm>
          <a:prstGeom prst="rect">
            <a:avLst/>
          </a:prstGeom>
          <a:solidFill>
            <a:srgbClr val="213251"/>
          </a:solidFill>
          <a:ln/>
        </p:spPr>
      </p:sp>
      <p:sp>
        <p:nvSpPr>
          <p:cNvPr id="82" name="Text 80"/>
          <p:cNvSpPr/>
          <p:nvPr/>
        </p:nvSpPr>
        <p:spPr>
          <a:xfrm>
            <a:off x="15837843" y="6053137"/>
            <a:ext cx="140300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False</a:t>
            </a:r>
            <a:endParaRPr lang="en-US" sz="1200" dirty="0"/>
          </a:p>
        </p:txBody>
      </p:sp>
      <p:sp>
        <p:nvSpPr>
          <p:cNvPr id="83" name="Shape 81"/>
          <p:cNvSpPr/>
          <p:nvPr/>
        </p:nvSpPr>
        <p:spPr>
          <a:xfrm>
            <a:off x="952500" y="6900863"/>
            <a:ext cx="2331244" cy="9525"/>
          </a:xfrm>
          <a:prstGeom prst="rect">
            <a:avLst/>
          </a:prstGeom>
          <a:solidFill>
            <a:srgbClr val="213251"/>
          </a:solidFill>
          <a:ln/>
        </p:spPr>
      </p:sp>
      <p:sp>
        <p:nvSpPr>
          <p:cNvPr id="84" name="Text 82"/>
          <p:cNvSpPr/>
          <p:nvPr/>
        </p:nvSpPr>
        <p:spPr>
          <a:xfrm>
            <a:off x="1123950" y="6548438"/>
            <a:ext cx="2064544" cy="257175"/>
          </a:xfrm>
          <a:prstGeom prst="rect">
            <a:avLst/>
          </a:prstGeom>
          <a:noFill/>
          <a:ln/>
        </p:spPr>
        <p:txBody>
          <a:bodyPr wrap="square" lIns="25400" tIns="25400" rIns="25400" bIns="25400" rtlCol="0" anchor="ctr">
            <a:normAutofit/>
          </a:bodyPr>
          <a:lstStyle/>
          <a:p>
            <a:pPr algn="l" indent="0" marL="0">
              <a:buNone/>
            </a:pPr>
            <a:r>
              <a:rPr lang="en-US" sz="1425" b="1" dirty="0">
                <a:solidFill>
                  <a:srgbClr val="6FA3D2"/>
                </a:solidFill>
                <a:latin typeface="Arial" pitchFamily="34" charset="0"/>
                <a:ea typeface="Arial" pitchFamily="34" charset="-122"/>
                <a:cs typeface="Arial" pitchFamily="34" charset="-120"/>
              </a:rPr>
              <a:t>Orchestrator</a:t>
            </a:r>
            <a:endParaRPr lang="en-US" sz="1425" dirty="0"/>
          </a:p>
        </p:txBody>
      </p:sp>
      <p:sp>
        <p:nvSpPr>
          <p:cNvPr id="85" name="Shape 83"/>
          <p:cNvSpPr/>
          <p:nvPr/>
        </p:nvSpPr>
        <p:spPr>
          <a:xfrm>
            <a:off x="3283744" y="6900863"/>
            <a:ext cx="5560070" cy="9525"/>
          </a:xfrm>
          <a:prstGeom prst="rect">
            <a:avLst/>
          </a:prstGeom>
          <a:solidFill>
            <a:srgbClr val="213251"/>
          </a:solidFill>
          <a:ln/>
        </p:spPr>
      </p:sp>
      <p:sp>
        <p:nvSpPr>
          <p:cNvPr id="86" name="Text 84"/>
          <p:cNvSpPr/>
          <p:nvPr/>
        </p:nvSpPr>
        <p:spPr>
          <a:xfrm>
            <a:off x="3455194" y="6548438"/>
            <a:ext cx="5383972" cy="257175"/>
          </a:xfrm>
          <a:prstGeom prst="rect">
            <a:avLst/>
          </a:prstGeom>
          <a:noFill/>
          <a:ln/>
        </p:spPr>
        <p:txBody>
          <a:bodyPr wrap="square" lIns="25400" tIns="25400" rIns="25400" bIns="25400" rtlCol="0" anchor="ctr">
            <a:normAutofit/>
          </a:bodyPr>
          <a:lstStyle/>
          <a:p>
            <a:pPr algn="l" indent="0" marL="0">
              <a:buNone/>
            </a:pPr>
            <a:r>
              <a:rPr lang="en-US" sz="1350" dirty="0">
                <a:solidFill>
                  <a:srgbClr val="EEF2F8"/>
                </a:solidFill>
                <a:latin typeface="Arial" pitchFamily="34" charset="0"/>
                <a:ea typeface="Arial" pitchFamily="34" charset="-122"/>
                <a:cs typeface="Arial" pitchFamily="34" charset="-120"/>
              </a:rPr>
              <a:t>analyze_review() — fonction Python, pas un Agent</a:t>
            </a:r>
            <a:endParaRPr lang="en-US" sz="1350" dirty="0"/>
          </a:p>
        </p:txBody>
      </p:sp>
      <p:sp>
        <p:nvSpPr>
          <p:cNvPr id="87" name="Shape 85"/>
          <p:cNvSpPr/>
          <p:nvPr/>
        </p:nvSpPr>
        <p:spPr>
          <a:xfrm>
            <a:off x="8843814" y="6900863"/>
            <a:ext cx="1788765" cy="9525"/>
          </a:xfrm>
          <a:prstGeom prst="rect">
            <a:avLst/>
          </a:prstGeom>
          <a:solidFill>
            <a:srgbClr val="213251"/>
          </a:solidFill>
          <a:ln/>
        </p:spPr>
      </p:sp>
      <p:sp>
        <p:nvSpPr>
          <p:cNvPr id="88" name="Text 86"/>
          <p:cNvSpPr/>
          <p:nvPr/>
        </p:nvSpPr>
        <p:spPr>
          <a:xfrm>
            <a:off x="9015264" y="6548438"/>
            <a:ext cx="152206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a:t>
            </a:r>
            <a:endParaRPr lang="en-US" sz="1200" dirty="0"/>
          </a:p>
        </p:txBody>
      </p:sp>
      <p:sp>
        <p:nvSpPr>
          <p:cNvPr id="89" name="Shape 87"/>
          <p:cNvSpPr/>
          <p:nvPr/>
        </p:nvSpPr>
        <p:spPr>
          <a:xfrm>
            <a:off x="10632579" y="6900863"/>
            <a:ext cx="1062335" cy="9525"/>
          </a:xfrm>
          <a:prstGeom prst="rect">
            <a:avLst/>
          </a:prstGeom>
          <a:solidFill>
            <a:srgbClr val="213251"/>
          </a:solidFill>
          <a:ln/>
        </p:spPr>
      </p:sp>
      <p:sp>
        <p:nvSpPr>
          <p:cNvPr id="90" name="Text 88"/>
          <p:cNvSpPr/>
          <p:nvPr/>
        </p:nvSpPr>
        <p:spPr>
          <a:xfrm>
            <a:off x="10804029" y="6548438"/>
            <a:ext cx="795635"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a:t>
            </a:r>
            <a:endParaRPr lang="en-US" sz="1200" dirty="0"/>
          </a:p>
        </p:txBody>
      </p:sp>
      <p:sp>
        <p:nvSpPr>
          <p:cNvPr id="91" name="Shape 89"/>
          <p:cNvSpPr/>
          <p:nvPr/>
        </p:nvSpPr>
        <p:spPr>
          <a:xfrm>
            <a:off x="11694914" y="6900863"/>
            <a:ext cx="3971479" cy="9525"/>
          </a:xfrm>
          <a:prstGeom prst="rect">
            <a:avLst/>
          </a:prstGeom>
          <a:solidFill>
            <a:srgbClr val="213251"/>
          </a:solidFill>
          <a:ln/>
        </p:spPr>
      </p:sp>
      <p:sp>
        <p:nvSpPr>
          <p:cNvPr id="92" name="Text 90"/>
          <p:cNvSpPr/>
          <p:nvPr/>
        </p:nvSpPr>
        <p:spPr>
          <a:xfrm>
            <a:off x="11866364" y="6548438"/>
            <a:ext cx="374772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guardrail + Crew + try/except</a:t>
            </a:r>
            <a:endParaRPr lang="en-US" sz="1200" dirty="0"/>
          </a:p>
        </p:txBody>
      </p:sp>
      <p:sp>
        <p:nvSpPr>
          <p:cNvPr id="93" name="Shape 91"/>
          <p:cNvSpPr/>
          <p:nvPr/>
        </p:nvSpPr>
        <p:spPr>
          <a:xfrm>
            <a:off x="15666393" y="6900863"/>
            <a:ext cx="1669703" cy="9525"/>
          </a:xfrm>
          <a:prstGeom prst="rect">
            <a:avLst/>
          </a:prstGeom>
          <a:solidFill>
            <a:srgbClr val="213251"/>
          </a:solidFill>
          <a:ln/>
        </p:spPr>
      </p:sp>
      <p:sp>
        <p:nvSpPr>
          <p:cNvPr id="94" name="Text 92"/>
          <p:cNvSpPr/>
          <p:nvPr/>
        </p:nvSpPr>
        <p:spPr>
          <a:xfrm>
            <a:off x="15837843" y="6548438"/>
            <a:ext cx="1403003" cy="257175"/>
          </a:xfrm>
          <a:prstGeom prst="rect">
            <a:avLst/>
          </a:prstGeom>
          <a:noFill/>
          <a:ln/>
        </p:spPr>
        <p:txBody>
          <a:bodyPr wrap="square" lIns="25400" tIns="25400" rIns="25400" bIns="25400" rtlCol="0" anchor="ctr">
            <a:normAutofit/>
          </a:bodyPr>
          <a:lstStyle/>
          <a:p>
            <a:pPr algn="l" indent="0" marL="0">
              <a:buNone/>
            </a:pPr>
            <a:r>
              <a:rPr lang="en-US" sz="1200" dirty="0">
                <a:solidFill>
                  <a:srgbClr val="B8C2D4"/>
                </a:solidFill>
                <a:latin typeface="Courier New" pitchFamily="34" charset="0"/>
                <a:ea typeface="Courier New" pitchFamily="34" charset="-122"/>
                <a:cs typeface="Courier New" pitchFamily="34" charset="-120"/>
              </a:rPr>
              <a:t>—</a:t>
            </a:r>
            <a:endParaRPr lang="en-US" sz="1200" dirty="0"/>
          </a:p>
        </p:txBody>
      </p:sp>
      <p:sp>
        <p:nvSpPr>
          <p:cNvPr id="95" name="Text 93"/>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96" name="Text 94"/>
          <p:cNvSpPr/>
          <p:nvPr/>
        </p:nvSpPr>
        <p:spPr>
          <a:xfrm>
            <a:off x="14870757" y="9791700"/>
            <a:ext cx="2540943"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Y. BEN MEZIANE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436638"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04 — DONNÉES</a:t>
            </a:r>
            <a:endParaRPr lang="en-US" sz="1125" dirty="0"/>
          </a:p>
        </p:txBody>
      </p:sp>
      <p:sp>
        <p:nvSpPr>
          <p:cNvPr id="3" name="Text 1"/>
          <p:cNvSpPr/>
          <p:nvPr/>
        </p:nvSpPr>
        <p:spPr>
          <a:xfrm>
            <a:off x="15100548" y="342900"/>
            <a:ext cx="2311152"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DATASET &amp; PRÉPROCESSING</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SUR QUOI BERT A APPRIS</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Amazon Reviews 2023 — Beauty, 10 000 lignes, déséquilibre assumé.</a:t>
            </a:r>
            <a:endParaRPr lang="en-US" sz="4500" dirty="0"/>
          </a:p>
        </p:txBody>
      </p:sp>
      <p:sp>
        <p:nvSpPr>
          <p:cNvPr id="6" name="Shape 4"/>
          <p:cNvSpPr/>
          <p:nvPr/>
        </p:nvSpPr>
        <p:spPr>
          <a:xfrm>
            <a:off x="952500" y="2876550"/>
            <a:ext cx="3952875" cy="1466850"/>
          </a:xfrm>
          <a:prstGeom prst="rect">
            <a:avLst/>
          </a:prstGeom>
          <a:solidFill>
            <a:srgbClr val="0F1B30"/>
          </a:solidFill>
          <a:ln w="9525">
            <a:solidFill>
              <a:srgbClr val="213251"/>
            </a:solidFill>
            <a:prstDash val="solid"/>
          </a:ln>
        </p:spPr>
      </p:sp>
      <p:sp>
        <p:nvSpPr>
          <p:cNvPr id="7" name="Text 5"/>
          <p:cNvSpPr/>
          <p:nvPr/>
        </p:nvSpPr>
        <p:spPr>
          <a:xfrm>
            <a:off x="1190625" y="3095625"/>
            <a:ext cx="3580924" cy="180975"/>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SOURCE</a:t>
            </a:r>
            <a:endParaRPr lang="en-US" sz="975" dirty="0"/>
          </a:p>
        </p:txBody>
      </p:sp>
      <p:sp>
        <p:nvSpPr>
          <p:cNvPr id="8" name="Text 6"/>
          <p:cNvSpPr/>
          <p:nvPr/>
        </p:nvSpPr>
        <p:spPr>
          <a:xfrm>
            <a:off x="1190625" y="3295650"/>
            <a:ext cx="3580924"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spc="-48" kern="0" dirty="0">
                <a:solidFill>
                  <a:srgbClr val="D4B06A"/>
                </a:solidFill>
                <a:latin typeface="Arial" pitchFamily="34" charset="0"/>
                <a:ea typeface="Arial" pitchFamily="34" charset="-122"/>
                <a:cs typeface="Arial" pitchFamily="34" charset="-120"/>
              </a:rPr>
              <a:t>McAuley-Lab</a:t>
            </a:r>
            <a:endParaRPr lang="en-US" sz="2400" dirty="0"/>
          </a:p>
        </p:txBody>
      </p:sp>
      <p:sp>
        <p:nvSpPr>
          <p:cNvPr id="9" name="Text 7"/>
          <p:cNvSpPr/>
          <p:nvPr/>
        </p:nvSpPr>
        <p:spPr>
          <a:xfrm>
            <a:off x="1190625" y="3695700"/>
            <a:ext cx="3580924" cy="46672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Amazon-Reviews-2023 · config </a:t>
            </a:r>
            <a:pPr algn="l" indent="0" marL="0">
              <a:lnSpc>
                <a:spcPct val="140000"/>
              </a:lnSpc>
              <a:buNone/>
            </a:pPr>
            <a:r>
              <a:rPr lang="en-US" sz="1200" dirty="0">
                <a:solidFill>
                  <a:srgbClr val="D4B06A"/>
                </a:solidFill>
                <a:latin typeface="Courier New" pitchFamily="34" charset="0"/>
                <a:ea typeface="Courier New" pitchFamily="34" charset="-122"/>
                <a:cs typeface="Courier New" pitchFamily="34" charset="-120"/>
              </a:rPr>
              <a:t>raw_review_All_Beauty</a:t>
            </a:r>
            <a:endParaRPr lang="en-US" sz="1200" dirty="0"/>
          </a:p>
        </p:txBody>
      </p:sp>
      <p:sp>
        <p:nvSpPr>
          <p:cNvPr id="10" name="Shape 8"/>
          <p:cNvSpPr/>
          <p:nvPr/>
        </p:nvSpPr>
        <p:spPr>
          <a:xfrm>
            <a:off x="5095875" y="2876550"/>
            <a:ext cx="3952875" cy="1466850"/>
          </a:xfrm>
          <a:prstGeom prst="rect">
            <a:avLst/>
          </a:prstGeom>
          <a:solidFill>
            <a:srgbClr val="0F1B30"/>
          </a:solidFill>
          <a:ln w="9525">
            <a:solidFill>
              <a:srgbClr val="213251"/>
            </a:solidFill>
            <a:prstDash val="solid"/>
          </a:ln>
        </p:spPr>
      </p:sp>
      <p:sp>
        <p:nvSpPr>
          <p:cNvPr id="11" name="Text 9"/>
          <p:cNvSpPr/>
          <p:nvPr/>
        </p:nvSpPr>
        <p:spPr>
          <a:xfrm>
            <a:off x="5334000" y="3095625"/>
            <a:ext cx="3580924" cy="180975"/>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ÉCHANTILLON</a:t>
            </a:r>
            <a:endParaRPr lang="en-US" sz="975" dirty="0"/>
          </a:p>
        </p:txBody>
      </p:sp>
      <p:sp>
        <p:nvSpPr>
          <p:cNvPr id="12" name="Text 10"/>
          <p:cNvSpPr/>
          <p:nvPr/>
        </p:nvSpPr>
        <p:spPr>
          <a:xfrm>
            <a:off x="5334000" y="3295650"/>
            <a:ext cx="3580924"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spc="-66" kern="0" dirty="0">
                <a:solidFill>
                  <a:srgbClr val="D4B06A"/>
                </a:solidFill>
                <a:latin typeface="Arial" pitchFamily="34" charset="0"/>
                <a:ea typeface="Arial" pitchFamily="34" charset="-122"/>
                <a:cs typeface="Arial" pitchFamily="34" charset="-120"/>
              </a:rPr>
              <a:t>10 000</a:t>
            </a:r>
            <a:endParaRPr lang="en-US" sz="3300" dirty="0"/>
          </a:p>
        </p:txBody>
      </p:sp>
      <p:sp>
        <p:nvSpPr>
          <p:cNvPr id="13" name="Text 11"/>
          <p:cNvSpPr/>
          <p:nvPr/>
        </p:nvSpPr>
        <p:spPr>
          <a:xfrm>
            <a:off x="5334000" y="3810000"/>
            <a:ext cx="3580924" cy="247650"/>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lignes pour le fine-tuning BERT · 5 000 pour l'EDA</a:t>
            </a:r>
            <a:endParaRPr lang="en-US" sz="1200" dirty="0"/>
          </a:p>
        </p:txBody>
      </p:sp>
      <p:sp>
        <p:nvSpPr>
          <p:cNvPr id="14" name="Shape 12"/>
          <p:cNvSpPr/>
          <p:nvPr/>
        </p:nvSpPr>
        <p:spPr>
          <a:xfrm>
            <a:off x="9239250" y="2876550"/>
            <a:ext cx="3952875" cy="1466850"/>
          </a:xfrm>
          <a:prstGeom prst="rect">
            <a:avLst/>
          </a:prstGeom>
          <a:solidFill>
            <a:srgbClr val="0F1B30"/>
          </a:solidFill>
          <a:ln w="9525">
            <a:solidFill>
              <a:srgbClr val="213251"/>
            </a:solidFill>
            <a:prstDash val="solid"/>
          </a:ln>
        </p:spPr>
      </p:sp>
      <p:sp>
        <p:nvSpPr>
          <p:cNvPr id="15" name="Text 13"/>
          <p:cNvSpPr/>
          <p:nvPr/>
        </p:nvSpPr>
        <p:spPr>
          <a:xfrm>
            <a:off x="9477375" y="3095625"/>
            <a:ext cx="3580924" cy="180975"/>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CLASSES</a:t>
            </a:r>
            <a:endParaRPr lang="en-US" sz="975" dirty="0"/>
          </a:p>
        </p:txBody>
      </p:sp>
      <p:sp>
        <p:nvSpPr>
          <p:cNvPr id="16" name="Text 14"/>
          <p:cNvSpPr/>
          <p:nvPr/>
        </p:nvSpPr>
        <p:spPr>
          <a:xfrm>
            <a:off x="9477375" y="3295650"/>
            <a:ext cx="3580924"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spc="-66" kern="0" dirty="0">
                <a:solidFill>
                  <a:srgbClr val="D4B06A"/>
                </a:solidFill>
                <a:latin typeface="Arial" pitchFamily="34" charset="0"/>
                <a:ea typeface="Arial" pitchFamily="34" charset="-122"/>
                <a:cs typeface="Arial" pitchFamily="34" charset="-120"/>
              </a:rPr>
              <a:t>3</a:t>
            </a:r>
            <a:endParaRPr lang="en-US" sz="3300" dirty="0"/>
          </a:p>
        </p:txBody>
      </p:sp>
      <p:sp>
        <p:nvSpPr>
          <p:cNvPr id="17" name="Text 15"/>
          <p:cNvSpPr/>
          <p:nvPr/>
        </p:nvSpPr>
        <p:spPr>
          <a:xfrm>
            <a:off x="9477375" y="3810000"/>
            <a:ext cx="3580924" cy="247650"/>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négatif (1–2★) · neutre (3★) · positif (4–5★)</a:t>
            </a:r>
            <a:endParaRPr lang="en-US" sz="1200" dirty="0"/>
          </a:p>
        </p:txBody>
      </p:sp>
      <p:sp>
        <p:nvSpPr>
          <p:cNvPr id="18" name="Shape 16"/>
          <p:cNvSpPr/>
          <p:nvPr/>
        </p:nvSpPr>
        <p:spPr>
          <a:xfrm>
            <a:off x="13382625" y="2876550"/>
            <a:ext cx="3952875" cy="1466850"/>
          </a:xfrm>
          <a:prstGeom prst="rect">
            <a:avLst/>
          </a:prstGeom>
          <a:solidFill>
            <a:srgbClr val="0F1B30"/>
          </a:solidFill>
          <a:ln w="9525">
            <a:solidFill>
              <a:srgbClr val="213251"/>
            </a:solidFill>
            <a:prstDash val="solid"/>
          </a:ln>
        </p:spPr>
      </p:sp>
      <p:sp>
        <p:nvSpPr>
          <p:cNvPr id="19" name="Text 17"/>
          <p:cNvSpPr/>
          <p:nvPr/>
        </p:nvSpPr>
        <p:spPr>
          <a:xfrm>
            <a:off x="13620750" y="3095625"/>
            <a:ext cx="3580924" cy="180975"/>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D8AA3"/>
                </a:solidFill>
                <a:latin typeface="Courier New" pitchFamily="34" charset="0"/>
                <a:ea typeface="Courier New" pitchFamily="34" charset="-122"/>
                <a:cs typeface="Courier New" pitchFamily="34" charset="-120"/>
              </a:rPr>
              <a:t>SPLIT</a:t>
            </a:r>
            <a:endParaRPr lang="en-US" sz="975" dirty="0"/>
          </a:p>
        </p:txBody>
      </p:sp>
      <p:sp>
        <p:nvSpPr>
          <p:cNvPr id="20" name="Text 18"/>
          <p:cNvSpPr/>
          <p:nvPr/>
        </p:nvSpPr>
        <p:spPr>
          <a:xfrm>
            <a:off x="13620750" y="3295650"/>
            <a:ext cx="3580924"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spc="-66" kern="0" dirty="0">
                <a:solidFill>
                  <a:srgbClr val="D4B06A"/>
                </a:solidFill>
                <a:latin typeface="Arial" pitchFamily="34" charset="0"/>
                <a:ea typeface="Arial" pitchFamily="34" charset="-122"/>
                <a:cs typeface="Arial" pitchFamily="34" charset="-120"/>
              </a:rPr>
              <a:t>80 / 20</a:t>
            </a:r>
            <a:endParaRPr lang="en-US" sz="3300" dirty="0"/>
          </a:p>
        </p:txBody>
      </p:sp>
      <p:sp>
        <p:nvSpPr>
          <p:cNvPr id="21" name="Text 19"/>
          <p:cNvSpPr/>
          <p:nvPr/>
        </p:nvSpPr>
        <p:spPr>
          <a:xfrm>
            <a:off x="13620750" y="3810000"/>
            <a:ext cx="3580924" cy="257175"/>
          </a:xfrm>
          <a:prstGeom prst="rect">
            <a:avLst/>
          </a:prstGeom>
          <a:noFill/>
          <a:ln/>
        </p:spPr>
        <p:txBody>
          <a:bodyPr wrap="square" lIns="25400" tIns="25400" rIns="25400" bIns="25400" rtlCol="0" anchor="t">
            <a:normAutofit/>
          </a:bodyPr>
          <a:lstStyle/>
          <a:p>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stratifié sur le label, </a:t>
            </a:r>
            <a:pPr algn="l" indent="0" marL="0">
              <a:lnSpc>
                <a:spcPct val="140000"/>
              </a:lnSpc>
              <a:buNone/>
            </a:pPr>
            <a:r>
              <a:rPr lang="en-US" sz="1200" dirty="0">
                <a:solidFill>
                  <a:srgbClr val="B8C2D4"/>
                </a:solidFill>
                <a:latin typeface="Courier New" pitchFamily="34" charset="0"/>
                <a:ea typeface="Courier New" pitchFamily="34" charset="-122"/>
                <a:cs typeface="Courier New" pitchFamily="34" charset="-120"/>
              </a:rPr>
              <a:t>random_state=42</a:t>
            </a:r>
            <a:endParaRPr lang="en-US" sz="1200" dirty="0"/>
          </a:p>
        </p:txBody>
      </p:sp>
      <p:sp>
        <p:nvSpPr>
          <p:cNvPr id="22" name="Text 20"/>
          <p:cNvSpPr/>
          <p:nvPr/>
        </p:nvSpPr>
        <p:spPr>
          <a:xfrm>
            <a:off x="952500" y="4610100"/>
            <a:ext cx="7165680"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D4B06A"/>
                </a:solidFill>
                <a:latin typeface="Courier New" pitchFamily="34" charset="0"/>
                <a:ea typeface="Courier New" pitchFamily="34" charset="-122"/>
                <a:cs typeface="Courier New" pitchFamily="34" charset="-120"/>
              </a:rPr>
              <a:t>DISTRIBUTION DES CLASSES</a:t>
            </a:r>
            <a:endParaRPr lang="en-US" sz="1650" dirty="0"/>
          </a:p>
        </p:txBody>
      </p:sp>
      <p:sp>
        <p:nvSpPr>
          <p:cNvPr id="23" name="Text 21"/>
          <p:cNvSpPr/>
          <p:nvPr/>
        </p:nvSpPr>
        <p:spPr>
          <a:xfrm>
            <a:off x="952500" y="5038725"/>
            <a:ext cx="1123950" cy="200025"/>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B8C2D4"/>
                </a:solidFill>
                <a:latin typeface="Courier New" pitchFamily="34" charset="0"/>
                <a:ea typeface="Courier New" pitchFamily="34" charset="-122"/>
                <a:cs typeface="Courier New" pitchFamily="34" charset="-120"/>
              </a:rPr>
              <a:t>POSITIF</a:t>
            </a:r>
            <a:endParaRPr lang="en-US" sz="1125" dirty="0"/>
          </a:p>
        </p:txBody>
      </p:sp>
      <p:sp>
        <p:nvSpPr>
          <p:cNvPr id="24" name="Text 22"/>
          <p:cNvSpPr/>
          <p:nvPr/>
        </p:nvSpPr>
        <p:spPr>
          <a:xfrm>
            <a:off x="952500" y="5238750"/>
            <a:ext cx="1123950" cy="190500"/>
          </a:xfrm>
          <a:prstGeom prst="rect">
            <a:avLst/>
          </a:prstGeom>
          <a:noFill/>
          <a:ln/>
        </p:spPr>
        <p:txBody>
          <a:bodyPr wrap="square" lIns="25400" tIns="25400" rIns="25400" bIns="25400" rtlCol="0" anchor="t">
            <a:normAutofit/>
          </a:bodyPr>
          <a:lstStyle/>
          <a:p>
            <a:pPr algn="l" indent="0" marL="0">
              <a:buNone/>
            </a:pPr>
            <a:r>
              <a:rPr lang="en-US" sz="975" dirty="0">
                <a:solidFill>
                  <a:srgbClr val="7D8AA3"/>
                </a:solidFill>
                <a:latin typeface="Courier New" pitchFamily="34" charset="0"/>
                <a:ea typeface="Courier New" pitchFamily="34" charset="-122"/>
                <a:cs typeface="Courier New" pitchFamily="34" charset="-120"/>
              </a:rPr>
              <a:t>4–5 ★</a:t>
            </a:r>
            <a:endParaRPr lang="en-US" sz="975" dirty="0"/>
          </a:p>
        </p:txBody>
      </p:sp>
      <p:sp>
        <p:nvSpPr>
          <p:cNvPr id="25" name="Shape 23"/>
          <p:cNvSpPr/>
          <p:nvPr/>
        </p:nvSpPr>
        <p:spPr>
          <a:xfrm>
            <a:off x="2171700" y="5072063"/>
            <a:ext cx="4709071" cy="285750"/>
          </a:xfrm>
          <a:prstGeom prst="rect">
            <a:avLst/>
          </a:prstGeom>
          <a:solidFill>
            <a:srgbClr val="15233D"/>
          </a:solidFill>
          <a:ln w="9525">
            <a:solidFill>
              <a:srgbClr val="213251"/>
            </a:solidFill>
            <a:prstDash val="solid"/>
          </a:ln>
        </p:spPr>
      </p:sp>
      <p:sp>
        <p:nvSpPr>
          <p:cNvPr id="26" name="Shape 24"/>
          <p:cNvSpPr/>
          <p:nvPr/>
        </p:nvSpPr>
        <p:spPr>
          <a:xfrm>
            <a:off x="2181225" y="5081588"/>
            <a:ext cx="3517404" cy="266700"/>
          </a:xfrm>
          <a:prstGeom prst="rect">
            <a:avLst/>
          </a:prstGeom>
          <a:solidFill>
            <a:srgbClr val="D4B06A"/>
          </a:solidFill>
          <a:ln/>
        </p:spPr>
      </p:sp>
      <p:sp>
        <p:nvSpPr>
          <p:cNvPr id="27" name="Text 25"/>
          <p:cNvSpPr/>
          <p:nvPr/>
        </p:nvSpPr>
        <p:spPr>
          <a:xfrm>
            <a:off x="6976021" y="5119688"/>
            <a:ext cx="933450" cy="228600"/>
          </a:xfrm>
          <a:prstGeom prst="rect">
            <a:avLst/>
          </a:prstGeom>
          <a:noFill/>
          <a:ln/>
        </p:spPr>
        <p:txBody>
          <a:bodyPr wrap="square" lIns="25400" tIns="25400" rIns="25400" bIns="25400" rtlCol="0" anchor="t">
            <a:normAutofit/>
          </a:bodyPr>
          <a:lstStyle/>
          <a:p>
            <a:pPr algn="r" indent="0" marL="0">
              <a:buNone/>
            </a:pPr>
            <a:r>
              <a:rPr lang="en-US" sz="1350" dirty="0">
                <a:solidFill>
                  <a:srgbClr val="EEF2F8"/>
                </a:solidFill>
                <a:latin typeface="Courier New" pitchFamily="34" charset="0"/>
                <a:ea typeface="Courier New" pitchFamily="34" charset="-122"/>
                <a:cs typeface="Courier New" pitchFamily="34" charset="-120"/>
              </a:rPr>
              <a:t>~75 %</a:t>
            </a:r>
            <a:endParaRPr lang="en-US" sz="1350" dirty="0"/>
          </a:p>
        </p:txBody>
      </p:sp>
      <p:sp>
        <p:nvSpPr>
          <p:cNvPr id="28" name="Text 26"/>
          <p:cNvSpPr/>
          <p:nvPr/>
        </p:nvSpPr>
        <p:spPr>
          <a:xfrm>
            <a:off x="952500" y="5543550"/>
            <a:ext cx="1123950" cy="200025"/>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B8C2D4"/>
                </a:solidFill>
                <a:latin typeface="Courier New" pitchFamily="34" charset="0"/>
                <a:ea typeface="Courier New" pitchFamily="34" charset="-122"/>
                <a:cs typeface="Courier New" pitchFamily="34" charset="-120"/>
              </a:rPr>
              <a:t>NÉGATIF</a:t>
            </a:r>
            <a:endParaRPr lang="en-US" sz="1125" dirty="0"/>
          </a:p>
        </p:txBody>
      </p:sp>
      <p:sp>
        <p:nvSpPr>
          <p:cNvPr id="29" name="Text 27"/>
          <p:cNvSpPr/>
          <p:nvPr/>
        </p:nvSpPr>
        <p:spPr>
          <a:xfrm>
            <a:off x="952500" y="5743575"/>
            <a:ext cx="1123950" cy="190500"/>
          </a:xfrm>
          <a:prstGeom prst="rect">
            <a:avLst/>
          </a:prstGeom>
          <a:noFill/>
          <a:ln/>
        </p:spPr>
        <p:txBody>
          <a:bodyPr wrap="square" lIns="25400" tIns="25400" rIns="25400" bIns="25400" rtlCol="0" anchor="t">
            <a:normAutofit/>
          </a:bodyPr>
          <a:lstStyle/>
          <a:p>
            <a:pPr algn="l" indent="0" marL="0">
              <a:buNone/>
            </a:pPr>
            <a:r>
              <a:rPr lang="en-US" sz="975" dirty="0">
                <a:solidFill>
                  <a:srgbClr val="7D8AA3"/>
                </a:solidFill>
                <a:latin typeface="Courier New" pitchFamily="34" charset="0"/>
                <a:ea typeface="Courier New" pitchFamily="34" charset="-122"/>
                <a:cs typeface="Courier New" pitchFamily="34" charset="-120"/>
              </a:rPr>
              <a:t>1–2 ★</a:t>
            </a:r>
            <a:endParaRPr lang="en-US" sz="975" dirty="0"/>
          </a:p>
        </p:txBody>
      </p:sp>
      <p:sp>
        <p:nvSpPr>
          <p:cNvPr id="30" name="Shape 28"/>
          <p:cNvSpPr/>
          <p:nvPr/>
        </p:nvSpPr>
        <p:spPr>
          <a:xfrm>
            <a:off x="2171700" y="5576888"/>
            <a:ext cx="4709071" cy="285750"/>
          </a:xfrm>
          <a:prstGeom prst="rect">
            <a:avLst/>
          </a:prstGeom>
          <a:solidFill>
            <a:srgbClr val="15233D"/>
          </a:solidFill>
          <a:ln w="9525">
            <a:solidFill>
              <a:srgbClr val="213251"/>
            </a:solidFill>
            <a:prstDash val="solid"/>
          </a:ln>
        </p:spPr>
      </p:sp>
      <p:sp>
        <p:nvSpPr>
          <p:cNvPr id="31" name="Shape 29"/>
          <p:cNvSpPr/>
          <p:nvPr/>
        </p:nvSpPr>
        <p:spPr>
          <a:xfrm>
            <a:off x="2181225" y="5586413"/>
            <a:ext cx="656481" cy="266700"/>
          </a:xfrm>
          <a:prstGeom prst="rect">
            <a:avLst/>
          </a:prstGeom>
          <a:solidFill>
            <a:srgbClr val="D97A6C"/>
          </a:solidFill>
          <a:ln/>
        </p:spPr>
      </p:sp>
      <p:sp>
        <p:nvSpPr>
          <p:cNvPr id="32" name="Text 30"/>
          <p:cNvSpPr/>
          <p:nvPr/>
        </p:nvSpPr>
        <p:spPr>
          <a:xfrm>
            <a:off x="6976021" y="5624513"/>
            <a:ext cx="933450" cy="228600"/>
          </a:xfrm>
          <a:prstGeom prst="rect">
            <a:avLst/>
          </a:prstGeom>
          <a:noFill/>
          <a:ln/>
        </p:spPr>
        <p:txBody>
          <a:bodyPr wrap="square" lIns="25400" tIns="25400" rIns="25400" bIns="25400" rtlCol="0" anchor="t">
            <a:normAutofit/>
          </a:bodyPr>
          <a:lstStyle/>
          <a:p>
            <a:pPr algn="r" indent="0" marL="0">
              <a:buNone/>
            </a:pPr>
            <a:r>
              <a:rPr lang="en-US" sz="1350" dirty="0">
                <a:solidFill>
                  <a:srgbClr val="EEF2F8"/>
                </a:solidFill>
                <a:latin typeface="Courier New" pitchFamily="34" charset="0"/>
                <a:ea typeface="Courier New" pitchFamily="34" charset="-122"/>
                <a:cs typeface="Courier New" pitchFamily="34" charset="-120"/>
              </a:rPr>
              <a:t>~14 %</a:t>
            </a:r>
            <a:endParaRPr lang="en-US" sz="1350" dirty="0"/>
          </a:p>
        </p:txBody>
      </p:sp>
      <p:sp>
        <p:nvSpPr>
          <p:cNvPr id="33" name="Text 31"/>
          <p:cNvSpPr/>
          <p:nvPr/>
        </p:nvSpPr>
        <p:spPr>
          <a:xfrm>
            <a:off x="952500" y="6048375"/>
            <a:ext cx="1123950" cy="200025"/>
          </a:xfrm>
          <a:prstGeom prst="rect">
            <a:avLst/>
          </a:prstGeom>
          <a:noFill/>
          <a:ln/>
        </p:spPr>
        <p:txBody>
          <a:bodyPr wrap="square" lIns="25400" tIns="25400" rIns="25400" bIns="25400" rtlCol="0" anchor="t">
            <a:normAutofit/>
          </a:bodyPr>
          <a:lstStyle/>
          <a:p>
            <a:pPr algn="l" indent="0" marL="0">
              <a:buNone/>
            </a:pPr>
            <a:r>
              <a:rPr lang="en-US" sz="1125" spc="113" kern="0" dirty="0">
                <a:solidFill>
                  <a:srgbClr val="B8C2D4"/>
                </a:solidFill>
                <a:latin typeface="Courier New" pitchFamily="34" charset="0"/>
                <a:ea typeface="Courier New" pitchFamily="34" charset="-122"/>
                <a:cs typeface="Courier New" pitchFamily="34" charset="-120"/>
              </a:rPr>
              <a:t>NEUTRE</a:t>
            </a:r>
            <a:endParaRPr lang="en-US" sz="1125" dirty="0"/>
          </a:p>
        </p:txBody>
      </p:sp>
      <p:sp>
        <p:nvSpPr>
          <p:cNvPr id="34" name="Text 32"/>
          <p:cNvSpPr/>
          <p:nvPr/>
        </p:nvSpPr>
        <p:spPr>
          <a:xfrm>
            <a:off x="952500" y="6248400"/>
            <a:ext cx="1123950" cy="190500"/>
          </a:xfrm>
          <a:prstGeom prst="rect">
            <a:avLst/>
          </a:prstGeom>
          <a:noFill/>
          <a:ln/>
        </p:spPr>
        <p:txBody>
          <a:bodyPr wrap="square" lIns="25400" tIns="25400" rIns="25400" bIns="25400" rtlCol="0" anchor="t">
            <a:normAutofit/>
          </a:bodyPr>
          <a:lstStyle/>
          <a:p>
            <a:pPr algn="l" indent="0" marL="0">
              <a:buNone/>
            </a:pPr>
            <a:r>
              <a:rPr lang="en-US" sz="975" dirty="0">
                <a:solidFill>
                  <a:srgbClr val="7D8AA3"/>
                </a:solidFill>
                <a:latin typeface="Courier New" pitchFamily="34" charset="0"/>
                <a:ea typeface="Courier New" pitchFamily="34" charset="-122"/>
                <a:cs typeface="Courier New" pitchFamily="34" charset="-120"/>
              </a:rPr>
              <a:t>3 ★</a:t>
            </a:r>
            <a:endParaRPr lang="en-US" sz="975" dirty="0"/>
          </a:p>
        </p:txBody>
      </p:sp>
      <p:sp>
        <p:nvSpPr>
          <p:cNvPr id="35" name="Shape 33"/>
          <p:cNvSpPr/>
          <p:nvPr/>
        </p:nvSpPr>
        <p:spPr>
          <a:xfrm>
            <a:off x="2171700" y="6081713"/>
            <a:ext cx="4709071" cy="285750"/>
          </a:xfrm>
          <a:prstGeom prst="rect">
            <a:avLst/>
          </a:prstGeom>
          <a:solidFill>
            <a:srgbClr val="15233D"/>
          </a:solidFill>
          <a:ln w="9525">
            <a:solidFill>
              <a:srgbClr val="213251"/>
            </a:solidFill>
            <a:prstDash val="solid"/>
          </a:ln>
        </p:spPr>
      </p:sp>
      <p:sp>
        <p:nvSpPr>
          <p:cNvPr id="36" name="Shape 34"/>
          <p:cNvSpPr/>
          <p:nvPr/>
        </p:nvSpPr>
        <p:spPr>
          <a:xfrm>
            <a:off x="2181225" y="6091238"/>
            <a:ext cx="515838" cy="266700"/>
          </a:xfrm>
          <a:prstGeom prst="rect">
            <a:avLst/>
          </a:prstGeom>
          <a:solidFill>
            <a:srgbClr val="6FA3D2"/>
          </a:solidFill>
          <a:ln/>
        </p:spPr>
      </p:sp>
      <p:sp>
        <p:nvSpPr>
          <p:cNvPr id="37" name="Text 35"/>
          <p:cNvSpPr/>
          <p:nvPr/>
        </p:nvSpPr>
        <p:spPr>
          <a:xfrm>
            <a:off x="6976021" y="6129338"/>
            <a:ext cx="933450" cy="228600"/>
          </a:xfrm>
          <a:prstGeom prst="rect">
            <a:avLst/>
          </a:prstGeom>
          <a:noFill/>
          <a:ln/>
        </p:spPr>
        <p:txBody>
          <a:bodyPr wrap="square" lIns="25400" tIns="25400" rIns="25400" bIns="25400" rtlCol="0" anchor="t">
            <a:normAutofit/>
          </a:bodyPr>
          <a:lstStyle/>
          <a:p>
            <a:pPr algn="r" indent="0" marL="0">
              <a:buNone/>
            </a:pPr>
            <a:r>
              <a:rPr lang="en-US" sz="1350" dirty="0">
                <a:solidFill>
                  <a:srgbClr val="EEF2F8"/>
                </a:solidFill>
                <a:latin typeface="Courier New" pitchFamily="34" charset="0"/>
                <a:ea typeface="Courier New" pitchFamily="34" charset="-122"/>
                <a:cs typeface="Courier New" pitchFamily="34" charset="-120"/>
              </a:rPr>
              <a:t>~11 %</a:t>
            </a:r>
            <a:endParaRPr lang="en-US" sz="1350" dirty="0"/>
          </a:p>
        </p:txBody>
      </p:sp>
      <p:sp>
        <p:nvSpPr>
          <p:cNvPr id="38" name="Text 36"/>
          <p:cNvSpPr/>
          <p:nvPr/>
        </p:nvSpPr>
        <p:spPr>
          <a:xfrm>
            <a:off x="952500" y="6553200"/>
            <a:ext cx="7165680" cy="438150"/>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7D8AA3"/>
                </a:solidFill>
                <a:latin typeface="Courier New" pitchFamily="34" charset="0"/>
                <a:ea typeface="Courier New" pitchFamily="34" charset="-122"/>
                <a:cs typeface="Courier New" pitchFamily="34" charset="-120"/>
              </a:rPr>
              <a:t>Pas de pondération, pas d'oversampling — choix documenté : BERT est robuste à ce déséquilibre sur 3 epochs.</a:t>
            </a:r>
            <a:endParaRPr lang="en-US" sz="1050" dirty="0"/>
          </a:p>
        </p:txBody>
      </p:sp>
      <p:sp>
        <p:nvSpPr>
          <p:cNvPr id="39" name="Text 37"/>
          <p:cNvSpPr/>
          <p:nvPr/>
        </p:nvSpPr>
        <p:spPr>
          <a:xfrm>
            <a:off x="8480971" y="4610100"/>
            <a:ext cx="9120165"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D4B06A"/>
                </a:solidFill>
                <a:latin typeface="Courier New" pitchFamily="34" charset="0"/>
                <a:ea typeface="Courier New" pitchFamily="34" charset="-122"/>
                <a:cs typeface="Courier New" pitchFamily="34" charset="-120"/>
              </a:rPr>
              <a:t>PRÉPROCESSING</a:t>
            </a:r>
            <a:endParaRPr lang="en-US" sz="1650" dirty="0"/>
          </a:p>
        </p:txBody>
      </p:sp>
      <p:sp>
        <p:nvSpPr>
          <p:cNvPr id="40" name="Text 38"/>
          <p:cNvSpPr/>
          <p:nvPr/>
        </p:nvSpPr>
        <p:spPr>
          <a:xfrm>
            <a:off x="8881021" y="5038725"/>
            <a:ext cx="8720115" cy="26670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Lookup défensif des colonnes </a:t>
            </a:r>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rating </a:t>
            </a:r>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 </a:t>
            </a:r>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text</a:t>
            </a:r>
            <a:endParaRPr lang="en-US" sz="1275" dirty="0"/>
          </a:p>
        </p:txBody>
      </p:sp>
      <p:sp>
        <p:nvSpPr>
          <p:cNvPr id="41" name="Text 39"/>
          <p:cNvSpPr/>
          <p:nvPr/>
        </p:nvSpPr>
        <p:spPr>
          <a:xfrm>
            <a:off x="8881021" y="5362575"/>
            <a:ext cx="8720115" cy="266700"/>
          </a:xfrm>
          <a:prstGeom prst="rect">
            <a:avLst/>
          </a:prstGeom>
          <a:noFill/>
          <a:ln/>
        </p:spPr>
        <p:txBody>
          <a:bodyPr wrap="square" lIns="25400" tIns="25400" rIns="25400" bIns="25400" rtlCol="0" anchor="t">
            <a:normAutofit/>
          </a:bodyPr>
          <a:lstStyle/>
          <a:p>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to_numeric(errors="coerce") </a:t>
            </a:r>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 </a:t>
            </a:r>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dropna()</a:t>
            </a:r>
            <a:endParaRPr lang="en-US" sz="1275" dirty="0"/>
          </a:p>
        </p:txBody>
      </p:sp>
      <p:sp>
        <p:nvSpPr>
          <p:cNvPr id="42" name="Text 40"/>
          <p:cNvSpPr/>
          <p:nvPr/>
        </p:nvSpPr>
        <p:spPr>
          <a:xfrm>
            <a:off x="8881021" y="5686425"/>
            <a:ext cx="8720115" cy="257175"/>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Strip + filtre des chaînes vides</a:t>
            </a:r>
            <a:endParaRPr lang="en-US" sz="1275" dirty="0"/>
          </a:p>
        </p:txBody>
      </p:sp>
      <p:sp>
        <p:nvSpPr>
          <p:cNvPr id="43" name="Text 41"/>
          <p:cNvSpPr/>
          <p:nvPr/>
        </p:nvSpPr>
        <p:spPr>
          <a:xfrm>
            <a:off x="8881021" y="6000750"/>
            <a:ext cx="8720115" cy="26670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Mapping rating → label via </a:t>
            </a:r>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rating_to_label()</a:t>
            </a:r>
            <a:endParaRPr lang="en-US" sz="1275" dirty="0"/>
          </a:p>
        </p:txBody>
      </p:sp>
      <p:sp>
        <p:nvSpPr>
          <p:cNvPr id="44" name="Text 42"/>
          <p:cNvSpPr/>
          <p:nvPr/>
        </p:nvSpPr>
        <p:spPr>
          <a:xfrm>
            <a:off x="8881021" y="6324600"/>
            <a:ext cx="8720115" cy="26670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Split stratifié 80 / 20, </a:t>
            </a:r>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random_state=42</a:t>
            </a:r>
            <a:endParaRPr lang="en-US" sz="1275" dirty="0"/>
          </a:p>
        </p:txBody>
      </p:sp>
      <p:sp>
        <p:nvSpPr>
          <p:cNvPr id="45" name="Text 43"/>
          <p:cNvSpPr/>
          <p:nvPr/>
        </p:nvSpPr>
        <p:spPr>
          <a:xfrm>
            <a:off x="8881021" y="6648450"/>
            <a:ext cx="8720115" cy="26670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Tokenisation </a:t>
            </a:r>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BertTokenizerFast</a:t>
            </a:r>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 max 128 tokens</a:t>
            </a:r>
            <a:endParaRPr lang="en-US" sz="1275" dirty="0"/>
          </a:p>
        </p:txBody>
      </p:sp>
      <p:sp>
        <p:nvSpPr>
          <p:cNvPr id="46" name="Text 44"/>
          <p:cNvSpPr/>
          <p:nvPr/>
        </p:nvSpPr>
        <p:spPr>
          <a:xfrm>
            <a:off x="8881021" y="6972300"/>
            <a:ext cx="8720115" cy="26670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B8C2D4"/>
                </a:solidFill>
                <a:latin typeface="Arial" pitchFamily="34" charset="0"/>
                <a:ea typeface="Arial" pitchFamily="34" charset="-122"/>
                <a:cs typeface="Arial" pitchFamily="34" charset="-120"/>
              </a:rPr>
              <a:t>Padding dynamique </a:t>
            </a:r>
            <a:pPr algn="l" indent="0" marL="0">
              <a:lnSpc>
                <a:spcPct val="140000"/>
              </a:lnSpc>
              <a:buNone/>
            </a:pPr>
            <a:r>
              <a:rPr lang="en-US" sz="1125" dirty="0">
                <a:solidFill>
                  <a:srgbClr val="E9C984"/>
                </a:solidFill>
                <a:highlight>
                  <a:srgbClr val="D4B06A"/>
                </a:highlight>
                <a:latin typeface="Courier New" pitchFamily="34" charset="0"/>
                <a:ea typeface="Courier New" pitchFamily="34" charset="-122"/>
                <a:cs typeface="Courier New" pitchFamily="34" charset="-120"/>
              </a:rPr>
              <a:t>DataCollatorWithPadding</a:t>
            </a:r>
            <a:endParaRPr lang="en-US" sz="1275" dirty="0"/>
          </a:p>
        </p:txBody>
      </p:sp>
      <p:sp>
        <p:nvSpPr>
          <p:cNvPr id="47" name="Text 45"/>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48" name="Text 46"/>
          <p:cNvSpPr/>
          <p:nvPr/>
        </p:nvSpPr>
        <p:spPr>
          <a:xfrm>
            <a:off x="14870757" y="9791700"/>
            <a:ext cx="2540943"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Y. BEN MEZIANE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339453"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05 — MODÈLE</a:t>
            </a:r>
            <a:endParaRPr lang="en-US" sz="1125" dirty="0"/>
          </a:p>
        </p:txBody>
      </p:sp>
      <p:sp>
        <p:nvSpPr>
          <p:cNvPr id="3" name="Text 1"/>
          <p:cNvSpPr/>
          <p:nvPr/>
        </p:nvSpPr>
        <p:spPr>
          <a:xfrm>
            <a:off x="15780693" y="342900"/>
            <a:ext cx="1631007"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FINE-TUNING BERT</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LE MOTEUR DE CLASSIFICATION</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3150" b="1" spc="-90" kern="0" dirty="0">
                <a:solidFill>
                  <a:srgbClr val="D4B06A"/>
                </a:solidFill>
                <a:latin typeface="Courier New" pitchFamily="34" charset="0"/>
                <a:ea typeface="Courier New" pitchFamily="34" charset="-122"/>
                <a:cs typeface="Courier New" pitchFamily="34" charset="-120"/>
              </a:rPr>
              <a:t>bert-base-uncased </a:t>
            </a:r>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 86,2 % d'accuracy, 0,859 de F1 pondéré.</a:t>
            </a:r>
            <a:endParaRPr lang="en-US" sz="4500" dirty="0"/>
          </a:p>
        </p:txBody>
      </p:sp>
      <p:sp>
        <p:nvSpPr>
          <p:cNvPr id="6" name="Shape 4"/>
          <p:cNvSpPr/>
          <p:nvPr/>
        </p:nvSpPr>
        <p:spPr>
          <a:xfrm>
            <a:off x="952500" y="2876550"/>
            <a:ext cx="6824811" cy="1362075"/>
          </a:xfrm>
          <a:prstGeom prst="rect">
            <a:avLst/>
          </a:prstGeom>
          <a:solidFill>
            <a:srgbClr val="D4B06A">
              <a:alpha val="14000"/>
            </a:srgbClr>
          </a:solidFill>
          <a:ln w="9525">
            <a:solidFill>
              <a:srgbClr val="D4B06A"/>
            </a:solidFill>
            <a:prstDash val="solid"/>
          </a:ln>
        </p:spPr>
      </p:sp>
      <p:sp>
        <p:nvSpPr>
          <p:cNvPr id="7" name="Text 5"/>
          <p:cNvSpPr/>
          <p:nvPr/>
        </p:nvSpPr>
        <p:spPr>
          <a:xfrm>
            <a:off x="1266825" y="3152775"/>
            <a:ext cx="1845915" cy="685800"/>
          </a:xfrm>
          <a:prstGeom prst="rect">
            <a:avLst/>
          </a:prstGeom>
          <a:noFill/>
          <a:ln/>
        </p:spPr>
        <p:txBody>
          <a:bodyPr wrap="square" lIns="25400" tIns="25400" rIns="25400" bIns="25400" rtlCol="0" anchor="t">
            <a:normAutofit/>
          </a:bodyPr>
          <a:lstStyle/>
          <a:p>
            <a:pPr algn="l" indent="0" marL="0">
              <a:lnSpc>
                <a:spcPct val="100000"/>
              </a:lnSpc>
              <a:buNone/>
            </a:pPr>
            <a:r>
              <a:rPr lang="en-US" sz="5100" spc="-127" kern="0" dirty="0">
                <a:solidFill>
                  <a:srgbClr val="D4B06A"/>
                </a:solidFill>
                <a:latin typeface="Arial" pitchFamily="34" charset="0"/>
                <a:ea typeface="Arial" pitchFamily="34" charset="-122"/>
                <a:cs typeface="Arial" pitchFamily="34" charset="-120"/>
              </a:rPr>
              <a:t>0.862</a:t>
            </a:r>
            <a:endParaRPr lang="en-US" sz="5100" dirty="0"/>
          </a:p>
        </p:txBody>
      </p:sp>
      <p:sp>
        <p:nvSpPr>
          <p:cNvPr id="8" name="Text 6"/>
          <p:cNvSpPr/>
          <p:nvPr/>
        </p:nvSpPr>
        <p:spPr>
          <a:xfrm>
            <a:off x="6673304" y="3600450"/>
            <a:ext cx="865882" cy="1905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7D8AA3"/>
                </a:solidFill>
                <a:latin typeface="Courier New" pitchFamily="34" charset="0"/>
                <a:ea typeface="Courier New" pitchFamily="34" charset="-122"/>
                <a:cs typeface="Courier New" pitchFamily="34" charset="-120"/>
              </a:rPr>
              <a:t>ACCURACY</a:t>
            </a:r>
            <a:endParaRPr lang="en-US" sz="1050" dirty="0"/>
          </a:p>
        </p:txBody>
      </p:sp>
      <p:sp>
        <p:nvSpPr>
          <p:cNvPr id="9" name="Text 7"/>
          <p:cNvSpPr/>
          <p:nvPr/>
        </p:nvSpPr>
        <p:spPr>
          <a:xfrm>
            <a:off x="6639967" y="3810000"/>
            <a:ext cx="899220" cy="190500"/>
          </a:xfrm>
          <a:prstGeom prst="rect">
            <a:avLst/>
          </a:prstGeom>
          <a:noFill/>
          <a:ln/>
        </p:spPr>
        <p:txBody>
          <a:bodyPr wrap="square" lIns="25400" tIns="25400" rIns="25400" bIns="25400" rtlCol="0" anchor="t">
            <a:normAutofit/>
          </a:bodyPr>
          <a:lstStyle/>
          <a:p>
            <a:pPr algn="l" indent="0" marL="0">
              <a:buNone/>
            </a:pPr>
            <a:r>
              <a:rPr lang="en-US" sz="1050" dirty="0">
                <a:solidFill>
                  <a:srgbClr val="B8C2D4"/>
                </a:solidFill>
                <a:latin typeface="Arial" pitchFamily="34" charset="0"/>
                <a:ea typeface="Arial" pitchFamily="34" charset="-122"/>
                <a:cs typeface="Arial" pitchFamily="34" charset="-120"/>
              </a:rPr>
              <a:t>held-out 20 %</a:t>
            </a:r>
            <a:endParaRPr lang="en-US" sz="1050" dirty="0"/>
          </a:p>
        </p:txBody>
      </p:sp>
      <p:sp>
        <p:nvSpPr>
          <p:cNvPr id="10" name="Shape 8"/>
          <p:cNvSpPr/>
          <p:nvPr/>
        </p:nvSpPr>
        <p:spPr>
          <a:xfrm>
            <a:off x="952500" y="4371975"/>
            <a:ext cx="6824811" cy="1362075"/>
          </a:xfrm>
          <a:prstGeom prst="rect">
            <a:avLst/>
          </a:prstGeom>
          <a:solidFill>
            <a:srgbClr val="0F1B30"/>
          </a:solidFill>
          <a:ln w="9525">
            <a:solidFill>
              <a:srgbClr val="213251"/>
            </a:solidFill>
            <a:prstDash val="solid"/>
          </a:ln>
        </p:spPr>
      </p:sp>
      <p:sp>
        <p:nvSpPr>
          <p:cNvPr id="11" name="Text 9"/>
          <p:cNvSpPr/>
          <p:nvPr/>
        </p:nvSpPr>
        <p:spPr>
          <a:xfrm>
            <a:off x="1266825" y="4648200"/>
            <a:ext cx="1845915" cy="685800"/>
          </a:xfrm>
          <a:prstGeom prst="rect">
            <a:avLst/>
          </a:prstGeom>
          <a:noFill/>
          <a:ln/>
        </p:spPr>
        <p:txBody>
          <a:bodyPr wrap="square" lIns="25400" tIns="25400" rIns="25400" bIns="25400" rtlCol="0" anchor="t">
            <a:normAutofit/>
          </a:bodyPr>
          <a:lstStyle/>
          <a:p>
            <a:pPr algn="l" indent="0" marL="0">
              <a:lnSpc>
                <a:spcPct val="100000"/>
              </a:lnSpc>
              <a:buNone/>
            </a:pPr>
            <a:r>
              <a:rPr lang="en-US" sz="5100" spc="-127" kern="0" dirty="0">
                <a:solidFill>
                  <a:srgbClr val="D4B06A"/>
                </a:solidFill>
                <a:latin typeface="Arial" pitchFamily="34" charset="0"/>
                <a:ea typeface="Arial" pitchFamily="34" charset="-122"/>
                <a:cs typeface="Arial" pitchFamily="34" charset="-120"/>
              </a:rPr>
              <a:t>0.859</a:t>
            </a:r>
            <a:endParaRPr lang="en-US" sz="5100" dirty="0"/>
          </a:p>
        </p:txBody>
      </p:sp>
      <p:sp>
        <p:nvSpPr>
          <p:cNvPr id="12" name="Text 10"/>
          <p:cNvSpPr/>
          <p:nvPr/>
        </p:nvSpPr>
        <p:spPr>
          <a:xfrm>
            <a:off x="6475958" y="5095875"/>
            <a:ext cx="1063228" cy="1905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7D8AA3"/>
                </a:solidFill>
                <a:latin typeface="Courier New" pitchFamily="34" charset="0"/>
                <a:ea typeface="Courier New" pitchFamily="34" charset="-122"/>
                <a:cs typeface="Courier New" pitchFamily="34" charset="-120"/>
              </a:rPr>
              <a:t>F1 PONDÉRÉ</a:t>
            </a:r>
            <a:endParaRPr lang="en-US" sz="1050" dirty="0"/>
          </a:p>
        </p:txBody>
      </p:sp>
      <p:sp>
        <p:nvSpPr>
          <p:cNvPr id="13" name="Text 11"/>
          <p:cNvSpPr/>
          <p:nvPr/>
        </p:nvSpPr>
        <p:spPr>
          <a:xfrm>
            <a:off x="6195417" y="5305425"/>
            <a:ext cx="134376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B8C2D4"/>
                </a:solidFill>
                <a:latin typeface="Arial" pitchFamily="34" charset="0"/>
                <a:ea typeface="Arial" pitchFamily="34" charset="-122"/>
                <a:cs typeface="Arial" pitchFamily="34" charset="-120"/>
              </a:rPr>
              <a:t>métrique de sélection</a:t>
            </a:r>
            <a:endParaRPr lang="en-US" sz="1050" dirty="0"/>
          </a:p>
        </p:txBody>
      </p:sp>
      <p:sp>
        <p:nvSpPr>
          <p:cNvPr id="14" name="Shape 12"/>
          <p:cNvSpPr/>
          <p:nvPr/>
        </p:nvSpPr>
        <p:spPr>
          <a:xfrm>
            <a:off x="952500" y="5867400"/>
            <a:ext cx="6824811" cy="1362075"/>
          </a:xfrm>
          <a:prstGeom prst="rect">
            <a:avLst/>
          </a:prstGeom>
          <a:solidFill>
            <a:srgbClr val="0F1B30"/>
          </a:solidFill>
          <a:ln w="9525">
            <a:solidFill>
              <a:srgbClr val="213251"/>
            </a:solidFill>
            <a:prstDash val="solid"/>
          </a:ln>
        </p:spPr>
      </p:sp>
      <p:sp>
        <p:nvSpPr>
          <p:cNvPr id="15" name="Text 13"/>
          <p:cNvSpPr/>
          <p:nvPr/>
        </p:nvSpPr>
        <p:spPr>
          <a:xfrm>
            <a:off x="1266825" y="6143625"/>
            <a:ext cx="479227" cy="685800"/>
          </a:xfrm>
          <a:prstGeom prst="rect">
            <a:avLst/>
          </a:prstGeom>
          <a:noFill/>
          <a:ln/>
        </p:spPr>
        <p:txBody>
          <a:bodyPr wrap="square" lIns="25400" tIns="25400" rIns="25400" bIns="25400" rtlCol="0" anchor="t">
            <a:normAutofit/>
          </a:bodyPr>
          <a:lstStyle/>
          <a:p>
            <a:pPr algn="l" indent="0" marL="0">
              <a:lnSpc>
                <a:spcPct val="100000"/>
              </a:lnSpc>
              <a:buNone/>
            </a:pPr>
            <a:r>
              <a:rPr lang="en-US" sz="5100" spc="-127" kern="0" dirty="0">
                <a:solidFill>
                  <a:srgbClr val="D4B06A"/>
                </a:solidFill>
                <a:latin typeface="Arial" pitchFamily="34" charset="0"/>
                <a:ea typeface="Arial" pitchFamily="34" charset="-122"/>
                <a:cs typeface="Arial" pitchFamily="34" charset="-120"/>
              </a:rPr>
              <a:t>2</a:t>
            </a:r>
            <a:endParaRPr lang="en-US" sz="5100" dirty="0"/>
          </a:p>
        </p:txBody>
      </p:sp>
      <p:sp>
        <p:nvSpPr>
          <p:cNvPr id="16" name="Text 14"/>
          <p:cNvSpPr/>
          <p:nvPr/>
        </p:nvSpPr>
        <p:spPr>
          <a:xfrm>
            <a:off x="6475958" y="6591300"/>
            <a:ext cx="1063228" cy="190500"/>
          </a:xfrm>
          <a:prstGeom prst="rect">
            <a:avLst/>
          </a:prstGeom>
          <a:noFill/>
          <a:ln/>
        </p:spPr>
        <p:txBody>
          <a:bodyPr wrap="square" lIns="25400" tIns="25400" rIns="25400" bIns="25400" rtlCol="0" anchor="t">
            <a:normAutofit/>
          </a:bodyPr>
          <a:lstStyle/>
          <a:p>
            <a:pPr algn="l" indent="0" marL="0">
              <a:buNone/>
            </a:pPr>
            <a:r>
              <a:rPr lang="en-US" sz="1050" spc="147" kern="0" dirty="0">
                <a:solidFill>
                  <a:srgbClr val="7D8AA3"/>
                </a:solidFill>
                <a:latin typeface="Courier New" pitchFamily="34" charset="0"/>
                <a:ea typeface="Courier New" pitchFamily="34" charset="-122"/>
                <a:cs typeface="Courier New" pitchFamily="34" charset="-120"/>
              </a:rPr>
              <a:t>BEST EPOCH</a:t>
            </a:r>
            <a:endParaRPr lang="en-US" sz="1050" dirty="0"/>
          </a:p>
        </p:txBody>
      </p:sp>
      <p:sp>
        <p:nvSpPr>
          <p:cNvPr id="17" name="Text 15"/>
          <p:cNvSpPr/>
          <p:nvPr/>
        </p:nvSpPr>
        <p:spPr>
          <a:xfrm>
            <a:off x="5965180" y="6800850"/>
            <a:ext cx="1574006" cy="190500"/>
          </a:xfrm>
          <a:prstGeom prst="rect">
            <a:avLst/>
          </a:prstGeom>
          <a:noFill/>
          <a:ln/>
        </p:spPr>
        <p:txBody>
          <a:bodyPr wrap="square" lIns="25400" tIns="25400" rIns="25400" bIns="25400" rtlCol="0" anchor="t">
            <a:normAutofit/>
          </a:bodyPr>
          <a:lstStyle/>
          <a:p>
            <a:pPr algn="l" indent="0" marL="0">
              <a:buNone/>
            </a:pPr>
            <a:r>
              <a:rPr lang="en-US" sz="1050" dirty="0">
                <a:solidFill>
                  <a:srgbClr val="B8C2D4"/>
                </a:solidFill>
                <a:latin typeface="Arial" pitchFamily="34" charset="0"/>
                <a:ea typeface="Arial" pitchFamily="34" charset="-122"/>
                <a:cs typeface="Arial" pitchFamily="34" charset="-120"/>
              </a:rPr>
              <a:t>load_best_model_at_end</a:t>
            </a:r>
            <a:endParaRPr lang="en-US" sz="1050" dirty="0"/>
          </a:p>
        </p:txBody>
      </p:sp>
      <p:sp>
        <p:nvSpPr>
          <p:cNvPr id="18" name="Shape 16"/>
          <p:cNvSpPr/>
          <p:nvPr/>
        </p:nvSpPr>
        <p:spPr>
          <a:xfrm>
            <a:off x="952500" y="7400925"/>
            <a:ext cx="6824811" cy="1543050"/>
          </a:xfrm>
          <a:prstGeom prst="rect">
            <a:avLst/>
          </a:prstGeom>
          <a:solidFill>
            <a:srgbClr val="0F1B30"/>
          </a:solidFill>
          <a:ln/>
        </p:spPr>
      </p:sp>
      <p:sp>
        <p:nvSpPr>
          <p:cNvPr id="19" name="Shape 17"/>
          <p:cNvSpPr/>
          <p:nvPr/>
        </p:nvSpPr>
        <p:spPr>
          <a:xfrm>
            <a:off x="952500" y="7400925"/>
            <a:ext cx="28575" cy="1543050"/>
          </a:xfrm>
          <a:prstGeom prst="rect">
            <a:avLst/>
          </a:prstGeom>
          <a:solidFill>
            <a:srgbClr val="D4B06A"/>
          </a:solidFill>
          <a:ln/>
        </p:spPr>
      </p:sp>
      <p:sp>
        <p:nvSpPr>
          <p:cNvPr id="20" name="Text 18"/>
          <p:cNvSpPr/>
          <p:nvPr/>
        </p:nvSpPr>
        <p:spPr>
          <a:xfrm>
            <a:off x="1247775" y="7610475"/>
            <a:ext cx="6450721" cy="923925"/>
          </a:xfrm>
          <a:prstGeom prst="rect">
            <a:avLst/>
          </a:prstGeom>
          <a:noFill/>
          <a:ln/>
        </p:spPr>
        <p:txBody>
          <a:bodyPr wrap="square" lIns="25400" tIns="25400" rIns="25400" bIns="25400" rtlCol="0" anchor="t">
            <a:normAutofit/>
          </a:bodyPr>
          <a:lstStyle/>
          <a:p>
            <a:pPr algn="l" indent="0" marL="0">
              <a:lnSpc>
                <a:spcPct val="150000"/>
              </a:lnSpc>
              <a:buNone/>
            </a:pPr>
            <a:r>
              <a:rPr lang="en-US" sz="1575" i="1" dirty="0">
                <a:solidFill>
                  <a:srgbClr val="B8C2D4"/>
                </a:solidFill>
                <a:latin typeface="Georgia" pitchFamily="34" charset="0"/>
                <a:ea typeface="Georgia" pitchFamily="34" charset="-122"/>
                <a:cs typeface="Georgia" pitchFamily="34" charset="-120"/>
              </a:rPr>
              <a:t>« Un classifieur toujours-positif scorerait ~75 % en accuracy tout en étant inutile. Le F1 pondéré récompense la performance sur la majorité et le rappel sur les minorités. »</a:t>
            </a:r>
            <a:endParaRPr lang="en-US" sz="1575" dirty="0"/>
          </a:p>
        </p:txBody>
      </p:sp>
      <p:sp>
        <p:nvSpPr>
          <p:cNvPr id="21" name="Text 19"/>
          <p:cNvSpPr/>
          <p:nvPr/>
        </p:nvSpPr>
        <p:spPr>
          <a:xfrm>
            <a:off x="1247775" y="8591550"/>
            <a:ext cx="6450721" cy="180975"/>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7D8AA3"/>
                </a:solidFill>
                <a:latin typeface="Courier New" pitchFamily="34" charset="0"/>
                <a:ea typeface="Courier New" pitchFamily="34" charset="-122"/>
                <a:cs typeface="Courier New" pitchFamily="34" charset="-120"/>
              </a:rPr>
              <a:t>— docs/report.md §4.4</a:t>
            </a:r>
            <a:endParaRPr lang="en-US" sz="975" dirty="0"/>
          </a:p>
        </p:txBody>
      </p:sp>
      <p:sp>
        <p:nvSpPr>
          <p:cNvPr id="22" name="Text 20"/>
          <p:cNvSpPr/>
          <p:nvPr/>
        </p:nvSpPr>
        <p:spPr>
          <a:xfrm>
            <a:off x="8463111" y="2876550"/>
            <a:ext cx="9138560"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D4B06A"/>
                </a:solidFill>
                <a:latin typeface="Courier New" pitchFamily="34" charset="0"/>
                <a:ea typeface="Courier New" pitchFamily="34" charset="-122"/>
                <a:cs typeface="Courier New" pitchFamily="34" charset="-120"/>
              </a:rPr>
              <a:t>HYPERPARAMÈTRES</a:t>
            </a:r>
            <a:endParaRPr lang="en-US" sz="1650" dirty="0"/>
          </a:p>
        </p:txBody>
      </p:sp>
      <p:sp>
        <p:nvSpPr>
          <p:cNvPr id="23" name="Shape 21"/>
          <p:cNvSpPr/>
          <p:nvPr/>
        </p:nvSpPr>
        <p:spPr>
          <a:xfrm>
            <a:off x="8463111" y="3652838"/>
            <a:ext cx="5323433" cy="9525"/>
          </a:xfrm>
          <a:prstGeom prst="rect">
            <a:avLst/>
          </a:prstGeom>
          <a:solidFill>
            <a:srgbClr val="213251"/>
          </a:solidFill>
          <a:ln/>
        </p:spPr>
      </p:sp>
      <p:sp>
        <p:nvSpPr>
          <p:cNvPr id="24" name="Text 22"/>
          <p:cNvSpPr/>
          <p:nvPr/>
        </p:nvSpPr>
        <p:spPr>
          <a:xfrm>
            <a:off x="8463111" y="3390900"/>
            <a:ext cx="5483136" cy="214313"/>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num_train_epochs</a:t>
            </a:r>
            <a:endParaRPr lang="en-US" sz="1275" dirty="0"/>
          </a:p>
        </p:txBody>
      </p:sp>
      <p:sp>
        <p:nvSpPr>
          <p:cNvPr id="25" name="Shape 23"/>
          <p:cNvSpPr/>
          <p:nvPr/>
        </p:nvSpPr>
        <p:spPr>
          <a:xfrm>
            <a:off x="13786545" y="3652838"/>
            <a:ext cx="3548955" cy="9525"/>
          </a:xfrm>
          <a:prstGeom prst="rect">
            <a:avLst/>
          </a:prstGeom>
          <a:solidFill>
            <a:srgbClr val="213251"/>
          </a:solidFill>
          <a:ln/>
        </p:spPr>
      </p:sp>
      <p:sp>
        <p:nvSpPr>
          <p:cNvPr id="26" name="Text 24"/>
          <p:cNvSpPr/>
          <p:nvPr/>
        </p:nvSpPr>
        <p:spPr>
          <a:xfrm>
            <a:off x="13680076" y="3390900"/>
            <a:ext cx="3655424" cy="214313"/>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3</a:t>
            </a:r>
            <a:endParaRPr lang="en-US" sz="1275" dirty="0"/>
          </a:p>
        </p:txBody>
      </p:sp>
      <p:sp>
        <p:nvSpPr>
          <p:cNvPr id="27" name="Shape 25"/>
          <p:cNvSpPr/>
          <p:nvPr/>
        </p:nvSpPr>
        <p:spPr>
          <a:xfrm>
            <a:off x="8463111" y="4014788"/>
            <a:ext cx="5323433" cy="9525"/>
          </a:xfrm>
          <a:prstGeom prst="rect">
            <a:avLst/>
          </a:prstGeom>
          <a:solidFill>
            <a:srgbClr val="213251"/>
          </a:solidFill>
          <a:ln/>
        </p:spPr>
      </p:sp>
      <p:sp>
        <p:nvSpPr>
          <p:cNvPr id="28" name="Text 26"/>
          <p:cNvSpPr/>
          <p:nvPr/>
        </p:nvSpPr>
        <p:spPr>
          <a:xfrm>
            <a:off x="8463111" y="3748087"/>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per_device_train_batch_size</a:t>
            </a:r>
            <a:endParaRPr lang="en-US" sz="1275" dirty="0"/>
          </a:p>
        </p:txBody>
      </p:sp>
      <p:sp>
        <p:nvSpPr>
          <p:cNvPr id="29" name="Shape 27"/>
          <p:cNvSpPr/>
          <p:nvPr/>
        </p:nvSpPr>
        <p:spPr>
          <a:xfrm>
            <a:off x="13786545" y="4014788"/>
            <a:ext cx="3548955" cy="9525"/>
          </a:xfrm>
          <a:prstGeom prst="rect">
            <a:avLst/>
          </a:prstGeom>
          <a:solidFill>
            <a:srgbClr val="213251"/>
          </a:solidFill>
          <a:ln/>
        </p:spPr>
      </p:sp>
      <p:sp>
        <p:nvSpPr>
          <p:cNvPr id="30" name="Text 28"/>
          <p:cNvSpPr/>
          <p:nvPr/>
        </p:nvSpPr>
        <p:spPr>
          <a:xfrm>
            <a:off x="13680076" y="3748087"/>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16</a:t>
            </a:r>
            <a:endParaRPr lang="en-US" sz="1275" dirty="0"/>
          </a:p>
        </p:txBody>
      </p:sp>
      <p:sp>
        <p:nvSpPr>
          <p:cNvPr id="31" name="Shape 29"/>
          <p:cNvSpPr/>
          <p:nvPr/>
        </p:nvSpPr>
        <p:spPr>
          <a:xfrm>
            <a:off x="8463111" y="4376738"/>
            <a:ext cx="5323433" cy="9525"/>
          </a:xfrm>
          <a:prstGeom prst="rect">
            <a:avLst/>
          </a:prstGeom>
          <a:solidFill>
            <a:srgbClr val="213251"/>
          </a:solidFill>
          <a:ln/>
        </p:spPr>
      </p:sp>
      <p:sp>
        <p:nvSpPr>
          <p:cNvPr id="32" name="Text 30"/>
          <p:cNvSpPr/>
          <p:nvPr/>
        </p:nvSpPr>
        <p:spPr>
          <a:xfrm>
            <a:off x="8463111" y="411003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per_device_eval_batch_size</a:t>
            </a:r>
            <a:endParaRPr lang="en-US" sz="1275" dirty="0"/>
          </a:p>
        </p:txBody>
      </p:sp>
      <p:sp>
        <p:nvSpPr>
          <p:cNvPr id="33" name="Shape 31"/>
          <p:cNvSpPr/>
          <p:nvPr/>
        </p:nvSpPr>
        <p:spPr>
          <a:xfrm>
            <a:off x="13786545" y="4376738"/>
            <a:ext cx="3548955" cy="9525"/>
          </a:xfrm>
          <a:prstGeom prst="rect">
            <a:avLst/>
          </a:prstGeom>
          <a:solidFill>
            <a:srgbClr val="213251"/>
          </a:solidFill>
          <a:ln/>
        </p:spPr>
      </p:sp>
      <p:sp>
        <p:nvSpPr>
          <p:cNvPr id="34" name="Text 32"/>
          <p:cNvSpPr/>
          <p:nvPr/>
        </p:nvSpPr>
        <p:spPr>
          <a:xfrm>
            <a:off x="13680076" y="411003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32</a:t>
            </a:r>
            <a:endParaRPr lang="en-US" sz="1275" dirty="0"/>
          </a:p>
        </p:txBody>
      </p:sp>
      <p:sp>
        <p:nvSpPr>
          <p:cNvPr id="35" name="Shape 33"/>
          <p:cNvSpPr/>
          <p:nvPr/>
        </p:nvSpPr>
        <p:spPr>
          <a:xfrm>
            <a:off x="8463111" y="4738688"/>
            <a:ext cx="5323433" cy="9525"/>
          </a:xfrm>
          <a:prstGeom prst="rect">
            <a:avLst/>
          </a:prstGeom>
          <a:solidFill>
            <a:srgbClr val="213251"/>
          </a:solidFill>
          <a:ln/>
        </p:spPr>
      </p:sp>
      <p:sp>
        <p:nvSpPr>
          <p:cNvPr id="36" name="Text 34"/>
          <p:cNvSpPr/>
          <p:nvPr/>
        </p:nvSpPr>
        <p:spPr>
          <a:xfrm>
            <a:off x="8463111" y="447198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learning_rate</a:t>
            </a:r>
            <a:endParaRPr lang="en-US" sz="1275" dirty="0"/>
          </a:p>
        </p:txBody>
      </p:sp>
      <p:sp>
        <p:nvSpPr>
          <p:cNvPr id="37" name="Shape 35"/>
          <p:cNvSpPr/>
          <p:nvPr/>
        </p:nvSpPr>
        <p:spPr>
          <a:xfrm>
            <a:off x="13786545" y="4738688"/>
            <a:ext cx="3548955" cy="9525"/>
          </a:xfrm>
          <a:prstGeom prst="rect">
            <a:avLst/>
          </a:prstGeom>
          <a:solidFill>
            <a:srgbClr val="213251"/>
          </a:solidFill>
          <a:ln/>
        </p:spPr>
      </p:sp>
      <p:sp>
        <p:nvSpPr>
          <p:cNvPr id="38" name="Text 36"/>
          <p:cNvSpPr/>
          <p:nvPr/>
        </p:nvSpPr>
        <p:spPr>
          <a:xfrm>
            <a:off x="13680076" y="447198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2e-5</a:t>
            </a:r>
            <a:endParaRPr lang="en-US" sz="1275" dirty="0"/>
          </a:p>
        </p:txBody>
      </p:sp>
      <p:sp>
        <p:nvSpPr>
          <p:cNvPr id="39" name="Shape 37"/>
          <p:cNvSpPr/>
          <p:nvPr/>
        </p:nvSpPr>
        <p:spPr>
          <a:xfrm>
            <a:off x="8463111" y="5100638"/>
            <a:ext cx="5323433" cy="9525"/>
          </a:xfrm>
          <a:prstGeom prst="rect">
            <a:avLst/>
          </a:prstGeom>
          <a:solidFill>
            <a:srgbClr val="213251"/>
          </a:solidFill>
          <a:ln/>
        </p:spPr>
      </p:sp>
      <p:sp>
        <p:nvSpPr>
          <p:cNvPr id="40" name="Text 38"/>
          <p:cNvSpPr/>
          <p:nvPr/>
        </p:nvSpPr>
        <p:spPr>
          <a:xfrm>
            <a:off x="8463111" y="483393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weight_decay</a:t>
            </a:r>
            <a:endParaRPr lang="en-US" sz="1275" dirty="0"/>
          </a:p>
        </p:txBody>
      </p:sp>
      <p:sp>
        <p:nvSpPr>
          <p:cNvPr id="41" name="Shape 39"/>
          <p:cNvSpPr/>
          <p:nvPr/>
        </p:nvSpPr>
        <p:spPr>
          <a:xfrm>
            <a:off x="13786545" y="5100638"/>
            <a:ext cx="3548955" cy="9525"/>
          </a:xfrm>
          <a:prstGeom prst="rect">
            <a:avLst/>
          </a:prstGeom>
          <a:solidFill>
            <a:srgbClr val="213251"/>
          </a:solidFill>
          <a:ln/>
        </p:spPr>
      </p:sp>
      <p:sp>
        <p:nvSpPr>
          <p:cNvPr id="42" name="Text 40"/>
          <p:cNvSpPr/>
          <p:nvPr/>
        </p:nvSpPr>
        <p:spPr>
          <a:xfrm>
            <a:off x="13680076" y="483393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0.01</a:t>
            </a:r>
            <a:endParaRPr lang="en-US" sz="1275" dirty="0"/>
          </a:p>
        </p:txBody>
      </p:sp>
      <p:sp>
        <p:nvSpPr>
          <p:cNvPr id="43" name="Shape 41"/>
          <p:cNvSpPr/>
          <p:nvPr/>
        </p:nvSpPr>
        <p:spPr>
          <a:xfrm>
            <a:off x="8463111" y="5462588"/>
            <a:ext cx="5323433" cy="9525"/>
          </a:xfrm>
          <a:prstGeom prst="rect">
            <a:avLst/>
          </a:prstGeom>
          <a:solidFill>
            <a:srgbClr val="213251"/>
          </a:solidFill>
          <a:ln/>
        </p:spPr>
      </p:sp>
      <p:sp>
        <p:nvSpPr>
          <p:cNvPr id="44" name="Text 42"/>
          <p:cNvSpPr/>
          <p:nvPr/>
        </p:nvSpPr>
        <p:spPr>
          <a:xfrm>
            <a:off x="8463111" y="519588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warmup_ratio</a:t>
            </a:r>
            <a:endParaRPr lang="en-US" sz="1275" dirty="0"/>
          </a:p>
        </p:txBody>
      </p:sp>
      <p:sp>
        <p:nvSpPr>
          <p:cNvPr id="45" name="Shape 43"/>
          <p:cNvSpPr/>
          <p:nvPr/>
        </p:nvSpPr>
        <p:spPr>
          <a:xfrm>
            <a:off x="13786545" y="5462588"/>
            <a:ext cx="3548955" cy="9525"/>
          </a:xfrm>
          <a:prstGeom prst="rect">
            <a:avLst/>
          </a:prstGeom>
          <a:solidFill>
            <a:srgbClr val="213251"/>
          </a:solidFill>
          <a:ln/>
        </p:spPr>
      </p:sp>
      <p:sp>
        <p:nvSpPr>
          <p:cNvPr id="46" name="Text 44"/>
          <p:cNvSpPr/>
          <p:nvPr/>
        </p:nvSpPr>
        <p:spPr>
          <a:xfrm>
            <a:off x="13680076" y="519588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0.1</a:t>
            </a:r>
            <a:endParaRPr lang="en-US" sz="1275" dirty="0"/>
          </a:p>
        </p:txBody>
      </p:sp>
      <p:sp>
        <p:nvSpPr>
          <p:cNvPr id="47" name="Shape 45"/>
          <p:cNvSpPr/>
          <p:nvPr/>
        </p:nvSpPr>
        <p:spPr>
          <a:xfrm>
            <a:off x="8463111" y="5824538"/>
            <a:ext cx="5323433" cy="9525"/>
          </a:xfrm>
          <a:prstGeom prst="rect">
            <a:avLst/>
          </a:prstGeom>
          <a:solidFill>
            <a:srgbClr val="213251"/>
          </a:solidFill>
          <a:ln/>
        </p:spPr>
      </p:sp>
      <p:sp>
        <p:nvSpPr>
          <p:cNvPr id="48" name="Text 46"/>
          <p:cNvSpPr/>
          <p:nvPr/>
        </p:nvSpPr>
        <p:spPr>
          <a:xfrm>
            <a:off x="8463111" y="555783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evaluation_strategy</a:t>
            </a:r>
            <a:endParaRPr lang="en-US" sz="1275" dirty="0"/>
          </a:p>
        </p:txBody>
      </p:sp>
      <p:sp>
        <p:nvSpPr>
          <p:cNvPr id="49" name="Shape 47"/>
          <p:cNvSpPr/>
          <p:nvPr/>
        </p:nvSpPr>
        <p:spPr>
          <a:xfrm>
            <a:off x="13786545" y="5824538"/>
            <a:ext cx="3548955" cy="9525"/>
          </a:xfrm>
          <a:prstGeom prst="rect">
            <a:avLst/>
          </a:prstGeom>
          <a:solidFill>
            <a:srgbClr val="213251"/>
          </a:solidFill>
          <a:ln/>
        </p:spPr>
      </p:sp>
      <p:sp>
        <p:nvSpPr>
          <p:cNvPr id="50" name="Text 48"/>
          <p:cNvSpPr/>
          <p:nvPr/>
        </p:nvSpPr>
        <p:spPr>
          <a:xfrm>
            <a:off x="13680076" y="555783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"epoch"</a:t>
            </a:r>
            <a:endParaRPr lang="en-US" sz="1275" dirty="0"/>
          </a:p>
        </p:txBody>
      </p:sp>
      <p:sp>
        <p:nvSpPr>
          <p:cNvPr id="51" name="Shape 49"/>
          <p:cNvSpPr/>
          <p:nvPr/>
        </p:nvSpPr>
        <p:spPr>
          <a:xfrm>
            <a:off x="8463111" y="6186488"/>
            <a:ext cx="5323433" cy="9525"/>
          </a:xfrm>
          <a:prstGeom prst="rect">
            <a:avLst/>
          </a:prstGeom>
          <a:solidFill>
            <a:srgbClr val="213251"/>
          </a:solidFill>
          <a:ln/>
        </p:spPr>
      </p:sp>
      <p:sp>
        <p:nvSpPr>
          <p:cNvPr id="52" name="Text 50"/>
          <p:cNvSpPr/>
          <p:nvPr/>
        </p:nvSpPr>
        <p:spPr>
          <a:xfrm>
            <a:off x="8463111" y="591978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load_best_model_at_end</a:t>
            </a:r>
            <a:endParaRPr lang="en-US" sz="1275" dirty="0"/>
          </a:p>
        </p:txBody>
      </p:sp>
      <p:sp>
        <p:nvSpPr>
          <p:cNvPr id="53" name="Shape 51"/>
          <p:cNvSpPr/>
          <p:nvPr/>
        </p:nvSpPr>
        <p:spPr>
          <a:xfrm>
            <a:off x="13786545" y="6186488"/>
            <a:ext cx="3548955" cy="9525"/>
          </a:xfrm>
          <a:prstGeom prst="rect">
            <a:avLst/>
          </a:prstGeom>
          <a:solidFill>
            <a:srgbClr val="213251"/>
          </a:solidFill>
          <a:ln/>
        </p:spPr>
      </p:sp>
      <p:sp>
        <p:nvSpPr>
          <p:cNvPr id="54" name="Text 52"/>
          <p:cNvSpPr/>
          <p:nvPr/>
        </p:nvSpPr>
        <p:spPr>
          <a:xfrm>
            <a:off x="13680076" y="591978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True</a:t>
            </a:r>
            <a:endParaRPr lang="en-US" sz="1275" dirty="0"/>
          </a:p>
        </p:txBody>
      </p:sp>
      <p:sp>
        <p:nvSpPr>
          <p:cNvPr id="55" name="Shape 53"/>
          <p:cNvSpPr/>
          <p:nvPr/>
        </p:nvSpPr>
        <p:spPr>
          <a:xfrm>
            <a:off x="8463111" y="6548438"/>
            <a:ext cx="5323433" cy="9525"/>
          </a:xfrm>
          <a:prstGeom prst="rect">
            <a:avLst/>
          </a:prstGeom>
          <a:solidFill>
            <a:srgbClr val="213251"/>
          </a:solidFill>
          <a:ln/>
        </p:spPr>
      </p:sp>
      <p:sp>
        <p:nvSpPr>
          <p:cNvPr id="56" name="Text 54"/>
          <p:cNvSpPr/>
          <p:nvPr/>
        </p:nvSpPr>
        <p:spPr>
          <a:xfrm>
            <a:off x="8463111" y="628173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metric_for_best_model</a:t>
            </a:r>
            <a:endParaRPr lang="en-US" sz="1275" dirty="0"/>
          </a:p>
        </p:txBody>
      </p:sp>
      <p:sp>
        <p:nvSpPr>
          <p:cNvPr id="57" name="Shape 55"/>
          <p:cNvSpPr/>
          <p:nvPr/>
        </p:nvSpPr>
        <p:spPr>
          <a:xfrm>
            <a:off x="13786545" y="6548438"/>
            <a:ext cx="3548955" cy="9525"/>
          </a:xfrm>
          <a:prstGeom prst="rect">
            <a:avLst/>
          </a:prstGeom>
          <a:solidFill>
            <a:srgbClr val="213251"/>
          </a:solidFill>
          <a:ln/>
        </p:spPr>
      </p:sp>
      <p:sp>
        <p:nvSpPr>
          <p:cNvPr id="58" name="Text 56"/>
          <p:cNvSpPr/>
          <p:nvPr/>
        </p:nvSpPr>
        <p:spPr>
          <a:xfrm>
            <a:off x="13680076" y="628173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"f1"</a:t>
            </a:r>
            <a:endParaRPr lang="en-US" sz="1275" dirty="0"/>
          </a:p>
        </p:txBody>
      </p:sp>
      <p:sp>
        <p:nvSpPr>
          <p:cNvPr id="59" name="Shape 57"/>
          <p:cNvSpPr/>
          <p:nvPr/>
        </p:nvSpPr>
        <p:spPr>
          <a:xfrm>
            <a:off x="8463111" y="6910388"/>
            <a:ext cx="5323433" cy="9525"/>
          </a:xfrm>
          <a:prstGeom prst="rect">
            <a:avLst/>
          </a:prstGeom>
          <a:solidFill>
            <a:srgbClr val="213251"/>
          </a:solidFill>
          <a:ln/>
        </p:spPr>
      </p:sp>
      <p:sp>
        <p:nvSpPr>
          <p:cNvPr id="60" name="Text 58"/>
          <p:cNvSpPr/>
          <p:nvPr/>
        </p:nvSpPr>
        <p:spPr>
          <a:xfrm>
            <a:off x="8463111" y="664368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optimizer</a:t>
            </a:r>
            <a:endParaRPr lang="en-US" sz="1275" dirty="0"/>
          </a:p>
        </p:txBody>
      </p:sp>
      <p:sp>
        <p:nvSpPr>
          <p:cNvPr id="61" name="Shape 59"/>
          <p:cNvSpPr/>
          <p:nvPr/>
        </p:nvSpPr>
        <p:spPr>
          <a:xfrm>
            <a:off x="13786545" y="6910388"/>
            <a:ext cx="3548955" cy="9525"/>
          </a:xfrm>
          <a:prstGeom prst="rect">
            <a:avLst/>
          </a:prstGeom>
          <a:solidFill>
            <a:srgbClr val="213251"/>
          </a:solidFill>
          <a:ln/>
        </p:spPr>
      </p:sp>
      <p:sp>
        <p:nvSpPr>
          <p:cNvPr id="62" name="Text 60"/>
          <p:cNvSpPr/>
          <p:nvPr/>
        </p:nvSpPr>
        <p:spPr>
          <a:xfrm>
            <a:off x="13680076" y="664368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AdamW</a:t>
            </a:r>
            <a:endParaRPr lang="en-US" sz="1275" dirty="0"/>
          </a:p>
        </p:txBody>
      </p:sp>
      <p:sp>
        <p:nvSpPr>
          <p:cNvPr id="63" name="Shape 61"/>
          <p:cNvSpPr/>
          <p:nvPr/>
        </p:nvSpPr>
        <p:spPr>
          <a:xfrm>
            <a:off x="8463111" y="7272338"/>
            <a:ext cx="5323433" cy="9525"/>
          </a:xfrm>
          <a:prstGeom prst="rect">
            <a:avLst/>
          </a:prstGeom>
          <a:solidFill>
            <a:srgbClr val="213251"/>
          </a:solidFill>
          <a:ln/>
        </p:spPr>
      </p:sp>
      <p:sp>
        <p:nvSpPr>
          <p:cNvPr id="64" name="Text 62"/>
          <p:cNvSpPr/>
          <p:nvPr/>
        </p:nvSpPr>
        <p:spPr>
          <a:xfrm>
            <a:off x="8463111" y="700563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lr_scheduler</a:t>
            </a:r>
            <a:endParaRPr lang="en-US" sz="1275" dirty="0"/>
          </a:p>
        </p:txBody>
      </p:sp>
      <p:sp>
        <p:nvSpPr>
          <p:cNvPr id="65" name="Shape 63"/>
          <p:cNvSpPr/>
          <p:nvPr/>
        </p:nvSpPr>
        <p:spPr>
          <a:xfrm>
            <a:off x="13786545" y="7272338"/>
            <a:ext cx="3548955" cy="9525"/>
          </a:xfrm>
          <a:prstGeom prst="rect">
            <a:avLst/>
          </a:prstGeom>
          <a:solidFill>
            <a:srgbClr val="213251"/>
          </a:solidFill>
          <a:ln/>
        </p:spPr>
      </p:sp>
      <p:sp>
        <p:nvSpPr>
          <p:cNvPr id="66" name="Text 64"/>
          <p:cNvSpPr/>
          <p:nvPr/>
        </p:nvSpPr>
        <p:spPr>
          <a:xfrm>
            <a:off x="13680076" y="700563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linear + warmup</a:t>
            </a:r>
            <a:endParaRPr lang="en-US" sz="1275" dirty="0"/>
          </a:p>
        </p:txBody>
      </p:sp>
      <p:sp>
        <p:nvSpPr>
          <p:cNvPr id="67" name="Shape 65"/>
          <p:cNvSpPr/>
          <p:nvPr/>
        </p:nvSpPr>
        <p:spPr>
          <a:xfrm>
            <a:off x="8463111" y="7634288"/>
            <a:ext cx="5323433" cy="9525"/>
          </a:xfrm>
          <a:prstGeom prst="rect">
            <a:avLst/>
          </a:prstGeom>
          <a:solidFill>
            <a:srgbClr val="213251"/>
          </a:solidFill>
          <a:ln/>
        </p:spPr>
      </p:sp>
      <p:sp>
        <p:nvSpPr>
          <p:cNvPr id="68" name="Text 66"/>
          <p:cNvSpPr/>
          <p:nvPr/>
        </p:nvSpPr>
        <p:spPr>
          <a:xfrm>
            <a:off x="8463111" y="7367588"/>
            <a:ext cx="5483136" cy="219075"/>
          </a:xfrm>
          <a:prstGeom prst="rect">
            <a:avLst/>
          </a:prstGeom>
          <a:noFill/>
          <a:ln/>
        </p:spPr>
        <p:txBody>
          <a:bodyPr wrap="square" lIns="25400" tIns="25400" rIns="25400" bIns="25400" rtlCol="0" anchor="ctr">
            <a:normAutofit/>
          </a:bodyPr>
          <a:lstStyle/>
          <a:p>
            <a:pPr algn="l" indent="0" marL="0">
              <a:buNone/>
            </a:pPr>
            <a:r>
              <a:rPr lang="en-US" sz="1275" dirty="0">
                <a:solidFill>
                  <a:srgbClr val="B8C2D4"/>
                </a:solidFill>
                <a:latin typeface="Courier New" pitchFamily="34" charset="0"/>
                <a:ea typeface="Courier New" pitchFamily="34" charset="-122"/>
                <a:cs typeface="Courier New" pitchFamily="34" charset="-120"/>
              </a:rPr>
              <a:t>seed</a:t>
            </a:r>
            <a:endParaRPr lang="en-US" sz="1275" dirty="0"/>
          </a:p>
        </p:txBody>
      </p:sp>
      <p:sp>
        <p:nvSpPr>
          <p:cNvPr id="69" name="Shape 67"/>
          <p:cNvSpPr/>
          <p:nvPr/>
        </p:nvSpPr>
        <p:spPr>
          <a:xfrm>
            <a:off x="13786545" y="7634288"/>
            <a:ext cx="3548955" cy="9525"/>
          </a:xfrm>
          <a:prstGeom prst="rect">
            <a:avLst/>
          </a:prstGeom>
          <a:solidFill>
            <a:srgbClr val="213251"/>
          </a:solidFill>
          <a:ln/>
        </p:spPr>
      </p:sp>
      <p:sp>
        <p:nvSpPr>
          <p:cNvPr id="70" name="Text 68"/>
          <p:cNvSpPr/>
          <p:nvPr/>
        </p:nvSpPr>
        <p:spPr>
          <a:xfrm>
            <a:off x="13680076" y="7367588"/>
            <a:ext cx="3655424" cy="219075"/>
          </a:xfrm>
          <a:prstGeom prst="rect">
            <a:avLst/>
          </a:prstGeom>
          <a:noFill/>
          <a:ln/>
        </p:spPr>
        <p:txBody>
          <a:bodyPr wrap="square" lIns="25400" tIns="25400" rIns="25400" bIns="25400" rtlCol="0" anchor="ctr">
            <a:normAutofit/>
          </a:bodyPr>
          <a:lstStyle/>
          <a:p>
            <a:pPr algn="r" indent="0" marL="0">
              <a:buNone/>
            </a:pPr>
            <a:r>
              <a:rPr lang="en-US" sz="1275" dirty="0">
                <a:solidFill>
                  <a:srgbClr val="E9C984"/>
                </a:solidFill>
                <a:latin typeface="Courier New" pitchFamily="34" charset="0"/>
                <a:ea typeface="Courier New" pitchFamily="34" charset="-122"/>
                <a:cs typeface="Courier New" pitchFamily="34" charset="-120"/>
              </a:rPr>
              <a:t>42</a:t>
            </a:r>
            <a:endParaRPr lang="en-US" sz="1275" dirty="0"/>
          </a:p>
        </p:txBody>
      </p:sp>
      <p:sp>
        <p:nvSpPr>
          <p:cNvPr id="71" name="Text 69"/>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72" name="Text 70"/>
          <p:cNvSpPr/>
          <p:nvPr/>
        </p:nvSpPr>
        <p:spPr>
          <a:xfrm>
            <a:off x="14694694" y="9791700"/>
            <a:ext cx="2720030"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I. EL KHORASSANI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339453"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06 — DESIGN</a:t>
            </a:r>
            <a:endParaRPr lang="en-US" sz="1125" dirty="0"/>
          </a:p>
        </p:txBody>
      </p:sp>
      <p:sp>
        <p:nvSpPr>
          <p:cNvPr id="3" name="Text 1"/>
          <p:cNvSpPr/>
          <p:nvPr/>
        </p:nvSpPr>
        <p:spPr>
          <a:xfrm>
            <a:off x="15683508" y="342900"/>
            <a:ext cx="1728192"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DESIGN DES AGENTS</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TROIS SPÉCIALISTES, TROIS PROFILS</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Chaque agent a son LLM, son outil, sa température et son contrat de sortie.</a:t>
            </a:r>
            <a:endParaRPr lang="en-US" sz="4500" dirty="0"/>
          </a:p>
        </p:txBody>
      </p:sp>
      <p:sp>
        <p:nvSpPr>
          <p:cNvPr id="6" name="Shape 4"/>
          <p:cNvSpPr/>
          <p:nvPr/>
        </p:nvSpPr>
        <p:spPr>
          <a:xfrm>
            <a:off x="952500" y="2876550"/>
            <a:ext cx="5308550" cy="6648450"/>
          </a:xfrm>
          <a:prstGeom prst="rect">
            <a:avLst/>
          </a:prstGeom>
          <a:solidFill>
            <a:srgbClr val="0F1B30"/>
          </a:solidFill>
          <a:ln/>
        </p:spPr>
      </p:sp>
      <p:sp>
        <p:nvSpPr>
          <p:cNvPr id="7" name="Shape 5"/>
          <p:cNvSpPr/>
          <p:nvPr/>
        </p:nvSpPr>
        <p:spPr>
          <a:xfrm>
            <a:off x="952500" y="9515475"/>
            <a:ext cx="5308550" cy="9525"/>
          </a:xfrm>
          <a:prstGeom prst="rect">
            <a:avLst/>
          </a:prstGeom>
          <a:solidFill>
            <a:srgbClr val="213251"/>
          </a:solidFill>
          <a:ln/>
        </p:spPr>
      </p:sp>
      <p:sp>
        <p:nvSpPr>
          <p:cNvPr id="8" name="Shape 6"/>
          <p:cNvSpPr/>
          <p:nvPr/>
        </p:nvSpPr>
        <p:spPr>
          <a:xfrm>
            <a:off x="952500" y="2876550"/>
            <a:ext cx="5308550" cy="28575"/>
          </a:xfrm>
          <a:prstGeom prst="rect">
            <a:avLst/>
          </a:prstGeom>
          <a:solidFill>
            <a:srgbClr val="D4B06A"/>
          </a:solidFill>
          <a:ln/>
        </p:spPr>
      </p:sp>
      <p:sp>
        <p:nvSpPr>
          <p:cNvPr id="9" name="Shape 7"/>
          <p:cNvSpPr/>
          <p:nvPr/>
        </p:nvSpPr>
        <p:spPr>
          <a:xfrm>
            <a:off x="952500" y="2876550"/>
            <a:ext cx="9525" cy="6648450"/>
          </a:xfrm>
          <a:prstGeom prst="rect">
            <a:avLst/>
          </a:prstGeom>
          <a:solidFill>
            <a:srgbClr val="213251"/>
          </a:solidFill>
          <a:ln/>
        </p:spPr>
      </p:sp>
      <p:sp>
        <p:nvSpPr>
          <p:cNvPr id="10" name="Shape 8"/>
          <p:cNvSpPr/>
          <p:nvPr/>
        </p:nvSpPr>
        <p:spPr>
          <a:xfrm>
            <a:off x="6251525" y="2876550"/>
            <a:ext cx="9525" cy="6648450"/>
          </a:xfrm>
          <a:prstGeom prst="rect">
            <a:avLst/>
          </a:prstGeom>
          <a:solidFill>
            <a:srgbClr val="213251"/>
          </a:solidFill>
          <a:ln/>
        </p:spPr>
      </p:sp>
      <p:sp>
        <p:nvSpPr>
          <p:cNvPr id="11" name="Text 9"/>
          <p:cNvSpPr/>
          <p:nvPr/>
        </p:nvSpPr>
        <p:spPr>
          <a:xfrm>
            <a:off x="1247775" y="3209925"/>
            <a:ext cx="4859540" cy="180975"/>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D8AA3"/>
                </a:solidFill>
                <a:latin typeface="Courier New" pitchFamily="34" charset="0"/>
                <a:ea typeface="Courier New" pitchFamily="34" charset="-122"/>
                <a:cs typeface="Courier New" pitchFamily="34" charset="-120"/>
              </a:rPr>
              <a:t>— AGENT 01</a:t>
            </a:r>
            <a:endParaRPr lang="en-US" sz="975" dirty="0"/>
          </a:p>
        </p:txBody>
      </p:sp>
      <p:sp>
        <p:nvSpPr>
          <p:cNvPr id="12" name="Text 10"/>
          <p:cNvSpPr/>
          <p:nvPr/>
        </p:nvSpPr>
        <p:spPr>
          <a:xfrm>
            <a:off x="1247775" y="3505200"/>
            <a:ext cx="485954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EEF2F8"/>
                </a:solidFill>
                <a:latin typeface="Arial" pitchFamily="34" charset="0"/>
                <a:ea typeface="Arial" pitchFamily="34" charset="-122"/>
                <a:cs typeface="Arial" pitchFamily="34" charset="-120"/>
              </a:rPr>
              <a:t>SentimentAgent</a:t>
            </a:r>
            <a:endParaRPr lang="en-US" sz="1950" dirty="0"/>
          </a:p>
        </p:txBody>
      </p:sp>
      <p:sp>
        <p:nvSpPr>
          <p:cNvPr id="13" name="Text 11"/>
          <p:cNvSpPr/>
          <p:nvPr/>
        </p:nvSpPr>
        <p:spPr>
          <a:xfrm>
            <a:off x="1247775" y="3857625"/>
            <a:ext cx="4859540"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Sentiment Analysis Specialist</a:t>
            </a:r>
            <a:endParaRPr lang="en-US" sz="1050" dirty="0"/>
          </a:p>
        </p:txBody>
      </p:sp>
      <p:sp>
        <p:nvSpPr>
          <p:cNvPr id="14" name="Shape 12"/>
          <p:cNvSpPr/>
          <p:nvPr/>
        </p:nvSpPr>
        <p:spPr>
          <a:xfrm>
            <a:off x="1247775" y="5486400"/>
            <a:ext cx="4718000" cy="9525"/>
          </a:xfrm>
          <a:prstGeom prst="rect">
            <a:avLst/>
          </a:prstGeom>
          <a:solidFill>
            <a:srgbClr val="2D4268"/>
          </a:solidFill>
          <a:ln/>
        </p:spPr>
      </p:sp>
      <p:sp>
        <p:nvSpPr>
          <p:cNvPr id="15" name="Text 13"/>
          <p:cNvSpPr/>
          <p:nvPr/>
        </p:nvSpPr>
        <p:spPr>
          <a:xfrm>
            <a:off x="1247775" y="4391025"/>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LLM</a:t>
            </a:r>
            <a:endParaRPr lang="en-US" sz="900" dirty="0"/>
          </a:p>
        </p:txBody>
      </p:sp>
      <p:sp>
        <p:nvSpPr>
          <p:cNvPr id="16" name="Text 14"/>
          <p:cNvSpPr/>
          <p:nvPr/>
        </p:nvSpPr>
        <p:spPr>
          <a:xfrm>
            <a:off x="2333625" y="4362450"/>
            <a:ext cx="374111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gpt-4o-mini</a:t>
            </a:r>
            <a:endParaRPr lang="en-US" sz="1125" dirty="0"/>
          </a:p>
        </p:txBody>
      </p:sp>
      <p:sp>
        <p:nvSpPr>
          <p:cNvPr id="17" name="Text 15"/>
          <p:cNvSpPr/>
          <p:nvPr/>
        </p:nvSpPr>
        <p:spPr>
          <a:xfrm>
            <a:off x="1247775" y="4629150"/>
            <a:ext cx="1028700" cy="2095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TEMP.</a:t>
            </a:r>
            <a:endParaRPr lang="en-US" sz="900" dirty="0"/>
          </a:p>
        </p:txBody>
      </p:sp>
      <p:sp>
        <p:nvSpPr>
          <p:cNvPr id="18" name="Text 16"/>
          <p:cNvSpPr/>
          <p:nvPr/>
        </p:nvSpPr>
        <p:spPr>
          <a:xfrm>
            <a:off x="2333625" y="4600575"/>
            <a:ext cx="3741115" cy="238125"/>
          </a:xfrm>
          <a:prstGeom prst="rect">
            <a:avLst/>
          </a:prstGeom>
          <a:noFill/>
          <a:ln/>
        </p:spPr>
        <p:txBody>
          <a:bodyPr wrap="square" lIns="25400" tIns="25400" rIns="25400" bIns="25400" rtlCol="0" anchor="t">
            <a:normAutofit/>
          </a:bodyPr>
          <a:lstStyle/>
          <a:p>
            <a:pPr algn="l" indent="0" marL="0">
              <a:buNone/>
            </a:pPr>
            <a:r>
              <a:rPr lang="en-US" sz="975" dirty="0">
                <a:solidFill>
                  <a:srgbClr val="B8C2D4"/>
                </a:solidFill>
                <a:latin typeface="Courier New" pitchFamily="34" charset="0"/>
                <a:ea typeface="Courier New" pitchFamily="34" charset="-122"/>
                <a:cs typeface="Courier New" pitchFamily="34" charset="-120"/>
              </a:rPr>
              <a:t>0.0 </a:t>
            </a:r>
            <a:pPr algn="l" indent="0" marL="0">
              <a:buNone/>
            </a:pPr>
            <a:r>
              <a:rPr lang="en-US" sz="1125" dirty="0">
                <a:solidFill>
                  <a:srgbClr val="EEF2F8"/>
                </a:solidFill>
                <a:latin typeface="Courier New" pitchFamily="34" charset="0"/>
                <a:ea typeface="Courier New" pitchFamily="34" charset="-122"/>
                <a:cs typeface="Courier New" pitchFamily="34" charset="-120"/>
              </a:rPr>
              <a:t>déterministe</a:t>
            </a:r>
            <a:endParaRPr lang="en-US" sz="1125" dirty="0"/>
          </a:p>
        </p:txBody>
      </p:sp>
      <p:sp>
        <p:nvSpPr>
          <p:cNvPr id="19" name="Text 17"/>
          <p:cNvSpPr/>
          <p:nvPr/>
        </p:nvSpPr>
        <p:spPr>
          <a:xfrm>
            <a:off x="1247775" y="4905375"/>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OUTIL</a:t>
            </a:r>
            <a:endParaRPr lang="en-US" sz="900" dirty="0"/>
          </a:p>
        </p:txBody>
      </p:sp>
      <p:sp>
        <p:nvSpPr>
          <p:cNvPr id="20" name="Text 18"/>
          <p:cNvSpPr/>
          <p:nvPr/>
        </p:nvSpPr>
        <p:spPr>
          <a:xfrm>
            <a:off x="2333625" y="4876800"/>
            <a:ext cx="374111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SentimentAnalysisTool</a:t>
            </a:r>
            <a:endParaRPr lang="en-US" sz="1125" dirty="0"/>
          </a:p>
        </p:txBody>
      </p:sp>
      <p:sp>
        <p:nvSpPr>
          <p:cNvPr id="21" name="Text 19"/>
          <p:cNvSpPr/>
          <p:nvPr/>
        </p:nvSpPr>
        <p:spPr>
          <a:xfrm>
            <a:off x="1247775" y="5143500"/>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SORTIE</a:t>
            </a:r>
            <a:endParaRPr lang="en-US" sz="900" dirty="0"/>
          </a:p>
        </p:txBody>
      </p:sp>
      <p:sp>
        <p:nvSpPr>
          <p:cNvPr id="22" name="Text 20"/>
          <p:cNvSpPr/>
          <p:nvPr/>
        </p:nvSpPr>
        <p:spPr>
          <a:xfrm>
            <a:off x="2333625" y="5114925"/>
            <a:ext cx="374111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JSON {label, conf., scores}</a:t>
            </a:r>
            <a:endParaRPr lang="en-US" sz="1125" dirty="0"/>
          </a:p>
        </p:txBody>
      </p:sp>
      <p:sp>
        <p:nvSpPr>
          <p:cNvPr id="23" name="Text 21"/>
          <p:cNvSpPr/>
          <p:nvPr/>
        </p:nvSpPr>
        <p:spPr>
          <a:xfrm>
            <a:off x="1247775" y="5705475"/>
            <a:ext cx="4859540"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i="1" dirty="0">
                <a:solidFill>
                  <a:srgbClr val="B8C2D4"/>
                </a:solidFill>
                <a:latin typeface="Arial" pitchFamily="34" charset="0"/>
                <a:ea typeface="Arial" pitchFamily="34" charset="-122"/>
                <a:cs typeface="Arial" pitchFamily="34" charset="-120"/>
              </a:rPr>
              <a:t>« Analyser le sentiment via l'outil sentiment_classifier. Toujours appeler l'outil — ne jamais deviner. »</a:t>
            </a:r>
            <a:endParaRPr lang="en-US" sz="1200" dirty="0"/>
          </a:p>
        </p:txBody>
      </p:sp>
      <p:sp>
        <p:nvSpPr>
          <p:cNvPr id="24" name="Shape 22"/>
          <p:cNvSpPr/>
          <p:nvPr/>
        </p:nvSpPr>
        <p:spPr>
          <a:xfrm>
            <a:off x="6489650" y="2876550"/>
            <a:ext cx="5308550" cy="6648450"/>
          </a:xfrm>
          <a:prstGeom prst="rect">
            <a:avLst/>
          </a:prstGeom>
          <a:solidFill>
            <a:srgbClr val="0F1B30"/>
          </a:solidFill>
          <a:ln/>
        </p:spPr>
      </p:sp>
      <p:sp>
        <p:nvSpPr>
          <p:cNvPr id="25" name="Shape 23"/>
          <p:cNvSpPr/>
          <p:nvPr/>
        </p:nvSpPr>
        <p:spPr>
          <a:xfrm>
            <a:off x="6489650" y="9515475"/>
            <a:ext cx="5308550" cy="9525"/>
          </a:xfrm>
          <a:prstGeom prst="rect">
            <a:avLst/>
          </a:prstGeom>
          <a:solidFill>
            <a:srgbClr val="213251"/>
          </a:solidFill>
          <a:ln/>
        </p:spPr>
      </p:sp>
      <p:sp>
        <p:nvSpPr>
          <p:cNvPr id="26" name="Shape 24"/>
          <p:cNvSpPr/>
          <p:nvPr/>
        </p:nvSpPr>
        <p:spPr>
          <a:xfrm>
            <a:off x="6489650" y="2876550"/>
            <a:ext cx="5308550" cy="28575"/>
          </a:xfrm>
          <a:prstGeom prst="rect">
            <a:avLst/>
          </a:prstGeom>
          <a:solidFill>
            <a:srgbClr val="6FA3D2"/>
          </a:solidFill>
          <a:ln/>
        </p:spPr>
      </p:sp>
      <p:sp>
        <p:nvSpPr>
          <p:cNvPr id="27" name="Shape 25"/>
          <p:cNvSpPr/>
          <p:nvPr/>
        </p:nvSpPr>
        <p:spPr>
          <a:xfrm>
            <a:off x="6489650" y="2876550"/>
            <a:ext cx="9525" cy="6648450"/>
          </a:xfrm>
          <a:prstGeom prst="rect">
            <a:avLst/>
          </a:prstGeom>
          <a:solidFill>
            <a:srgbClr val="213251"/>
          </a:solidFill>
          <a:ln/>
        </p:spPr>
      </p:sp>
      <p:sp>
        <p:nvSpPr>
          <p:cNvPr id="28" name="Shape 26"/>
          <p:cNvSpPr/>
          <p:nvPr/>
        </p:nvSpPr>
        <p:spPr>
          <a:xfrm>
            <a:off x="11788676" y="2876550"/>
            <a:ext cx="9525" cy="6648450"/>
          </a:xfrm>
          <a:prstGeom prst="rect">
            <a:avLst/>
          </a:prstGeom>
          <a:solidFill>
            <a:srgbClr val="213251"/>
          </a:solidFill>
          <a:ln/>
        </p:spPr>
      </p:sp>
      <p:sp>
        <p:nvSpPr>
          <p:cNvPr id="29" name="Text 27"/>
          <p:cNvSpPr/>
          <p:nvPr/>
        </p:nvSpPr>
        <p:spPr>
          <a:xfrm>
            <a:off x="6784925" y="3209925"/>
            <a:ext cx="4859540" cy="180975"/>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D8AA3"/>
                </a:solidFill>
                <a:latin typeface="Courier New" pitchFamily="34" charset="0"/>
                <a:ea typeface="Courier New" pitchFamily="34" charset="-122"/>
                <a:cs typeface="Courier New" pitchFamily="34" charset="-120"/>
              </a:rPr>
              <a:t>— AGENT 02</a:t>
            </a:r>
            <a:endParaRPr lang="en-US" sz="975" dirty="0"/>
          </a:p>
        </p:txBody>
      </p:sp>
      <p:sp>
        <p:nvSpPr>
          <p:cNvPr id="30" name="Text 28"/>
          <p:cNvSpPr/>
          <p:nvPr/>
        </p:nvSpPr>
        <p:spPr>
          <a:xfrm>
            <a:off x="6784925" y="3505200"/>
            <a:ext cx="485954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EEF2F8"/>
                </a:solidFill>
                <a:latin typeface="Arial" pitchFamily="34" charset="0"/>
                <a:ea typeface="Arial" pitchFamily="34" charset="-122"/>
                <a:cs typeface="Arial" pitchFamily="34" charset="-120"/>
              </a:rPr>
              <a:t>MarketAgent</a:t>
            </a:r>
            <a:endParaRPr lang="en-US" sz="1950" dirty="0"/>
          </a:p>
        </p:txBody>
      </p:sp>
      <p:sp>
        <p:nvSpPr>
          <p:cNvPr id="31" name="Text 29"/>
          <p:cNvSpPr/>
          <p:nvPr/>
        </p:nvSpPr>
        <p:spPr>
          <a:xfrm>
            <a:off x="6784925" y="3857625"/>
            <a:ext cx="4859540"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Market Research Specialist</a:t>
            </a:r>
            <a:endParaRPr lang="en-US" sz="1050" dirty="0"/>
          </a:p>
        </p:txBody>
      </p:sp>
      <p:sp>
        <p:nvSpPr>
          <p:cNvPr id="32" name="Shape 30"/>
          <p:cNvSpPr/>
          <p:nvPr/>
        </p:nvSpPr>
        <p:spPr>
          <a:xfrm>
            <a:off x="6784925" y="5486400"/>
            <a:ext cx="4718000" cy="9525"/>
          </a:xfrm>
          <a:prstGeom prst="rect">
            <a:avLst/>
          </a:prstGeom>
          <a:solidFill>
            <a:srgbClr val="2D4268"/>
          </a:solidFill>
          <a:ln/>
        </p:spPr>
      </p:sp>
      <p:sp>
        <p:nvSpPr>
          <p:cNvPr id="33" name="Text 31"/>
          <p:cNvSpPr/>
          <p:nvPr/>
        </p:nvSpPr>
        <p:spPr>
          <a:xfrm>
            <a:off x="6784925" y="4391025"/>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LLM</a:t>
            </a:r>
            <a:endParaRPr lang="en-US" sz="900" dirty="0"/>
          </a:p>
        </p:txBody>
      </p:sp>
      <p:sp>
        <p:nvSpPr>
          <p:cNvPr id="34" name="Text 32"/>
          <p:cNvSpPr/>
          <p:nvPr/>
        </p:nvSpPr>
        <p:spPr>
          <a:xfrm>
            <a:off x="7870775" y="4362450"/>
            <a:ext cx="374111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gpt-4o-mini</a:t>
            </a:r>
            <a:endParaRPr lang="en-US" sz="1125" dirty="0"/>
          </a:p>
        </p:txBody>
      </p:sp>
      <p:sp>
        <p:nvSpPr>
          <p:cNvPr id="35" name="Text 33"/>
          <p:cNvSpPr/>
          <p:nvPr/>
        </p:nvSpPr>
        <p:spPr>
          <a:xfrm>
            <a:off x="6784925" y="4629150"/>
            <a:ext cx="1028700" cy="2095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TEMP.</a:t>
            </a:r>
            <a:endParaRPr lang="en-US" sz="900" dirty="0"/>
          </a:p>
        </p:txBody>
      </p:sp>
      <p:sp>
        <p:nvSpPr>
          <p:cNvPr id="36" name="Text 34"/>
          <p:cNvSpPr/>
          <p:nvPr/>
        </p:nvSpPr>
        <p:spPr>
          <a:xfrm>
            <a:off x="7870775" y="4600575"/>
            <a:ext cx="3741115" cy="238125"/>
          </a:xfrm>
          <a:prstGeom prst="rect">
            <a:avLst/>
          </a:prstGeom>
          <a:noFill/>
          <a:ln/>
        </p:spPr>
        <p:txBody>
          <a:bodyPr wrap="square" lIns="25400" tIns="25400" rIns="25400" bIns="25400" rtlCol="0" anchor="t">
            <a:normAutofit/>
          </a:bodyPr>
          <a:lstStyle/>
          <a:p>
            <a:pPr algn="l" indent="0" marL="0">
              <a:buNone/>
            </a:pPr>
            <a:r>
              <a:rPr lang="en-US" sz="975" dirty="0">
                <a:solidFill>
                  <a:srgbClr val="B8C2D4"/>
                </a:solidFill>
                <a:latin typeface="Courier New" pitchFamily="34" charset="0"/>
                <a:ea typeface="Courier New" pitchFamily="34" charset="-122"/>
                <a:cs typeface="Courier New" pitchFamily="34" charset="-120"/>
              </a:rPr>
              <a:t>0.3 </a:t>
            </a:r>
            <a:pPr algn="l" indent="0" marL="0">
              <a:buNone/>
            </a:pPr>
            <a:r>
              <a:rPr lang="en-US" sz="1125" dirty="0">
                <a:solidFill>
                  <a:srgbClr val="EEF2F8"/>
                </a:solidFill>
                <a:latin typeface="Courier New" pitchFamily="34" charset="0"/>
                <a:ea typeface="Courier New" pitchFamily="34" charset="-122"/>
                <a:cs typeface="Courier New" pitchFamily="34" charset="-120"/>
              </a:rPr>
              <a:t>requêtes variées</a:t>
            </a:r>
            <a:endParaRPr lang="en-US" sz="1125" dirty="0"/>
          </a:p>
        </p:txBody>
      </p:sp>
      <p:sp>
        <p:nvSpPr>
          <p:cNvPr id="37" name="Text 35"/>
          <p:cNvSpPr/>
          <p:nvPr/>
        </p:nvSpPr>
        <p:spPr>
          <a:xfrm>
            <a:off x="6784925" y="4905375"/>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OUTIL</a:t>
            </a:r>
            <a:endParaRPr lang="en-US" sz="900" dirty="0"/>
          </a:p>
        </p:txBody>
      </p:sp>
      <p:sp>
        <p:nvSpPr>
          <p:cNvPr id="38" name="Text 36"/>
          <p:cNvSpPr/>
          <p:nvPr/>
        </p:nvSpPr>
        <p:spPr>
          <a:xfrm>
            <a:off x="7870775" y="4876800"/>
            <a:ext cx="374111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WebSearchTool (DDGS)</a:t>
            </a:r>
            <a:endParaRPr lang="en-US" sz="1125" dirty="0"/>
          </a:p>
        </p:txBody>
      </p:sp>
      <p:sp>
        <p:nvSpPr>
          <p:cNvPr id="39" name="Text 37"/>
          <p:cNvSpPr/>
          <p:nvPr/>
        </p:nvSpPr>
        <p:spPr>
          <a:xfrm>
            <a:off x="6784925" y="5143500"/>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SORTIE</a:t>
            </a:r>
            <a:endParaRPr lang="en-US" sz="900" dirty="0"/>
          </a:p>
        </p:txBody>
      </p:sp>
      <p:sp>
        <p:nvSpPr>
          <p:cNvPr id="40" name="Text 38"/>
          <p:cNvSpPr/>
          <p:nvPr/>
        </p:nvSpPr>
        <p:spPr>
          <a:xfrm>
            <a:off x="7870775" y="5114925"/>
            <a:ext cx="374111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Paragraphe 3–5 phrases</a:t>
            </a:r>
            <a:endParaRPr lang="en-US" sz="1125" dirty="0"/>
          </a:p>
        </p:txBody>
      </p:sp>
      <p:sp>
        <p:nvSpPr>
          <p:cNvPr id="41" name="Text 39"/>
          <p:cNvSpPr/>
          <p:nvPr/>
        </p:nvSpPr>
        <p:spPr>
          <a:xfrm>
            <a:off x="6784925" y="5705475"/>
            <a:ext cx="4859540"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i="1" dirty="0">
                <a:solidFill>
                  <a:srgbClr val="B8C2D4"/>
                </a:solidFill>
                <a:latin typeface="Arial" pitchFamily="34" charset="0"/>
                <a:ea typeface="Arial" pitchFamily="34" charset="-122"/>
                <a:cs typeface="Arial" pitchFamily="34" charset="-120"/>
              </a:rPr>
              <a:t>« Chercher des informations concurrentielles sur le produit mentionné via l'outil web_search. Retourner un résumé compétitif bref. »</a:t>
            </a:r>
            <a:endParaRPr lang="en-US" sz="1200" dirty="0"/>
          </a:p>
        </p:txBody>
      </p:sp>
      <p:sp>
        <p:nvSpPr>
          <p:cNvPr id="42" name="Shape 40"/>
          <p:cNvSpPr/>
          <p:nvPr/>
        </p:nvSpPr>
        <p:spPr>
          <a:xfrm>
            <a:off x="12026801" y="2876550"/>
            <a:ext cx="5308699" cy="6648450"/>
          </a:xfrm>
          <a:prstGeom prst="rect">
            <a:avLst/>
          </a:prstGeom>
          <a:solidFill>
            <a:srgbClr val="0F1B30"/>
          </a:solidFill>
          <a:ln/>
        </p:spPr>
      </p:sp>
      <p:sp>
        <p:nvSpPr>
          <p:cNvPr id="43" name="Shape 41"/>
          <p:cNvSpPr/>
          <p:nvPr/>
        </p:nvSpPr>
        <p:spPr>
          <a:xfrm>
            <a:off x="12026801" y="9515475"/>
            <a:ext cx="5308699" cy="9525"/>
          </a:xfrm>
          <a:prstGeom prst="rect">
            <a:avLst/>
          </a:prstGeom>
          <a:solidFill>
            <a:srgbClr val="213251"/>
          </a:solidFill>
          <a:ln/>
        </p:spPr>
      </p:sp>
      <p:sp>
        <p:nvSpPr>
          <p:cNvPr id="44" name="Shape 42"/>
          <p:cNvSpPr/>
          <p:nvPr/>
        </p:nvSpPr>
        <p:spPr>
          <a:xfrm>
            <a:off x="12026801" y="2876550"/>
            <a:ext cx="5308699" cy="28575"/>
          </a:xfrm>
          <a:prstGeom prst="rect">
            <a:avLst/>
          </a:prstGeom>
          <a:solidFill>
            <a:srgbClr val="B88B6A"/>
          </a:solidFill>
          <a:ln/>
        </p:spPr>
      </p:sp>
      <p:sp>
        <p:nvSpPr>
          <p:cNvPr id="45" name="Shape 43"/>
          <p:cNvSpPr/>
          <p:nvPr/>
        </p:nvSpPr>
        <p:spPr>
          <a:xfrm>
            <a:off x="12026801" y="2876550"/>
            <a:ext cx="9525" cy="6648450"/>
          </a:xfrm>
          <a:prstGeom prst="rect">
            <a:avLst/>
          </a:prstGeom>
          <a:solidFill>
            <a:srgbClr val="213251"/>
          </a:solidFill>
          <a:ln/>
        </p:spPr>
      </p:sp>
      <p:sp>
        <p:nvSpPr>
          <p:cNvPr id="46" name="Shape 44"/>
          <p:cNvSpPr/>
          <p:nvPr/>
        </p:nvSpPr>
        <p:spPr>
          <a:xfrm>
            <a:off x="17325975" y="2876550"/>
            <a:ext cx="9525" cy="6648450"/>
          </a:xfrm>
          <a:prstGeom prst="rect">
            <a:avLst/>
          </a:prstGeom>
          <a:solidFill>
            <a:srgbClr val="213251"/>
          </a:solidFill>
          <a:ln/>
        </p:spPr>
      </p:sp>
      <p:sp>
        <p:nvSpPr>
          <p:cNvPr id="47" name="Text 45"/>
          <p:cNvSpPr/>
          <p:nvPr/>
        </p:nvSpPr>
        <p:spPr>
          <a:xfrm>
            <a:off x="12322076" y="3209925"/>
            <a:ext cx="4859694" cy="180975"/>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7D8AA3"/>
                </a:solidFill>
                <a:latin typeface="Courier New" pitchFamily="34" charset="0"/>
                <a:ea typeface="Courier New" pitchFamily="34" charset="-122"/>
                <a:cs typeface="Courier New" pitchFamily="34" charset="-120"/>
              </a:rPr>
              <a:t>— AGENT 03</a:t>
            </a:r>
            <a:endParaRPr lang="en-US" sz="975" dirty="0"/>
          </a:p>
        </p:txBody>
      </p:sp>
      <p:sp>
        <p:nvSpPr>
          <p:cNvPr id="48" name="Text 46"/>
          <p:cNvSpPr/>
          <p:nvPr/>
        </p:nvSpPr>
        <p:spPr>
          <a:xfrm>
            <a:off x="12322076" y="3505200"/>
            <a:ext cx="4859694"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EEF2F8"/>
                </a:solidFill>
                <a:latin typeface="Arial" pitchFamily="34" charset="0"/>
                <a:ea typeface="Arial" pitchFamily="34" charset="-122"/>
                <a:cs typeface="Arial" pitchFamily="34" charset="-120"/>
              </a:rPr>
              <a:t>ReportAgent</a:t>
            </a:r>
            <a:endParaRPr lang="en-US" sz="1950" dirty="0"/>
          </a:p>
        </p:txBody>
      </p:sp>
      <p:sp>
        <p:nvSpPr>
          <p:cNvPr id="49" name="Text 47"/>
          <p:cNvSpPr/>
          <p:nvPr/>
        </p:nvSpPr>
        <p:spPr>
          <a:xfrm>
            <a:off x="12322076" y="3857625"/>
            <a:ext cx="4859694"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Report Synthesizer</a:t>
            </a:r>
            <a:endParaRPr lang="en-US" sz="1050" dirty="0"/>
          </a:p>
        </p:txBody>
      </p:sp>
      <p:sp>
        <p:nvSpPr>
          <p:cNvPr id="50" name="Shape 48"/>
          <p:cNvSpPr/>
          <p:nvPr/>
        </p:nvSpPr>
        <p:spPr>
          <a:xfrm>
            <a:off x="12322076" y="5486400"/>
            <a:ext cx="4718149" cy="9525"/>
          </a:xfrm>
          <a:prstGeom prst="rect">
            <a:avLst/>
          </a:prstGeom>
          <a:solidFill>
            <a:srgbClr val="2D4268"/>
          </a:solidFill>
          <a:ln/>
        </p:spPr>
      </p:sp>
      <p:sp>
        <p:nvSpPr>
          <p:cNvPr id="51" name="Text 49"/>
          <p:cNvSpPr/>
          <p:nvPr/>
        </p:nvSpPr>
        <p:spPr>
          <a:xfrm>
            <a:off x="12322076" y="4391025"/>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LLM</a:t>
            </a:r>
            <a:endParaRPr lang="en-US" sz="900" dirty="0"/>
          </a:p>
        </p:txBody>
      </p:sp>
      <p:sp>
        <p:nvSpPr>
          <p:cNvPr id="52" name="Text 50"/>
          <p:cNvSpPr/>
          <p:nvPr/>
        </p:nvSpPr>
        <p:spPr>
          <a:xfrm>
            <a:off x="13407926" y="4362450"/>
            <a:ext cx="374126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gpt-4o-mini</a:t>
            </a:r>
            <a:endParaRPr lang="en-US" sz="1125" dirty="0"/>
          </a:p>
        </p:txBody>
      </p:sp>
      <p:sp>
        <p:nvSpPr>
          <p:cNvPr id="53" name="Text 51"/>
          <p:cNvSpPr/>
          <p:nvPr/>
        </p:nvSpPr>
        <p:spPr>
          <a:xfrm>
            <a:off x="12322076" y="4629150"/>
            <a:ext cx="1028700" cy="2095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TEMP.</a:t>
            </a:r>
            <a:endParaRPr lang="en-US" sz="900" dirty="0"/>
          </a:p>
        </p:txBody>
      </p:sp>
      <p:sp>
        <p:nvSpPr>
          <p:cNvPr id="54" name="Text 52"/>
          <p:cNvSpPr/>
          <p:nvPr/>
        </p:nvSpPr>
        <p:spPr>
          <a:xfrm>
            <a:off x="13407926" y="4600575"/>
            <a:ext cx="3741268" cy="238125"/>
          </a:xfrm>
          <a:prstGeom prst="rect">
            <a:avLst/>
          </a:prstGeom>
          <a:noFill/>
          <a:ln/>
        </p:spPr>
        <p:txBody>
          <a:bodyPr wrap="square" lIns="25400" tIns="25400" rIns="25400" bIns="25400" rtlCol="0" anchor="t">
            <a:normAutofit/>
          </a:bodyPr>
          <a:lstStyle/>
          <a:p>
            <a:pPr algn="l" indent="0" marL="0">
              <a:buNone/>
            </a:pPr>
            <a:r>
              <a:rPr lang="en-US" sz="975" dirty="0">
                <a:solidFill>
                  <a:srgbClr val="B8C2D4"/>
                </a:solidFill>
                <a:latin typeface="Courier New" pitchFamily="34" charset="0"/>
                <a:ea typeface="Courier New" pitchFamily="34" charset="-122"/>
                <a:cs typeface="Courier New" pitchFamily="34" charset="-120"/>
              </a:rPr>
              <a:t>0.0 </a:t>
            </a:r>
            <a:pPr algn="l" indent="0" marL="0">
              <a:buNone/>
            </a:pPr>
            <a:r>
              <a:rPr lang="en-US" sz="1125" dirty="0">
                <a:solidFill>
                  <a:srgbClr val="EEF2F8"/>
                </a:solidFill>
                <a:latin typeface="Courier New" pitchFamily="34" charset="0"/>
                <a:ea typeface="Courier New" pitchFamily="34" charset="-122"/>
                <a:cs typeface="Courier New" pitchFamily="34" charset="-120"/>
              </a:rPr>
              <a:t>reproductible</a:t>
            </a:r>
            <a:endParaRPr lang="en-US" sz="1125" dirty="0"/>
          </a:p>
        </p:txBody>
      </p:sp>
      <p:sp>
        <p:nvSpPr>
          <p:cNvPr id="55" name="Text 53"/>
          <p:cNvSpPr/>
          <p:nvPr/>
        </p:nvSpPr>
        <p:spPr>
          <a:xfrm>
            <a:off x="12322076" y="4905375"/>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OUTIL</a:t>
            </a:r>
            <a:endParaRPr lang="en-US" sz="900" dirty="0"/>
          </a:p>
        </p:txBody>
      </p:sp>
      <p:sp>
        <p:nvSpPr>
          <p:cNvPr id="56" name="Text 54"/>
          <p:cNvSpPr/>
          <p:nvPr/>
        </p:nvSpPr>
        <p:spPr>
          <a:xfrm>
            <a:off x="13407926" y="4876800"/>
            <a:ext cx="374126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_dummy_tool (no-op)</a:t>
            </a:r>
            <a:endParaRPr lang="en-US" sz="1125" dirty="0"/>
          </a:p>
        </p:txBody>
      </p:sp>
      <p:sp>
        <p:nvSpPr>
          <p:cNvPr id="57" name="Text 55"/>
          <p:cNvSpPr/>
          <p:nvPr/>
        </p:nvSpPr>
        <p:spPr>
          <a:xfrm>
            <a:off x="12322076" y="5143500"/>
            <a:ext cx="1028700"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D8AA3"/>
                </a:solidFill>
                <a:latin typeface="Courier New" pitchFamily="34" charset="0"/>
                <a:ea typeface="Courier New" pitchFamily="34" charset="-122"/>
                <a:cs typeface="Courier New" pitchFamily="34" charset="-120"/>
              </a:rPr>
              <a:t>SORTIE</a:t>
            </a:r>
            <a:endParaRPr lang="en-US" sz="900" dirty="0"/>
          </a:p>
        </p:txBody>
      </p:sp>
      <p:sp>
        <p:nvSpPr>
          <p:cNvPr id="58" name="Text 56"/>
          <p:cNvSpPr/>
          <p:nvPr/>
        </p:nvSpPr>
        <p:spPr>
          <a:xfrm>
            <a:off x="13407926" y="5114925"/>
            <a:ext cx="3741268" cy="200025"/>
          </a:xfrm>
          <a:prstGeom prst="rect">
            <a:avLst/>
          </a:prstGeom>
          <a:noFill/>
          <a:ln/>
        </p:spPr>
        <p:txBody>
          <a:bodyPr wrap="square" lIns="25400" tIns="25400" rIns="25400" bIns="25400" rtlCol="0" anchor="t">
            <a:normAutofit/>
          </a:bodyPr>
          <a:lstStyle/>
          <a:p>
            <a:pPr algn="l" indent="0" marL="0">
              <a:buNone/>
            </a:pPr>
            <a:r>
              <a:rPr lang="en-US" sz="1125" dirty="0">
                <a:solidFill>
                  <a:srgbClr val="EEF2F8"/>
                </a:solidFill>
                <a:latin typeface="Courier New" pitchFamily="34" charset="0"/>
                <a:ea typeface="Courier New" pitchFamily="34" charset="-122"/>
                <a:cs typeface="Courier New" pitchFamily="34" charset="-120"/>
              </a:rPr>
              <a:t>JSON final · 5 clés</a:t>
            </a:r>
            <a:endParaRPr lang="en-US" sz="1125" dirty="0"/>
          </a:p>
        </p:txBody>
      </p:sp>
      <p:sp>
        <p:nvSpPr>
          <p:cNvPr id="59" name="Text 57"/>
          <p:cNvSpPr/>
          <p:nvPr/>
        </p:nvSpPr>
        <p:spPr>
          <a:xfrm>
            <a:off x="12322076" y="5705475"/>
            <a:ext cx="4859694" cy="495300"/>
          </a:xfrm>
          <a:prstGeom prst="rect">
            <a:avLst/>
          </a:prstGeom>
          <a:noFill/>
          <a:ln/>
        </p:spPr>
        <p:txBody>
          <a:bodyPr wrap="square" lIns="25400" tIns="25400" rIns="25400" bIns="25400" rtlCol="0" anchor="t">
            <a:normAutofit/>
          </a:bodyPr>
          <a:lstStyle/>
          <a:p>
            <a:pPr algn="l" indent="0" marL="0">
              <a:lnSpc>
                <a:spcPct val="150000"/>
              </a:lnSpc>
              <a:buNone/>
            </a:pPr>
            <a:r>
              <a:rPr lang="en-US" sz="1200" i="1" dirty="0">
                <a:solidFill>
                  <a:srgbClr val="B8C2D4"/>
                </a:solidFill>
                <a:latin typeface="Arial" pitchFamily="34" charset="0"/>
                <a:ea typeface="Arial" pitchFamily="34" charset="-122"/>
                <a:cs typeface="Arial" pitchFamily="34" charset="-120"/>
              </a:rPr>
              <a:t>« Combiner la classification de sentiment et le résumé marché en un seul rapport JSON structuré selon le schéma attendu. »</a:t>
            </a:r>
            <a:endParaRPr lang="en-US" sz="1200" dirty="0"/>
          </a:p>
        </p:txBody>
      </p:sp>
      <p:sp>
        <p:nvSpPr>
          <p:cNvPr id="60" name="Text 58"/>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61" name="Text 59"/>
          <p:cNvSpPr/>
          <p:nvPr/>
        </p:nvSpPr>
        <p:spPr>
          <a:xfrm>
            <a:off x="14694694" y="9791700"/>
            <a:ext cx="2720030"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I. EL KHORASSANI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631007"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07 — FIABILITÉ</a:t>
            </a:r>
            <a:endParaRPr lang="en-US" sz="1125" dirty="0"/>
          </a:p>
        </p:txBody>
      </p:sp>
      <p:sp>
        <p:nvSpPr>
          <p:cNvPr id="3" name="Text 1"/>
          <p:cNvSpPr/>
          <p:nvPr/>
        </p:nvSpPr>
        <p:spPr>
          <a:xfrm>
            <a:off x="15100548" y="342900"/>
            <a:ext cx="2311152"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GUARDRAILS &amp; ROBUSTESSE</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QUATRE COUCHES DE DÉFENSE</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Aucun input invalide n'atteint un LLM, aucun crash ne casse le pipeline.</a:t>
            </a:r>
            <a:endParaRPr lang="en-US" sz="4500" dirty="0"/>
          </a:p>
        </p:txBody>
      </p:sp>
      <p:sp>
        <p:nvSpPr>
          <p:cNvPr id="6" name="Text 4"/>
          <p:cNvSpPr/>
          <p:nvPr/>
        </p:nvSpPr>
        <p:spPr>
          <a:xfrm>
            <a:off x="952500" y="2876550"/>
            <a:ext cx="8904482"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D4B06A"/>
                </a:solidFill>
                <a:latin typeface="Courier New" pitchFamily="34" charset="0"/>
                <a:ea typeface="Courier New" pitchFamily="34" charset="-122"/>
                <a:cs typeface="Courier New" pitchFamily="34" charset="-120"/>
              </a:rPr>
              <a:t>TESTS EDGE-CASES · 6 / 6 PASS</a:t>
            </a:r>
            <a:endParaRPr lang="en-US" sz="1650" dirty="0"/>
          </a:p>
        </p:txBody>
      </p:sp>
      <p:sp>
        <p:nvSpPr>
          <p:cNvPr id="7" name="Shape 5"/>
          <p:cNvSpPr/>
          <p:nvPr/>
        </p:nvSpPr>
        <p:spPr>
          <a:xfrm>
            <a:off x="952500" y="3662362"/>
            <a:ext cx="485626" cy="9525"/>
          </a:xfrm>
          <a:prstGeom prst="rect">
            <a:avLst/>
          </a:prstGeom>
          <a:solidFill>
            <a:srgbClr val="213251"/>
          </a:solidFill>
          <a:ln/>
        </p:spPr>
      </p:sp>
      <p:sp>
        <p:nvSpPr>
          <p:cNvPr id="8" name="Text 6"/>
          <p:cNvSpPr/>
          <p:nvPr/>
        </p:nvSpPr>
        <p:spPr>
          <a:xfrm>
            <a:off x="1085850" y="3409950"/>
            <a:ext cx="295126" cy="185738"/>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7D8AA3"/>
                </a:solidFill>
                <a:latin typeface="Courier New" pitchFamily="34" charset="0"/>
                <a:ea typeface="Courier New" pitchFamily="34" charset="-122"/>
                <a:cs typeface="Courier New" pitchFamily="34" charset="-120"/>
              </a:rPr>
              <a:t>#</a:t>
            </a:r>
            <a:endParaRPr lang="en-US" sz="900" dirty="0"/>
          </a:p>
        </p:txBody>
      </p:sp>
      <p:sp>
        <p:nvSpPr>
          <p:cNvPr id="9" name="Shape 7"/>
          <p:cNvSpPr/>
          <p:nvPr/>
        </p:nvSpPr>
        <p:spPr>
          <a:xfrm>
            <a:off x="1438126" y="3662362"/>
            <a:ext cx="3101578" cy="9525"/>
          </a:xfrm>
          <a:prstGeom prst="rect">
            <a:avLst/>
          </a:prstGeom>
          <a:solidFill>
            <a:srgbClr val="213251"/>
          </a:solidFill>
          <a:ln/>
        </p:spPr>
      </p:sp>
      <p:sp>
        <p:nvSpPr>
          <p:cNvPr id="10" name="Text 8"/>
          <p:cNvSpPr/>
          <p:nvPr/>
        </p:nvSpPr>
        <p:spPr>
          <a:xfrm>
            <a:off x="1571476" y="3409950"/>
            <a:ext cx="2927925" cy="185738"/>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7D8AA3"/>
                </a:solidFill>
                <a:latin typeface="Courier New" pitchFamily="34" charset="0"/>
                <a:ea typeface="Courier New" pitchFamily="34" charset="-122"/>
                <a:cs typeface="Courier New" pitchFamily="34" charset="-120"/>
              </a:rPr>
              <a:t>CAS</a:t>
            </a:r>
            <a:endParaRPr lang="en-US" sz="900" dirty="0"/>
          </a:p>
        </p:txBody>
      </p:sp>
      <p:sp>
        <p:nvSpPr>
          <p:cNvPr id="11" name="Shape 9"/>
          <p:cNvSpPr/>
          <p:nvPr/>
        </p:nvSpPr>
        <p:spPr>
          <a:xfrm>
            <a:off x="4539704" y="3662362"/>
            <a:ext cx="3799433" cy="9525"/>
          </a:xfrm>
          <a:prstGeom prst="rect">
            <a:avLst/>
          </a:prstGeom>
          <a:solidFill>
            <a:srgbClr val="213251"/>
          </a:solidFill>
          <a:ln/>
        </p:spPr>
      </p:sp>
      <p:sp>
        <p:nvSpPr>
          <p:cNvPr id="12" name="Text 10"/>
          <p:cNvSpPr/>
          <p:nvPr/>
        </p:nvSpPr>
        <p:spPr>
          <a:xfrm>
            <a:off x="4673054" y="3409950"/>
            <a:ext cx="3646716" cy="185738"/>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7D8AA3"/>
                </a:solidFill>
                <a:latin typeface="Courier New" pitchFamily="34" charset="0"/>
                <a:ea typeface="Courier New" pitchFamily="34" charset="-122"/>
                <a:cs typeface="Courier New" pitchFamily="34" charset="-120"/>
              </a:rPr>
              <a:t>COMPORTEMENT</a:t>
            </a:r>
            <a:endParaRPr lang="en-US" sz="900" dirty="0"/>
          </a:p>
        </p:txBody>
      </p:sp>
      <p:sp>
        <p:nvSpPr>
          <p:cNvPr id="13" name="Shape 11"/>
          <p:cNvSpPr/>
          <p:nvPr/>
        </p:nvSpPr>
        <p:spPr>
          <a:xfrm>
            <a:off x="8339137" y="3662362"/>
            <a:ext cx="1258788" cy="9525"/>
          </a:xfrm>
          <a:prstGeom prst="rect">
            <a:avLst/>
          </a:prstGeom>
          <a:solidFill>
            <a:srgbClr val="213251"/>
          </a:solidFill>
          <a:ln/>
        </p:spPr>
      </p:sp>
      <p:sp>
        <p:nvSpPr>
          <p:cNvPr id="14" name="Text 12"/>
          <p:cNvSpPr/>
          <p:nvPr/>
        </p:nvSpPr>
        <p:spPr>
          <a:xfrm>
            <a:off x="8472488" y="3409950"/>
            <a:ext cx="1068288" cy="185738"/>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7D8AA3"/>
                </a:solidFill>
                <a:latin typeface="Courier New" pitchFamily="34" charset="0"/>
                <a:ea typeface="Courier New" pitchFamily="34" charset="-122"/>
                <a:cs typeface="Courier New" pitchFamily="34" charset="-120"/>
              </a:rPr>
              <a:t>RÉSULTAT</a:t>
            </a:r>
            <a:endParaRPr lang="en-US" sz="900" dirty="0"/>
          </a:p>
        </p:txBody>
      </p:sp>
      <p:sp>
        <p:nvSpPr>
          <p:cNvPr id="15" name="Shape 13"/>
          <p:cNvSpPr/>
          <p:nvPr/>
        </p:nvSpPr>
        <p:spPr>
          <a:xfrm>
            <a:off x="952500" y="4071938"/>
            <a:ext cx="485626" cy="9525"/>
          </a:xfrm>
          <a:prstGeom prst="rect">
            <a:avLst/>
          </a:prstGeom>
          <a:solidFill>
            <a:srgbClr val="213251"/>
          </a:solidFill>
          <a:ln/>
        </p:spPr>
      </p:sp>
      <p:sp>
        <p:nvSpPr>
          <p:cNvPr id="16" name="Text 14"/>
          <p:cNvSpPr/>
          <p:nvPr/>
        </p:nvSpPr>
        <p:spPr>
          <a:xfrm>
            <a:off x="1085850" y="3776662"/>
            <a:ext cx="29512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AA3"/>
                </a:solidFill>
                <a:latin typeface="Courier New" pitchFamily="34" charset="0"/>
                <a:ea typeface="Courier New" pitchFamily="34" charset="-122"/>
                <a:cs typeface="Courier New" pitchFamily="34" charset="-120"/>
              </a:rPr>
              <a:t>1</a:t>
            </a:r>
            <a:endParaRPr lang="en-US" sz="1275" dirty="0"/>
          </a:p>
        </p:txBody>
      </p:sp>
      <p:sp>
        <p:nvSpPr>
          <p:cNvPr id="17" name="Shape 15"/>
          <p:cNvSpPr/>
          <p:nvPr/>
        </p:nvSpPr>
        <p:spPr>
          <a:xfrm>
            <a:off x="1438126" y="4071938"/>
            <a:ext cx="3101578" cy="9525"/>
          </a:xfrm>
          <a:prstGeom prst="rect">
            <a:avLst/>
          </a:prstGeom>
          <a:solidFill>
            <a:srgbClr val="213251"/>
          </a:solidFill>
          <a:ln/>
        </p:spPr>
      </p:sp>
      <p:sp>
        <p:nvSpPr>
          <p:cNvPr id="18" name="Text 16"/>
          <p:cNvSpPr/>
          <p:nvPr/>
        </p:nvSpPr>
        <p:spPr>
          <a:xfrm>
            <a:off x="1571476" y="3776662"/>
            <a:ext cx="29279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9C984"/>
                </a:solidFill>
                <a:latin typeface="Courier New" pitchFamily="34" charset="0"/>
                <a:ea typeface="Courier New" pitchFamily="34" charset="-122"/>
                <a:cs typeface="Courier New" pitchFamily="34" charset="-120"/>
              </a:rPr>
              <a:t>empty_string</a:t>
            </a:r>
            <a:endParaRPr lang="en-US" sz="1125" dirty="0"/>
          </a:p>
        </p:txBody>
      </p:sp>
      <p:sp>
        <p:nvSpPr>
          <p:cNvPr id="19" name="Shape 17"/>
          <p:cNvSpPr/>
          <p:nvPr/>
        </p:nvSpPr>
        <p:spPr>
          <a:xfrm>
            <a:off x="4539704" y="4071938"/>
            <a:ext cx="3799433" cy="9525"/>
          </a:xfrm>
          <a:prstGeom prst="rect">
            <a:avLst/>
          </a:prstGeom>
          <a:solidFill>
            <a:srgbClr val="213251"/>
          </a:solidFill>
          <a:ln/>
        </p:spPr>
      </p:sp>
      <p:sp>
        <p:nvSpPr>
          <p:cNvPr id="20" name="Text 18"/>
          <p:cNvSpPr/>
          <p:nvPr/>
        </p:nvSpPr>
        <p:spPr>
          <a:xfrm>
            <a:off x="4673054" y="3776662"/>
            <a:ext cx="364671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EEF2F8"/>
                </a:solidFill>
                <a:latin typeface="Arial" pitchFamily="34" charset="0"/>
                <a:ea typeface="Arial" pitchFamily="34" charset="-122"/>
                <a:cs typeface="Arial" pitchFamily="34" charset="-120"/>
              </a:rPr>
              <a:t>Rejeté · guardrail "Review is empty"</a:t>
            </a:r>
            <a:endParaRPr lang="en-US" sz="1275" dirty="0"/>
          </a:p>
        </p:txBody>
      </p:sp>
      <p:sp>
        <p:nvSpPr>
          <p:cNvPr id="21" name="Shape 19"/>
          <p:cNvSpPr/>
          <p:nvPr/>
        </p:nvSpPr>
        <p:spPr>
          <a:xfrm>
            <a:off x="8339137" y="4071938"/>
            <a:ext cx="1258788" cy="9525"/>
          </a:xfrm>
          <a:prstGeom prst="rect">
            <a:avLst/>
          </a:prstGeom>
          <a:solidFill>
            <a:srgbClr val="213251"/>
          </a:solidFill>
          <a:ln/>
        </p:spPr>
      </p:sp>
      <p:sp>
        <p:nvSpPr>
          <p:cNvPr id="22" name="Text 20"/>
          <p:cNvSpPr/>
          <p:nvPr/>
        </p:nvSpPr>
        <p:spPr>
          <a:xfrm>
            <a:off x="8472488" y="3776662"/>
            <a:ext cx="1068288" cy="228600"/>
          </a:xfrm>
          <a:prstGeom prst="rect">
            <a:avLst/>
          </a:prstGeom>
          <a:noFill/>
          <a:ln/>
        </p:spPr>
        <p:txBody>
          <a:bodyPr wrap="square" lIns="25400" tIns="25400" rIns="25400" bIns="25400" rtlCol="0" anchor="t">
            <a:normAutofit/>
          </a:bodyPr>
          <a:lstStyle/>
          <a:p>
            <a:pPr algn="l" indent="0" marL="0">
              <a:buNone/>
            </a:pPr>
            <a:r>
              <a:rPr lang="en-US" sz="1050" dirty="0">
                <a:solidFill>
                  <a:srgbClr val="7FB88F"/>
                </a:solidFill>
                <a:latin typeface="Courier New" pitchFamily="34" charset="0"/>
                <a:ea typeface="Courier New" pitchFamily="34" charset="-122"/>
                <a:cs typeface="Courier New" pitchFamily="34" charset="-120"/>
              </a:rPr>
              <a:t>PASS</a:t>
            </a:r>
            <a:endParaRPr lang="en-US" sz="1050" dirty="0"/>
          </a:p>
        </p:txBody>
      </p:sp>
      <p:sp>
        <p:nvSpPr>
          <p:cNvPr id="23" name="Shape 21"/>
          <p:cNvSpPr/>
          <p:nvPr/>
        </p:nvSpPr>
        <p:spPr>
          <a:xfrm>
            <a:off x="952500" y="4481513"/>
            <a:ext cx="485626" cy="9525"/>
          </a:xfrm>
          <a:prstGeom prst="rect">
            <a:avLst/>
          </a:prstGeom>
          <a:solidFill>
            <a:srgbClr val="213251"/>
          </a:solidFill>
          <a:ln/>
        </p:spPr>
      </p:sp>
      <p:sp>
        <p:nvSpPr>
          <p:cNvPr id="24" name="Text 22"/>
          <p:cNvSpPr/>
          <p:nvPr/>
        </p:nvSpPr>
        <p:spPr>
          <a:xfrm>
            <a:off x="1085850" y="4186238"/>
            <a:ext cx="29512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AA3"/>
                </a:solidFill>
                <a:latin typeface="Courier New" pitchFamily="34" charset="0"/>
                <a:ea typeface="Courier New" pitchFamily="34" charset="-122"/>
                <a:cs typeface="Courier New" pitchFamily="34" charset="-120"/>
              </a:rPr>
              <a:t>2</a:t>
            </a:r>
            <a:endParaRPr lang="en-US" sz="1275" dirty="0"/>
          </a:p>
        </p:txBody>
      </p:sp>
      <p:sp>
        <p:nvSpPr>
          <p:cNvPr id="25" name="Shape 23"/>
          <p:cNvSpPr/>
          <p:nvPr/>
        </p:nvSpPr>
        <p:spPr>
          <a:xfrm>
            <a:off x="1438126" y="4481513"/>
            <a:ext cx="3101578" cy="9525"/>
          </a:xfrm>
          <a:prstGeom prst="rect">
            <a:avLst/>
          </a:prstGeom>
          <a:solidFill>
            <a:srgbClr val="213251"/>
          </a:solidFill>
          <a:ln/>
        </p:spPr>
      </p:sp>
      <p:sp>
        <p:nvSpPr>
          <p:cNvPr id="26" name="Text 24"/>
          <p:cNvSpPr/>
          <p:nvPr/>
        </p:nvSpPr>
        <p:spPr>
          <a:xfrm>
            <a:off x="1571476" y="4186238"/>
            <a:ext cx="29279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9C984"/>
                </a:solidFill>
                <a:latin typeface="Courier New" pitchFamily="34" charset="0"/>
                <a:ea typeface="Courier New" pitchFamily="34" charset="-122"/>
                <a:cs typeface="Courier New" pitchFamily="34" charset="-120"/>
              </a:rPr>
              <a:t>very_long (~600 mots)</a:t>
            </a:r>
            <a:endParaRPr lang="en-US" sz="1125" dirty="0"/>
          </a:p>
        </p:txBody>
      </p:sp>
      <p:sp>
        <p:nvSpPr>
          <p:cNvPr id="27" name="Shape 25"/>
          <p:cNvSpPr/>
          <p:nvPr/>
        </p:nvSpPr>
        <p:spPr>
          <a:xfrm>
            <a:off x="4539704" y="4481513"/>
            <a:ext cx="3799433" cy="9525"/>
          </a:xfrm>
          <a:prstGeom prst="rect">
            <a:avLst/>
          </a:prstGeom>
          <a:solidFill>
            <a:srgbClr val="213251"/>
          </a:solidFill>
          <a:ln/>
        </p:spPr>
      </p:sp>
      <p:sp>
        <p:nvSpPr>
          <p:cNvPr id="28" name="Text 26"/>
          <p:cNvSpPr/>
          <p:nvPr/>
        </p:nvSpPr>
        <p:spPr>
          <a:xfrm>
            <a:off x="4673054" y="4186238"/>
            <a:ext cx="364671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EEF2F8"/>
                </a:solidFill>
                <a:latin typeface="Arial" pitchFamily="34" charset="0"/>
                <a:ea typeface="Arial" pitchFamily="34" charset="-122"/>
                <a:cs typeface="Arial" pitchFamily="34" charset="-120"/>
              </a:rPr>
              <a:t>Pipeline complet · positif 0.953</a:t>
            </a:r>
            <a:endParaRPr lang="en-US" sz="1275" dirty="0"/>
          </a:p>
        </p:txBody>
      </p:sp>
      <p:sp>
        <p:nvSpPr>
          <p:cNvPr id="29" name="Shape 27"/>
          <p:cNvSpPr/>
          <p:nvPr/>
        </p:nvSpPr>
        <p:spPr>
          <a:xfrm>
            <a:off x="8339137" y="4481513"/>
            <a:ext cx="1258788" cy="9525"/>
          </a:xfrm>
          <a:prstGeom prst="rect">
            <a:avLst/>
          </a:prstGeom>
          <a:solidFill>
            <a:srgbClr val="213251"/>
          </a:solidFill>
          <a:ln/>
        </p:spPr>
      </p:sp>
      <p:sp>
        <p:nvSpPr>
          <p:cNvPr id="30" name="Text 28"/>
          <p:cNvSpPr/>
          <p:nvPr/>
        </p:nvSpPr>
        <p:spPr>
          <a:xfrm>
            <a:off x="8472488" y="4186238"/>
            <a:ext cx="1068288" cy="228600"/>
          </a:xfrm>
          <a:prstGeom prst="rect">
            <a:avLst/>
          </a:prstGeom>
          <a:noFill/>
          <a:ln/>
        </p:spPr>
        <p:txBody>
          <a:bodyPr wrap="square" lIns="25400" tIns="25400" rIns="25400" bIns="25400" rtlCol="0" anchor="t">
            <a:normAutofit/>
          </a:bodyPr>
          <a:lstStyle/>
          <a:p>
            <a:pPr algn="l" indent="0" marL="0">
              <a:buNone/>
            </a:pPr>
            <a:r>
              <a:rPr lang="en-US" sz="1050" dirty="0">
                <a:solidFill>
                  <a:srgbClr val="7FB88F"/>
                </a:solidFill>
                <a:latin typeface="Courier New" pitchFamily="34" charset="0"/>
                <a:ea typeface="Courier New" pitchFamily="34" charset="-122"/>
                <a:cs typeface="Courier New" pitchFamily="34" charset="-120"/>
              </a:rPr>
              <a:t>PASS</a:t>
            </a:r>
            <a:endParaRPr lang="en-US" sz="1050" dirty="0"/>
          </a:p>
        </p:txBody>
      </p:sp>
      <p:sp>
        <p:nvSpPr>
          <p:cNvPr id="31" name="Shape 29"/>
          <p:cNvSpPr/>
          <p:nvPr/>
        </p:nvSpPr>
        <p:spPr>
          <a:xfrm>
            <a:off x="952500" y="4891088"/>
            <a:ext cx="485626" cy="9525"/>
          </a:xfrm>
          <a:prstGeom prst="rect">
            <a:avLst/>
          </a:prstGeom>
          <a:solidFill>
            <a:srgbClr val="213251"/>
          </a:solidFill>
          <a:ln/>
        </p:spPr>
      </p:sp>
      <p:sp>
        <p:nvSpPr>
          <p:cNvPr id="32" name="Text 30"/>
          <p:cNvSpPr/>
          <p:nvPr/>
        </p:nvSpPr>
        <p:spPr>
          <a:xfrm>
            <a:off x="1085850" y="4595812"/>
            <a:ext cx="29512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AA3"/>
                </a:solidFill>
                <a:latin typeface="Courier New" pitchFamily="34" charset="0"/>
                <a:ea typeface="Courier New" pitchFamily="34" charset="-122"/>
                <a:cs typeface="Courier New" pitchFamily="34" charset="-120"/>
              </a:rPr>
              <a:t>3</a:t>
            </a:r>
            <a:endParaRPr lang="en-US" sz="1275" dirty="0"/>
          </a:p>
        </p:txBody>
      </p:sp>
      <p:sp>
        <p:nvSpPr>
          <p:cNvPr id="33" name="Shape 31"/>
          <p:cNvSpPr/>
          <p:nvPr/>
        </p:nvSpPr>
        <p:spPr>
          <a:xfrm>
            <a:off x="1438126" y="4891088"/>
            <a:ext cx="3101578" cy="9525"/>
          </a:xfrm>
          <a:prstGeom prst="rect">
            <a:avLst/>
          </a:prstGeom>
          <a:solidFill>
            <a:srgbClr val="213251"/>
          </a:solidFill>
          <a:ln/>
        </p:spPr>
      </p:sp>
      <p:sp>
        <p:nvSpPr>
          <p:cNvPr id="34" name="Text 32"/>
          <p:cNvSpPr/>
          <p:nvPr/>
        </p:nvSpPr>
        <p:spPr>
          <a:xfrm>
            <a:off x="1571476" y="4595812"/>
            <a:ext cx="29279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9C984"/>
                </a:solidFill>
                <a:latin typeface="Courier New" pitchFamily="34" charset="0"/>
                <a:ea typeface="Courier New" pitchFamily="34" charset="-122"/>
                <a:cs typeface="Courier New" pitchFamily="34" charset="-120"/>
              </a:rPr>
              <a:t>non_english_french</a:t>
            </a:r>
            <a:endParaRPr lang="en-US" sz="1125" dirty="0"/>
          </a:p>
        </p:txBody>
      </p:sp>
      <p:sp>
        <p:nvSpPr>
          <p:cNvPr id="35" name="Shape 33"/>
          <p:cNvSpPr/>
          <p:nvPr/>
        </p:nvSpPr>
        <p:spPr>
          <a:xfrm>
            <a:off x="4539704" y="4891088"/>
            <a:ext cx="3799433" cy="9525"/>
          </a:xfrm>
          <a:prstGeom prst="rect">
            <a:avLst/>
          </a:prstGeom>
          <a:solidFill>
            <a:srgbClr val="213251"/>
          </a:solidFill>
          <a:ln/>
        </p:spPr>
      </p:sp>
      <p:sp>
        <p:nvSpPr>
          <p:cNvPr id="36" name="Text 34"/>
          <p:cNvSpPr/>
          <p:nvPr/>
        </p:nvSpPr>
        <p:spPr>
          <a:xfrm>
            <a:off x="4673054" y="4595812"/>
            <a:ext cx="364671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EEF2F8"/>
                </a:solidFill>
                <a:latin typeface="Arial" pitchFamily="34" charset="0"/>
                <a:ea typeface="Arial" pitchFamily="34" charset="-122"/>
                <a:cs typeface="Arial" pitchFamily="34" charset="-120"/>
              </a:rPr>
              <a:t>Pipeline complet · positif 0.982</a:t>
            </a:r>
            <a:endParaRPr lang="en-US" sz="1275" dirty="0"/>
          </a:p>
        </p:txBody>
      </p:sp>
      <p:sp>
        <p:nvSpPr>
          <p:cNvPr id="37" name="Shape 35"/>
          <p:cNvSpPr/>
          <p:nvPr/>
        </p:nvSpPr>
        <p:spPr>
          <a:xfrm>
            <a:off x="8339137" y="4891088"/>
            <a:ext cx="1258788" cy="9525"/>
          </a:xfrm>
          <a:prstGeom prst="rect">
            <a:avLst/>
          </a:prstGeom>
          <a:solidFill>
            <a:srgbClr val="213251"/>
          </a:solidFill>
          <a:ln/>
        </p:spPr>
      </p:sp>
      <p:sp>
        <p:nvSpPr>
          <p:cNvPr id="38" name="Text 36"/>
          <p:cNvSpPr/>
          <p:nvPr/>
        </p:nvSpPr>
        <p:spPr>
          <a:xfrm>
            <a:off x="8472488" y="4595812"/>
            <a:ext cx="1068288" cy="228600"/>
          </a:xfrm>
          <a:prstGeom prst="rect">
            <a:avLst/>
          </a:prstGeom>
          <a:noFill/>
          <a:ln/>
        </p:spPr>
        <p:txBody>
          <a:bodyPr wrap="square" lIns="25400" tIns="25400" rIns="25400" bIns="25400" rtlCol="0" anchor="t">
            <a:normAutofit/>
          </a:bodyPr>
          <a:lstStyle/>
          <a:p>
            <a:pPr algn="l" indent="0" marL="0">
              <a:buNone/>
            </a:pPr>
            <a:r>
              <a:rPr lang="en-US" sz="1050" dirty="0">
                <a:solidFill>
                  <a:srgbClr val="7FB88F"/>
                </a:solidFill>
                <a:latin typeface="Courier New" pitchFamily="34" charset="0"/>
                <a:ea typeface="Courier New" pitchFamily="34" charset="-122"/>
                <a:cs typeface="Courier New" pitchFamily="34" charset="-120"/>
              </a:rPr>
              <a:t>PASS</a:t>
            </a:r>
            <a:endParaRPr lang="en-US" sz="1050" dirty="0"/>
          </a:p>
        </p:txBody>
      </p:sp>
      <p:sp>
        <p:nvSpPr>
          <p:cNvPr id="39" name="Shape 37"/>
          <p:cNvSpPr/>
          <p:nvPr/>
        </p:nvSpPr>
        <p:spPr>
          <a:xfrm>
            <a:off x="952500" y="5300663"/>
            <a:ext cx="485626" cy="9525"/>
          </a:xfrm>
          <a:prstGeom prst="rect">
            <a:avLst/>
          </a:prstGeom>
          <a:solidFill>
            <a:srgbClr val="213251"/>
          </a:solidFill>
          <a:ln/>
        </p:spPr>
      </p:sp>
      <p:sp>
        <p:nvSpPr>
          <p:cNvPr id="40" name="Text 38"/>
          <p:cNvSpPr/>
          <p:nvPr/>
        </p:nvSpPr>
        <p:spPr>
          <a:xfrm>
            <a:off x="1085850" y="5005388"/>
            <a:ext cx="29512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AA3"/>
                </a:solidFill>
                <a:latin typeface="Courier New" pitchFamily="34" charset="0"/>
                <a:ea typeface="Courier New" pitchFamily="34" charset="-122"/>
                <a:cs typeface="Courier New" pitchFamily="34" charset="-120"/>
              </a:rPr>
              <a:t>4</a:t>
            </a:r>
            <a:endParaRPr lang="en-US" sz="1275" dirty="0"/>
          </a:p>
        </p:txBody>
      </p:sp>
      <p:sp>
        <p:nvSpPr>
          <p:cNvPr id="41" name="Shape 39"/>
          <p:cNvSpPr/>
          <p:nvPr/>
        </p:nvSpPr>
        <p:spPr>
          <a:xfrm>
            <a:off x="1438126" y="5300663"/>
            <a:ext cx="3101578" cy="9525"/>
          </a:xfrm>
          <a:prstGeom prst="rect">
            <a:avLst/>
          </a:prstGeom>
          <a:solidFill>
            <a:srgbClr val="213251"/>
          </a:solidFill>
          <a:ln/>
        </p:spPr>
      </p:sp>
      <p:sp>
        <p:nvSpPr>
          <p:cNvPr id="42" name="Text 40"/>
          <p:cNvSpPr/>
          <p:nvPr/>
        </p:nvSpPr>
        <p:spPr>
          <a:xfrm>
            <a:off x="1571476" y="5005388"/>
            <a:ext cx="29279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9C984"/>
                </a:solidFill>
                <a:latin typeface="Courier New" pitchFamily="34" charset="0"/>
                <a:ea typeface="Courier New" pitchFamily="34" charset="-122"/>
                <a:cs typeface="Courier New" pitchFamily="34" charset="-120"/>
              </a:rPr>
              <a:t>abusive_offensive</a:t>
            </a:r>
            <a:endParaRPr lang="en-US" sz="1125" dirty="0"/>
          </a:p>
        </p:txBody>
      </p:sp>
      <p:sp>
        <p:nvSpPr>
          <p:cNvPr id="43" name="Shape 41"/>
          <p:cNvSpPr/>
          <p:nvPr/>
        </p:nvSpPr>
        <p:spPr>
          <a:xfrm>
            <a:off x="4539704" y="5300663"/>
            <a:ext cx="3799433" cy="9525"/>
          </a:xfrm>
          <a:prstGeom prst="rect">
            <a:avLst/>
          </a:prstGeom>
          <a:solidFill>
            <a:srgbClr val="213251"/>
          </a:solidFill>
          <a:ln/>
        </p:spPr>
      </p:sp>
      <p:sp>
        <p:nvSpPr>
          <p:cNvPr id="44" name="Text 42"/>
          <p:cNvSpPr/>
          <p:nvPr/>
        </p:nvSpPr>
        <p:spPr>
          <a:xfrm>
            <a:off x="4673054" y="5005388"/>
            <a:ext cx="364671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EEF2F8"/>
                </a:solidFill>
                <a:latin typeface="Arial" pitchFamily="34" charset="0"/>
                <a:ea typeface="Arial" pitchFamily="34" charset="-122"/>
                <a:cs typeface="Arial" pitchFamily="34" charset="-120"/>
              </a:rPr>
              <a:t>Pipeline complet · négatif 0.939</a:t>
            </a:r>
            <a:endParaRPr lang="en-US" sz="1275" dirty="0"/>
          </a:p>
        </p:txBody>
      </p:sp>
      <p:sp>
        <p:nvSpPr>
          <p:cNvPr id="45" name="Shape 43"/>
          <p:cNvSpPr/>
          <p:nvPr/>
        </p:nvSpPr>
        <p:spPr>
          <a:xfrm>
            <a:off x="8339137" y="5300663"/>
            <a:ext cx="1258788" cy="9525"/>
          </a:xfrm>
          <a:prstGeom prst="rect">
            <a:avLst/>
          </a:prstGeom>
          <a:solidFill>
            <a:srgbClr val="213251"/>
          </a:solidFill>
          <a:ln/>
        </p:spPr>
      </p:sp>
      <p:sp>
        <p:nvSpPr>
          <p:cNvPr id="46" name="Text 44"/>
          <p:cNvSpPr/>
          <p:nvPr/>
        </p:nvSpPr>
        <p:spPr>
          <a:xfrm>
            <a:off x="8472488" y="5005388"/>
            <a:ext cx="1068288" cy="228600"/>
          </a:xfrm>
          <a:prstGeom prst="rect">
            <a:avLst/>
          </a:prstGeom>
          <a:noFill/>
          <a:ln/>
        </p:spPr>
        <p:txBody>
          <a:bodyPr wrap="square" lIns="25400" tIns="25400" rIns="25400" bIns="25400" rtlCol="0" anchor="t">
            <a:normAutofit/>
          </a:bodyPr>
          <a:lstStyle/>
          <a:p>
            <a:pPr algn="l" indent="0" marL="0">
              <a:buNone/>
            </a:pPr>
            <a:r>
              <a:rPr lang="en-US" sz="1050" dirty="0">
                <a:solidFill>
                  <a:srgbClr val="7FB88F"/>
                </a:solidFill>
                <a:latin typeface="Courier New" pitchFamily="34" charset="0"/>
                <a:ea typeface="Courier New" pitchFamily="34" charset="-122"/>
                <a:cs typeface="Courier New" pitchFamily="34" charset="-120"/>
              </a:rPr>
              <a:t>PASS</a:t>
            </a:r>
            <a:endParaRPr lang="en-US" sz="1050" dirty="0"/>
          </a:p>
        </p:txBody>
      </p:sp>
      <p:sp>
        <p:nvSpPr>
          <p:cNvPr id="47" name="Shape 45"/>
          <p:cNvSpPr/>
          <p:nvPr/>
        </p:nvSpPr>
        <p:spPr>
          <a:xfrm>
            <a:off x="952500" y="5710238"/>
            <a:ext cx="485626" cy="9525"/>
          </a:xfrm>
          <a:prstGeom prst="rect">
            <a:avLst/>
          </a:prstGeom>
          <a:solidFill>
            <a:srgbClr val="213251"/>
          </a:solidFill>
          <a:ln/>
        </p:spPr>
      </p:sp>
      <p:sp>
        <p:nvSpPr>
          <p:cNvPr id="48" name="Text 46"/>
          <p:cNvSpPr/>
          <p:nvPr/>
        </p:nvSpPr>
        <p:spPr>
          <a:xfrm>
            <a:off x="1085850" y="5414963"/>
            <a:ext cx="29512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AA3"/>
                </a:solidFill>
                <a:latin typeface="Courier New" pitchFamily="34" charset="0"/>
                <a:ea typeface="Courier New" pitchFamily="34" charset="-122"/>
                <a:cs typeface="Courier New" pitchFamily="34" charset="-120"/>
              </a:rPr>
              <a:t>5</a:t>
            </a:r>
            <a:endParaRPr lang="en-US" sz="1275" dirty="0"/>
          </a:p>
        </p:txBody>
      </p:sp>
      <p:sp>
        <p:nvSpPr>
          <p:cNvPr id="49" name="Shape 47"/>
          <p:cNvSpPr/>
          <p:nvPr/>
        </p:nvSpPr>
        <p:spPr>
          <a:xfrm>
            <a:off x="1438126" y="5710238"/>
            <a:ext cx="3101578" cy="9525"/>
          </a:xfrm>
          <a:prstGeom prst="rect">
            <a:avLst/>
          </a:prstGeom>
          <a:solidFill>
            <a:srgbClr val="213251"/>
          </a:solidFill>
          <a:ln/>
        </p:spPr>
      </p:sp>
      <p:sp>
        <p:nvSpPr>
          <p:cNvPr id="50" name="Text 48"/>
          <p:cNvSpPr/>
          <p:nvPr/>
        </p:nvSpPr>
        <p:spPr>
          <a:xfrm>
            <a:off x="1571476" y="5414963"/>
            <a:ext cx="29279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9C984"/>
                </a:solidFill>
                <a:latin typeface="Courier New" pitchFamily="34" charset="0"/>
                <a:ea typeface="Courier New" pitchFamily="34" charset="-122"/>
                <a:cs typeface="Courier New" pitchFamily="34" charset="-120"/>
              </a:rPr>
              <a:t>numbers_only "5 5 5 5 5"</a:t>
            </a:r>
            <a:endParaRPr lang="en-US" sz="1125" dirty="0"/>
          </a:p>
        </p:txBody>
      </p:sp>
      <p:sp>
        <p:nvSpPr>
          <p:cNvPr id="51" name="Shape 49"/>
          <p:cNvSpPr/>
          <p:nvPr/>
        </p:nvSpPr>
        <p:spPr>
          <a:xfrm>
            <a:off x="4539704" y="5710238"/>
            <a:ext cx="3799433" cy="9525"/>
          </a:xfrm>
          <a:prstGeom prst="rect">
            <a:avLst/>
          </a:prstGeom>
          <a:solidFill>
            <a:srgbClr val="213251"/>
          </a:solidFill>
          <a:ln/>
        </p:spPr>
      </p:sp>
      <p:sp>
        <p:nvSpPr>
          <p:cNvPr id="52" name="Text 50"/>
          <p:cNvSpPr/>
          <p:nvPr/>
        </p:nvSpPr>
        <p:spPr>
          <a:xfrm>
            <a:off x="4673054" y="5414963"/>
            <a:ext cx="364671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EEF2F8"/>
                </a:solidFill>
                <a:latin typeface="Arial" pitchFamily="34" charset="0"/>
                <a:ea typeface="Arial" pitchFamily="34" charset="-122"/>
                <a:cs typeface="Arial" pitchFamily="34" charset="-120"/>
              </a:rPr>
              <a:t>Positif 0.979 · failure mode connue</a:t>
            </a:r>
            <a:endParaRPr lang="en-US" sz="1275" dirty="0"/>
          </a:p>
        </p:txBody>
      </p:sp>
      <p:sp>
        <p:nvSpPr>
          <p:cNvPr id="53" name="Shape 51"/>
          <p:cNvSpPr/>
          <p:nvPr/>
        </p:nvSpPr>
        <p:spPr>
          <a:xfrm>
            <a:off x="8339137" y="5710238"/>
            <a:ext cx="1258788" cy="9525"/>
          </a:xfrm>
          <a:prstGeom prst="rect">
            <a:avLst/>
          </a:prstGeom>
          <a:solidFill>
            <a:srgbClr val="213251"/>
          </a:solidFill>
          <a:ln/>
        </p:spPr>
      </p:sp>
      <p:sp>
        <p:nvSpPr>
          <p:cNvPr id="54" name="Text 52"/>
          <p:cNvSpPr/>
          <p:nvPr/>
        </p:nvSpPr>
        <p:spPr>
          <a:xfrm>
            <a:off x="8472488" y="5414963"/>
            <a:ext cx="1068288" cy="228600"/>
          </a:xfrm>
          <a:prstGeom prst="rect">
            <a:avLst/>
          </a:prstGeom>
          <a:noFill/>
          <a:ln/>
        </p:spPr>
        <p:txBody>
          <a:bodyPr wrap="square" lIns="25400" tIns="25400" rIns="25400" bIns="25400" rtlCol="0" anchor="t">
            <a:normAutofit/>
          </a:bodyPr>
          <a:lstStyle/>
          <a:p>
            <a:pPr algn="l" indent="0" marL="0">
              <a:buNone/>
            </a:pPr>
            <a:r>
              <a:rPr lang="en-US" sz="1050" dirty="0">
                <a:solidFill>
                  <a:srgbClr val="7FB88F"/>
                </a:solidFill>
                <a:latin typeface="Courier New" pitchFamily="34" charset="0"/>
                <a:ea typeface="Courier New" pitchFamily="34" charset="-122"/>
                <a:cs typeface="Courier New" pitchFamily="34" charset="-120"/>
              </a:rPr>
              <a:t>PASS</a:t>
            </a:r>
            <a:endParaRPr lang="en-US" sz="1050" dirty="0"/>
          </a:p>
        </p:txBody>
      </p:sp>
      <p:sp>
        <p:nvSpPr>
          <p:cNvPr id="55" name="Shape 53"/>
          <p:cNvSpPr/>
          <p:nvPr/>
        </p:nvSpPr>
        <p:spPr>
          <a:xfrm>
            <a:off x="952500" y="6119813"/>
            <a:ext cx="485626" cy="9525"/>
          </a:xfrm>
          <a:prstGeom prst="rect">
            <a:avLst/>
          </a:prstGeom>
          <a:solidFill>
            <a:srgbClr val="213251"/>
          </a:solidFill>
          <a:ln/>
        </p:spPr>
      </p:sp>
      <p:sp>
        <p:nvSpPr>
          <p:cNvPr id="56" name="Text 54"/>
          <p:cNvSpPr/>
          <p:nvPr/>
        </p:nvSpPr>
        <p:spPr>
          <a:xfrm>
            <a:off x="1085850" y="5824537"/>
            <a:ext cx="29512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7D8AA3"/>
                </a:solidFill>
                <a:latin typeface="Courier New" pitchFamily="34" charset="0"/>
                <a:ea typeface="Courier New" pitchFamily="34" charset="-122"/>
                <a:cs typeface="Courier New" pitchFamily="34" charset="-120"/>
              </a:rPr>
              <a:t>6</a:t>
            </a:r>
            <a:endParaRPr lang="en-US" sz="1275" dirty="0"/>
          </a:p>
        </p:txBody>
      </p:sp>
      <p:sp>
        <p:nvSpPr>
          <p:cNvPr id="57" name="Shape 55"/>
          <p:cNvSpPr/>
          <p:nvPr/>
        </p:nvSpPr>
        <p:spPr>
          <a:xfrm>
            <a:off x="1438126" y="6119813"/>
            <a:ext cx="3101578" cy="9525"/>
          </a:xfrm>
          <a:prstGeom prst="rect">
            <a:avLst/>
          </a:prstGeom>
          <a:solidFill>
            <a:srgbClr val="213251"/>
          </a:solidFill>
          <a:ln/>
        </p:spPr>
      </p:sp>
      <p:sp>
        <p:nvSpPr>
          <p:cNvPr id="58" name="Text 56"/>
          <p:cNvSpPr/>
          <p:nvPr/>
        </p:nvSpPr>
        <p:spPr>
          <a:xfrm>
            <a:off x="1571476" y="5824537"/>
            <a:ext cx="2927925"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9C984"/>
                </a:solidFill>
                <a:latin typeface="Courier New" pitchFamily="34" charset="0"/>
                <a:ea typeface="Courier New" pitchFamily="34" charset="-122"/>
                <a:cs typeface="Courier New" pitchFamily="34" charset="-120"/>
              </a:rPr>
              <a:t>single_word "Good"</a:t>
            </a:r>
            <a:endParaRPr lang="en-US" sz="1125" dirty="0"/>
          </a:p>
        </p:txBody>
      </p:sp>
      <p:sp>
        <p:nvSpPr>
          <p:cNvPr id="59" name="Shape 57"/>
          <p:cNvSpPr/>
          <p:nvPr/>
        </p:nvSpPr>
        <p:spPr>
          <a:xfrm>
            <a:off x="4539704" y="6119813"/>
            <a:ext cx="3799433" cy="9525"/>
          </a:xfrm>
          <a:prstGeom prst="rect">
            <a:avLst/>
          </a:prstGeom>
          <a:solidFill>
            <a:srgbClr val="213251"/>
          </a:solidFill>
          <a:ln/>
        </p:spPr>
      </p:sp>
      <p:sp>
        <p:nvSpPr>
          <p:cNvPr id="60" name="Text 58"/>
          <p:cNvSpPr/>
          <p:nvPr/>
        </p:nvSpPr>
        <p:spPr>
          <a:xfrm>
            <a:off x="4673054" y="5824537"/>
            <a:ext cx="3646716" cy="228600"/>
          </a:xfrm>
          <a:prstGeom prst="rect">
            <a:avLst/>
          </a:prstGeom>
          <a:noFill/>
          <a:ln/>
        </p:spPr>
        <p:txBody>
          <a:bodyPr wrap="square" lIns="25400" tIns="25400" rIns="25400" bIns="25400" rtlCol="0" anchor="t">
            <a:normAutofit/>
          </a:bodyPr>
          <a:lstStyle/>
          <a:p>
            <a:pPr algn="l" indent="0" marL="0">
              <a:buNone/>
            </a:pPr>
            <a:r>
              <a:rPr lang="en-US" sz="1275" dirty="0">
                <a:solidFill>
                  <a:srgbClr val="EEF2F8"/>
                </a:solidFill>
                <a:latin typeface="Arial" pitchFamily="34" charset="0"/>
                <a:ea typeface="Arial" pitchFamily="34" charset="-122"/>
                <a:cs typeface="Arial" pitchFamily="34" charset="-120"/>
              </a:rPr>
              <a:t>Rejeté · 1 mot &lt; min 3</a:t>
            </a:r>
            <a:endParaRPr lang="en-US" sz="1275" dirty="0"/>
          </a:p>
        </p:txBody>
      </p:sp>
      <p:sp>
        <p:nvSpPr>
          <p:cNvPr id="61" name="Shape 59"/>
          <p:cNvSpPr/>
          <p:nvPr/>
        </p:nvSpPr>
        <p:spPr>
          <a:xfrm>
            <a:off x="8339137" y="6119813"/>
            <a:ext cx="1258788" cy="9525"/>
          </a:xfrm>
          <a:prstGeom prst="rect">
            <a:avLst/>
          </a:prstGeom>
          <a:solidFill>
            <a:srgbClr val="213251"/>
          </a:solidFill>
          <a:ln/>
        </p:spPr>
      </p:sp>
      <p:sp>
        <p:nvSpPr>
          <p:cNvPr id="62" name="Text 60"/>
          <p:cNvSpPr/>
          <p:nvPr/>
        </p:nvSpPr>
        <p:spPr>
          <a:xfrm>
            <a:off x="8472488" y="5824537"/>
            <a:ext cx="1068288" cy="228600"/>
          </a:xfrm>
          <a:prstGeom prst="rect">
            <a:avLst/>
          </a:prstGeom>
          <a:noFill/>
          <a:ln/>
        </p:spPr>
        <p:txBody>
          <a:bodyPr wrap="square" lIns="25400" tIns="25400" rIns="25400" bIns="25400" rtlCol="0" anchor="t">
            <a:normAutofit/>
          </a:bodyPr>
          <a:lstStyle/>
          <a:p>
            <a:pPr algn="l" indent="0" marL="0">
              <a:buNone/>
            </a:pPr>
            <a:r>
              <a:rPr lang="en-US" sz="1050" dirty="0">
                <a:solidFill>
                  <a:srgbClr val="7FB88F"/>
                </a:solidFill>
                <a:latin typeface="Courier New" pitchFamily="34" charset="0"/>
                <a:ea typeface="Courier New" pitchFamily="34" charset="-122"/>
                <a:cs typeface="Courier New" pitchFamily="34" charset="-120"/>
              </a:rPr>
              <a:t>PASS</a:t>
            </a:r>
            <a:endParaRPr lang="en-US" sz="1050" dirty="0"/>
          </a:p>
        </p:txBody>
      </p:sp>
      <p:sp>
        <p:nvSpPr>
          <p:cNvPr id="63" name="Shape 61"/>
          <p:cNvSpPr/>
          <p:nvPr/>
        </p:nvSpPr>
        <p:spPr>
          <a:xfrm>
            <a:off x="952500" y="6305550"/>
            <a:ext cx="3909417" cy="523875"/>
          </a:xfrm>
          <a:prstGeom prst="rect">
            <a:avLst/>
          </a:prstGeom>
          <a:solidFill>
            <a:srgbClr val="D4B06A">
              <a:alpha val="14000"/>
            </a:srgbClr>
          </a:solidFill>
          <a:ln w="9525">
            <a:solidFill>
              <a:srgbClr val="D4B06A"/>
            </a:solidFill>
            <a:prstDash val="solid"/>
          </a:ln>
        </p:spPr>
      </p:sp>
      <p:sp>
        <p:nvSpPr>
          <p:cNvPr id="64" name="Text 62"/>
          <p:cNvSpPr/>
          <p:nvPr/>
        </p:nvSpPr>
        <p:spPr>
          <a:xfrm>
            <a:off x="1171575" y="6477000"/>
            <a:ext cx="610642" cy="219075"/>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E9C984"/>
                </a:solidFill>
                <a:latin typeface="Courier New" pitchFamily="34" charset="0"/>
                <a:ea typeface="Courier New" pitchFamily="34" charset="-122"/>
                <a:cs typeface="Courier New" pitchFamily="34" charset="-120"/>
              </a:rPr>
              <a:t>Total</a:t>
            </a:r>
            <a:endParaRPr lang="en-US" sz="1275" dirty="0"/>
          </a:p>
        </p:txBody>
      </p:sp>
      <p:sp>
        <p:nvSpPr>
          <p:cNvPr id="65" name="Text 63"/>
          <p:cNvSpPr/>
          <p:nvPr/>
        </p:nvSpPr>
        <p:spPr>
          <a:xfrm>
            <a:off x="1820317" y="6429375"/>
            <a:ext cx="753517" cy="314325"/>
          </a:xfrm>
          <a:prstGeom prst="rect">
            <a:avLst/>
          </a:prstGeom>
          <a:noFill/>
          <a:ln/>
        </p:spPr>
        <p:txBody>
          <a:bodyPr wrap="square" lIns="25400" tIns="25400" rIns="25400" bIns="25400" rtlCol="0" anchor="t">
            <a:normAutofit/>
          </a:bodyPr>
          <a:lstStyle/>
          <a:p>
            <a:pPr algn="l" indent="0" marL="0">
              <a:buNone/>
            </a:pPr>
            <a:r>
              <a:rPr lang="en-US" sz="1650" b="1" spc="77" kern="0" dirty="0">
                <a:solidFill>
                  <a:srgbClr val="D4B06A"/>
                </a:solidFill>
                <a:latin typeface="Courier New" pitchFamily="34" charset="0"/>
                <a:ea typeface="Courier New" pitchFamily="34" charset="-122"/>
                <a:cs typeface="Courier New" pitchFamily="34" charset="-120"/>
              </a:rPr>
              <a:t>6 / 6</a:t>
            </a:r>
            <a:endParaRPr lang="en-US" sz="1650" dirty="0"/>
          </a:p>
        </p:txBody>
      </p:sp>
      <p:sp>
        <p:nvSpPr>
          <p:cNvPr id="66" name="Text 64"/>
          <p:cNvSpPr/>
          <p:nvPr/>
        </p:nvSpPr>
        <p:spPr>
          <a:xfrm>
            <a:off x="2611934" y="6477000"/>
            <a:ext cx="2107109" cy="219075"/>
          </a:xfrm>
          <a:prstGeom prst="rect">
            <a:avLst/>
          </a:prstGeom>
          <a:noFill/>
          <a:ln/>
        </p:spPr>
        <p:txBody>
          <a:bodyPr wrap="square" lIns="25400" tIns="25400" rIns="25400" bIns="25400" rtlCol="0" anchor="t">
            <a:normAutofit/>
          </a:bodyPr>
          <a:lstStyle/>
          <a:p>
            <a:pPr algn="l" indent="0" marL="0">
              <a:buNone/>
            </a:pPr>
            <a:r>
              <a:rPr lang="en-US" sz="1275" spc="77" kern="0" dirty="0">
                <a:solidFill>
                  <a:srgbClr val="E9C984"/>
                </a:solidFill>
                <a:latin typeface="Courier New" pitchFamily="34" charset="0"/>
                <a:ea typeface="Courier New" pitchFamily="34" charset="-122"/>
                <a:cs typeface="Courier New" pitchFamily="34" charset="-120"/>
              </a:rPr>
              <a:t>passed — zéro crash</a:t>
            </a:r>
            <a:endParaRPr lang="en-US" sz="1275" dirty="0"/>
          </a:p>
        </p:txBody>
      </p:sp>
      <p:sp>
        <p:nvSpPr>
          <p:cNvPr id="67" name="Text 65"/>
          <p:cNvSpPr/>
          <p:nvPr/>
        </p:nvSpPr>
        <p:spPr>
          <a:xfrm>
            <a:off x="10131028" y="2876550"/>
            <a:ext cx="7420453"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D4B06A"/>
                </a:solidFill>
                <a:latin typeface="Courier New" pitchFamily="34" charset="0"/>
                <a:ea typeface="Courier New" pitchFamily="34" charset="-122"/>
                <a:cs typeface="Courier New" pitchFamily="34" charset="-120"/>
              </a:rPr>
              <a:t>STRATÉGIE EN COUCHES</a:t>
            </a:r>
            <a:endParaRPr lang="en-US" sz="1650" dirty="0"/>
          </a:p>
        </p:txBody>
      </p:sp>
      <p:sp>
        <p:nvSpPr>
          <p:cNvPr id="68" name="Shape 66"/>
          <p:cNvSpPr/>
          <p:nvPr/>
        </p:nvSpPr>
        <p:spPr>
          <a:xfrm>
            <a:off x="10131028" y="3305175"/>
            <a:ext cx="7204323" cy="581025"/>
          </a:xfrm>
          <a:prstGeom prst="rect">
            <a:avLst/>
          </a:prstGeom>
          <a:solidFill>
            <a:srgbClr val="0F1B30"/>
          </a:solidFill>
          <a:ln w="9525">
            <a:solidFill>
              <a:srgbClr val="213251"/>
            </a:solidFill>
            <a:prstDash val="solid"/>
          </a:ln>
        </p:spPr>
      </p:sp>
      <p:sp>
        <p:nvSpPr>
          <p:cNvPr id="69" name="Shape 67"/>
          <p:cNvSpPr/>
          <p:nvPr/>
        </p:nvSpPr>
        <p:spPr>
          <a:xfrm>
            <a:off x="10912078" y="3448050"/>
            <a:ext cx="9525" cy="295275"/>
          </a:xfrm>
          <a:prstGeom prst="rect">
            <a:avLst/>
          </a:prstGeom>
          <a:solidFill>
            <a:srgbClr val="2D4268"/>
          </a:solidFill>
          <a:ln/>
        </p:spPr>
      </p:sp>
      <p:sp>
        <p:nvSpPr>
          <p:cNvPr id="70" name="Text 68"/>
          <p:cNvSpPr/>
          <p:nvPr/>
        </p:nvSpPr>
        <p:spPr>
          <a:xfrm>
            <a:off x="10273903" y="3448050"/>
            <a:ext cx="542925" cy="333375"/>
          </a:xfrm>
          <a:prstGeom prst="rect">
            <a:avLst/>
          </a:prstGeom>
          <a:noFill/>
          <a:ln/>
        </p:spPr>
        <p:txBody>
          <a:bodyPr wrap="square" lIns="25400" tIns="25400" rIns="25400" bIns="25400" rtlCol="0" anchor="t">
            <a:normAutofit/>
          </a:bodyPr>
          <a:lstStyle/>
          <a:p>
            <a:pPr algn="ctr" indent="0" marL="0">
              <a:buNone/>
            </a:pPr>
            <a:r>
              <a:rPr lang="en-US" sz="2100" dirty="0">
                <a:solidFill>
                  <a:srgbClr val="D4B06A"/>
                </a:solidFill>
                <a:latin typeface="Courier New" pitchFamily="34" charset="0"/>
                <a:ea typeface="Courier New" pitchFamily="34" charset="-122"/>
                <a:cs typeface="Courier New" pitchFamily="34" charset="-120"/>
              </a:rPr>
              <a:t>01</a:t>
            </a:r>
            <a:endParaRPr lang="en-US" sz="2100" dirty="0"/>
          </a:p>
        </p:txBody>
      </p:sp>
      <p:sp>
        <p:nvSpPr>
          <p:cNvPr id="71" name="Text 69"/>
          <p:cNvSpPr/>
          <p:nvPr/>
        </p:nvSpPr>
        <p:spPr>
          <a:xfrm>
            <a:off x="11093053" y="3486150"/>
            <a:ext cx="6243163" cy="257175"/>
          </a:xfrm>
          <a:prstGeom prst="rect">
            <a:avLst/>
          </a:prstGeom>
          <a:noFill/>
          <a:ln/>
        </p:spPr>
        <p:txBody>
          <a:bodyPr wrap="square" lIns="25400" tIns="25400" rIns="25400" bIns="25400" rtlCol="0" anchor="t">
            <a:normAutofit/>
          </a:bodyPr>
          <a:lstStyle/>
          <a:p>
            <a:pPr algn="l" indent="0" marL="0">
              <a:lnSpc>
                <a:spcPct val="140000"/>
              </a:lnSpc>
              <a:buNone/>
            </a:pPr>
            <a:r>
              <a:rPr lang="en-US" sz="1200" b="1" dirty="0">
                <a:solidFill>
                  <a:srgbClr val="EEF2F8"/>
                </a:solidFill>
                <a:latin typeface="Arial" pitchFamily="34" charset="0"/>
                <a:ea typeface="Arial" pitchFamily="34" charset="-122"/>
                <a:cs typeface="Arial" pitchFamily="34" charset="-120"/>
              </a:rPr>
              <a:t>Guardrail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 court-circuite les inputs invalides avant tout appel LLM (économie de quota)</a:t>
            </a:r>
            <a:endParaRPr lang="en-US" sz="1200" dirty="0"/>
          </a:p>
        </p:txBody>
      </p:sp>
      <p:sp>
        <p:nvSpPr>
          <p:cNvPr id="72" name="Shape 70"/>
          <p:cNvSpPr/>
          <p:nvPr/>
        </p:nvSpPr>
        <p:spPr>
          <a:xfrm>
            <a:off x="10131028" y="4000500"/>
            <a:ext cx="7204323" cy="581025"/>
          </a:xfrm>
          <a:prstGeom prst="rect">
            <a:avLst/>
          </a:prstGeom>
          <a:solidFill>
            <a:srgbClr val="0F1B30"/>
          </a:solidFill>
          <a:ln w="9525">
            <a:solidFill>
              <a:srgbClr val="213251"/>
            </a:solidFill>
            <a:prstDash val="solid"/>
          </a:ln>
        </p:spPr>
      </p:sp>
      <p:sp>
        <p:nvSpPr>
          <p:cNvPr id="73" name="Shape 71"/>
          <p:cNvSpPr/>
          <p:nvPr/>
        </p:nvSpPr>
        <p:spPr>
          <a:xfrm>
            <a:off x="10912078" y="4143375"/>
            <a:ext cx="9525" cy="295275"/>
          </a:xfrm>
          <a:prstGeom prst="rect">
            <a:avLst/>
          </a:prstGeom>
          <a:solidFill>
            <a:srgbClr val="2D4268"/>
          </a:solidFill>
          <a:ln/>
        </p:spPr>
      </p:sp>
      <p:sp>
        <p:nvSpPr>
          <p:cNvPr id="74" name="Text 72"/>
          <p:cNvSpPr/>
          <p:nvPr/>
        </p:nvSpPr>
        <p:spPr>
          <a:xfrm>
            <a:off x="10273903" y="4143375"/>
            <a:ext cx="542925" cy="333375"/>
          </a:xfrm>
          <a:prstGeom prst="rect">
            <a:avLst/>
          </a:prstGeom>
          <a:noFill/>
          <a:ln/>
        </p:spPr>
        <p:txBody>
          <a:bodyPr wrap="square" lIns="25400" tIns="25400" rIns="25400" bIns="25400" rtlCol="0" anchor="t">
            <a:normAutofit/>
          </a:bodyPr>
          <a:lstStyle/>
          <a:p>
            <a:pPr algn="ctr" indent="0" marL="0">
              <a:buNone/>
            </a:pPr>
            <a:r>
              <a:rPr lang="en-US" sz="2100" dirty="0">
                <a:solidFill>
                  <a:srgbClr val="D4B06A"/>
                </a:solidFill>
                <a:latin typeface="Courier New" pitchFamily="34" charset="0"/>
                <a:ea typeface="Courier New" pitchFamily="34" charset="-122"/>
                <a:cs typeface="Courier New" pitchFamily="34" charset="-120"/>
              </a:rPr>
              <a:t>02</a:t>
            </a:r>
            <a:endParaRPr lang="en-US" sz="2100" dirty="0"/>
          </a:p>
        </p:txBody>
      </p:sp>
      <p:sp>
        <p:nvSpPr>
          <p:cNvPr id="75" name="Text 73"/>
          <p:cNvSpPr/>
          <p:nvPr/>
        </p:nvSpPr>
        <p:spPr>
          <a:xfrm>
            <a:off x="11093053" y="4176712"/>
            <a:ext cx="6243163" cy="266700"/>
          </a:xfrm>
          <a:prstGeom prst="rect">
            <a:avLst/>
          </a:prstGeom>
          <a:noFill/>
          <a:ln/>
        </p:spPr>
        <p:txBody>
          <a:bodyPr wrap="square" lIns="25400" tIns="25400" rIns="25400" bIns="25400" rtlCol="0" anchor="t">
            <a:normAutofit/>
          </a:bodyPr>
          <a:lstStyle/>
          <a:p>
            <a:pPr algn="l" indent="0" marL="0">
              <a:lnSpc>
                <a:spcPct val="140000"/>
              </a:lnSpc>
              <a:buNone/>
            </a:pPr>
            <a:r>
              <a:rPr lang="en-US" sz="1200" b="1" dirty="0">
                <a:solidFill>
                  <a:srgbClr val="EEF2F8"/>
                </a:solidFill>
                <a:latin typeface="Arial" pitchFamily="34" charset="0"/>
                <a:ea typeface="Arial" pitchFamily="34" charset="-122"/>
                <a:cs typeface="Arial" pitchFamily="34" charset="-120"/>
              </a:rPr>
              <a:t>Try/except par outil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 un crash d'outil retourne </a:t>
            </a:r>
            <a:pPr algn="l" indent="0" marL="0">
              <a:lnSpc>
                <a:spcPct val="140000"/>
              </a:lnSpc>
              <a:buNone/>
            </a:pPr>
            <a:r>
              <a:rPr lang="en-US" sz="1200" dirty="0">
                <a:solidFill>
                  <a:srgbClr val="D4B06A"/>
                </a:solidFill>
                <a:latin typeface="Courier New" pitchFamily="34" charset="0"/>
                <a:ea typeface="Courier New" pitchFamily="34" charset="-122"/>
                <a:cs typeface="Courier New" pitchFamily="34" charset="-120"/>
              </a:rPr>
              <a:t>{"error":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 jamais ne propage</a:t>
            </a:r>
            <a:endParaRPr lang="en-US" sz="1200" dirty="0"/>
          </a:p>
        </p:txBody>
      </p:sp>
      <p:sp>
        <p:nvSpPr>
          <p:cNvPr id="76" name="Shape 74"/>
          <p:cNvSpPr/>
          <p:nvPr/>
        </p:nvSpPr>
        <p:spPr>
          <a:xfrm>
            <a:off x="10131028" y="4695825"/>
            <a:ext cx="7204323" cy="581025"/>
          </a:xfrm>
          <a:prstGeom prst="rect">
            <a:avLst/>
          </a:prstGeom>
          <a:solidFill>
            <a:srgbClr val="0F1B30"/>
          </a:solidFill>
          <a:ln w="9525">
            <a:solidFill>
              <a:srgbClr val="213251"/>
            </a:solidFill>
            <a:prstDash val="solid"/>
          </a:ln>
        </p:spPr>
      </p:sp>
      <p:sp>
        <p:nvSpPr>
          <p:cNvPr id="77" name="Shape 75"/>
          <p:cNvSpPr/>
          <p:nvPr/>
        </p:nvSpPr>
        <p:spPr>
          <a:xfrm>
            <a:off x="10912078" y="4838700"/>
            <a:ext cx="9525" cy="295275"/>
          </a:xfrm>
          <a:prstGeom prst="rect">
            <a:avLst/>
          </a:prstGeom>
          <a:solidFill>
            <a:srgbClr val="2D4268"/>
          </a:solidFill>
          <a:ln/>
        </p:spPr>
      </p:sp>
      <p:sp>
        <p:nvSpPr>
          <p:cNvPr id="78" name="Text 76"/>
          <p:cNvSpPr/>
          <p:nvPr/>
        </p:nvSpPr>
        <p:spPr>
          <a:xfrm>
            <a:off x="10273903" y="4838700"/>
            <a:ext cx="542925" cy="333375"/>
          </a:xfrm>
          <a:prstGeom prst="rect">
            <a:avLst/>
          </a:prstGeom>
          <a:noFill/>
          <a:ln/>
        </p:spPr>
        <p:txBody>
          <a:bodyPr wrap="square" lIns="25400" tIns="25400" rIns="25400" bIns="25400" rtlCol="0" anchor="t">
            <a:normAutofit/>
          </a:bodyPr>
          <a:lstStyle/>
          <a:p>
            <a:pPr algn="ctr" indent="0" marL="0">
              <a:buNone/>
            </a:pPr>
            <a:r>
              <a:rPr lang="en-US" sz="2100" dirty="0">
                <a:solidFill>
                  <a:srgbClr val="D4B06A"/>
                </a:solidFill>
                <a:latin typeface="Courier New" pitchFamily="34" charset="0"/>
                <a:ea typeface="Courier New" pitchFamily="34" charset="-122"/>
                <a:cs typeface="Courier New" pitchFamily="34" charset="-120"/>
              </a:rPr>
              <a:t>03</a:t>
            </a:r>
            <a:endParaRPr lang="en-US" sz="2100" dirty="0"/>
          </a:p>
        </p:txBody>
      </p:sp>
      <p:sp>
        <p:nvSpPr>
          <p:cNvPr id="79" name="Text 77"/>
          <p:cNvSpPr/>
          <p:nvPr/>
        </p:nvSpPr>
        <p:spPr>
          <a:xfrm>
            <a:off x="11093053" y="4872038"/>
            <a:ext cx="6243163" cy="266700"/>
          </a:xfrm>
          <a:prstGeom prst="rect">
            <a:avLst/>
          </a:prstGeom>
          <a:noFill/>
          <a:ln/>
        </p:spPr>
        <p:txBody>
          <a:bodyPr wrap="square" lIns="25400" tIns="25400" rIns="25400" bIns="25400" rtlCol="0" anchor="t">
            <a:normAutofit/>
          </a:bodyPr>
          <a:lstStyle/>
          <a:p>
            <a:pPr algn="l" indent="0" marL="0">
              <a:lnSpc>
                <a:spcPct val="140000"/>
              </a:lnSpc>
              <a:buNone/>
            </a:pPr>
            <a:r>
              <a:rPr lang="en-US" sz="1200" b="1" dirty="0">
                <a:solidFill>
                  <a:srgbClr val="EEF2F8"/>
                </a:solidFill>
                <a:latin typeface="Arial" pitchFamily="34" charset="0"/>
                <a:ea typeface="Arial" pitchFamily="34" charset="-122"/>
                <a:cs typeface="Arial" pitchFamily="34" charset="-120"/>
              </a:rPr>
              <a:t>Callbacks par tâche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 log horodaté dans </a:t>
            </a:r>
            <a:pPr algn="l" indent="0" marL="0">
              <a:lnSpc>
                <a:spcPct val="140000"/>
              </a:lnSpc>
              <a:buNone/>
            </a:pPr>
            <a:r>
              <a:rPr lang="en-US" sz="1200" dirty="0">
                <a:solidFill>
                  <a:srgbClr val="B8C2D4"/>
                </a:solidFill>
                <a:latin typeface="Courier New" pitchFamily="34" charset="0"/>
                <a:ea typeface="Courier New" pitchFamily="34" charset="-122"/>
                <a:cs typeface="Courier New" pitchFamily="34" charset="-120"/>
              </a:rPr>
              <a:t>run_log.json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succès ou échec</a:t>
            </a:r>
            <a:endParaRPr lang="en-US" sz="1200" dirty="0"/>
          </a:p>
        </p:txBody>
      </p:sp>
      <p:sp>
        <p:nvSpPr>
          <p:cNvPr id="80" name="Shape 78"/>
          <p:cNvSpPr/>
          <p:nvPr/>
        </p:nvSpPr>
        <p:spPr>
          <a:xfrm>
            <a:off x="10131028" y="5391150"/>
            <a:ext cx="7204323" cy="723900"/>
          </a:xfrm>
          <a:prstGeom prst="rect">
            <a:avLst/>
          </a:prstGeom>
          <a:solidFill>
            <a:srgbClr val="0F1B30"/>
          </a:solidFill>
          <a:ln w="9525">
            <a:solidFill>
              <a:srgbClr val="213251"/>
            </a:solidFill>
            <a:prstDash val="solid"/>
          </a:ln>
        </p:spPr>
      </p:sp>
      <p:sp>
        <p:nvSpPr>
          <p:cNvPr id="81" name="Shape 79"/>
          <p:cNvSpPr/>
          <p:nvPr/>
        </p:nvSpPr>
        <p:spPr>
          <a:xfrm>
            <a:off x="10912078" y="5605463"/>
            <a:ext cx="9525" cy="295275"/>
          </a:xfrm>
          <a:prstGeom prst="rect">
            <a:avLst/>
          </a:prstGeom>
          <a:solidFill>
            <a:srgbClr val="2D4268"/>
          </a:solidFill>
          <a:ln/>
        </p:spPr>
      </p:sp>
      <p:sp>
        <p:nvSpPr>
          <p:cNvPr id="82" name="Text 80"/>
          <p:cNvSpPr/>
          <p:nvPr/>
        </p:nvSpPr>
        <p:spPr>
          <a:xfrm>
            <a:off x="10273903" y="5605463"/>
            <a:ext cx="542925" cy="333375"/>
          </a:xfrm>
          <a:prstGeom prst="rect">
            <a:avLst/>
          </a:prstGeom>
          <a:noFill/>
          <a:ln/>
        </p:spPr>
        <p:txBody>
          <a:bodyPr wrap="square" lIns="25400" tIns="25400" rIns="25400" bIns="25400" rtlCol="0" anchor="t">
            <a:normAutofit/>
          </a:bodyPr>
          <a:lstStyle/>
          <a:p>
            <a:pPr algn="ctr" indent="0" marL="0">
              <a:buNone/>
            </a:pPr>
            <a:r>
              <a:rPr lang="en-US" sz="2100" dirty="0">
                <a:solidFill>
                  <a:srgbClr val="D4B06A"/>
                </a:solidFill>
                <a:latin typeface="Courier New" pitchFamily="34" charset="0"/>
                <a:ea typeface="Courier New" pitchFamily="34" charset="-122"/>
                <a:cs typeface="Courier New" pitchFamily="34" charset="-120"/>
              </a:rPr>
              <a:t>04</a:t>
            </a:r>
            <a:endParaRPr lang="en-US" sz="2100" dirty="0"/>
          </a:p>
        </p:txBody>
      </p:sp>
      <p:sp>
        <p:nvSpPr>
          <p:cNvPr id="83" name="Text 81"/>
          <p:cNvSpPr/>
          <p:nvPr/>
        </p:nvSpPr>
        <p:spPr>
          <a:xfrm>
            <a:off x="11093053" y="5534025"/>
            <a:ext cx="6243163" cy="476250"/>
          </a:xfrm>
          <a:prstGeom prst="rect">
            <a:avLst/>
          </a:prstGeom>
          <a:noFill/>
          <a:ln/>
        </p:spPr>
        <p:txBody>
          <a:bodyPr wrap="square" lIns="25400" tIns="25400" rIns="25400" bIns="25400" rtlCol="0" anchor="t">
            <a:normAutofit/>
          </a:bodyPr>
          <a:lstStyle/>
          <a:p>
            <a:pPr algn="l" indent="0" marL="0">
              <a:lnSpc>
                <a:spcPct val="140000"/>
              </a:lnSpc>
              <a:buNone/>
            </a:pPr>
            <a:r>
              <a:rPr lang="en-US" sz="1200" b="1" dirty="0">
                <a:solidFill>
                  <a:srgbClr val="EEF2F8"/>
                </a:solidFill>
                <a:latin typeface="Arial" pitchFamily="34" charset="0"/>
                <a:ea typeface="Arial" pitchFamily="34" charset="-122"/>
                <a:cs typeface="Arial" pitchFamily="34" charset="-120"/>
              </a:rPr>
              <a:t>Catch-all orchestrateur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 </a:t>
            </a:r>
            <a:pPr algn="l" indent="0" marL="0">
              <a:lnSpc>
                <a:spcPct val="140000"/>
              </a:lnSpc>
              <a:buNone/>
            </a:pPr>
            <a:r>
              <a:rPr lang="en-US" sz="1200" dirty="0">
                <a:solidFill>
                  <a:srgbClr val="B8C2D4"/>
                </a:solidFill>
                <a:latin typeface="Courier New" pitchFamily="34" charset="0"/>
                <a:ea typeface="Courier New" pitchFamily="34" charset="-122"/>
                <a:cs typeface="Courier New" pitchFamily="34" charset="-120"/>
              </a:rPr>
              <a:t>crew.kickoff()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sous try/except, sortie dict d'erreur propre</a:t>
            </a:r>
            <a:endParaRPr lang="en-US" sz="1200" dirty="0"/>
          </a:p>
        </p:txBody>
      </p:sp>
      <p:sp>
        <p:nvSpPr>
          <p:cNvPr id="84" name="Shape 82"/>
          <p:cNvSpPr/>
          <p:nvPr/>
        </p:nvSpPr>
        <p:spPr>
          <a:xfrm>
            <a:off x="10131028" y="6229350"/>
            <a:ext cx="7204323" cy="581025"/>
          </a:xfrm>
          <a:prstGeom prst="rect">
            <a:avLst/>
          </a:prstGeom>
          <a:solidFill>
            <a:srgbClr val="0F1B30"/>
          </a:solidFill>
          <a:ln w="9525">
            <a:solidFill>
              <a:srgbClr val="213251"/>
            </a:solidFill>
            <a:prstDash val="solid"/>
          </a:ln>
        </p:spPr>
      </p:sp>
      <p:sp>
        <p:nvSpPr>
          <p:cNvPr id="85" name="Shape 83"/>
          <p:cNvSpPr/>
          <p:nvPr/>
        </p:nvSpPr>
        <p:spPr>
          <a:xfrm>
            <a:off x="10912078" y="6372225"/>
            <a:ext cx="9525" cy="295275"/>
          </a:xfrm>
          <a:prstGeom prst="rect">
            <a:avLst/>
          </a:prstGeom>
          <a:solidFill>
            <a:srgbClr val="2D4268"/>
          </a:solidFill>
          <a:ln/>
        </p:spPr>
      </p:sp>
      <p:sp>
        <p:nvSpPr>
          <p:cNvPr id="86" name="Text 84"/>
          <p:cNvSpPr/>
          <p:nvPr/>
        </p:nvSpPr>
        <p:spPr>
          <a:xfrm>
            <a:off x="10273903" y="6372225"/>
            <a:ext cx="542925" cy="333375"/>
          </a:xfrm>
          <a:prstGeom prst="rect">
            <a:avLst/>
          </a:prstGeom>
          <a:noFill/>
          <a:ln/>
        </p:spPr>
        <p:txBody>
          <a:bodyPr wrap="square" lIns="25400" tIns="25400" rIns="25400" bIns="25400" rtlCol="0" anchor="t">
            <a:normAutofit/>
          </a:bodyPr>
          <a:lstStyle/>
          <a:p>
            <a:pPr algn="ctr" indent="0" marL="0">
              <a:buNone/>
            </a:pPr>
            <a:r>
              <a:rPr lang="en-US" sz="2100" dirty="0">
                <a:solidFill>
                  <a:srgbClr val="D4B06A"/>
                </a:solidFill>
                <a:latin typeface="Courier New" pitchFamily="34" charset="0"/>
                <a:ea typeface="Courier New" pitchFamily="34" charset="-122"/>
                <a:cs typeface="Courier New" pitchFamily="34" charset="-120"/>
              </a:rPr>
              <a:t>05</a:t>
            </a:r>
            <a:endParaRPr lang="en-US" sz="2100" dirty="0"/>
          </a:p>
        </p:txBody>
      </p:sp>
      <p:sp>
        <p:nvSpPr>
          <p:cNvPr id="87" name="Text 85"/>
          <p:cNvSpPr/>
          <p:nvPr/>
        </p:nvSpPr>
        <p:spPr>
          <a:xfrm>
            <a:off x="11093053" y="6405563"/>
            <a:ext cx="6243163" cy="266700"/>
          </a:xfrm>
          <a:prstGeom prst="rect">
            <a:avLst/>
          </a:prstGeom>
          <a:noFill/>
          <a:ln/>
        </p:spPr>
        <p:txBody>
          <a:bodyPr wrap="square" lIns="25400" tIns="25400" rIns="25400" bIns="25400" rtlCol="0" anchor="t">
            <a:normAutofit/>
          </a:bodyPr>
          <a:lstStyle/>
          <a:p>
            <a:pPr algn="l" indent="0" marL="0">
              <a:lnSpc>
                <a:spcPct val="140000"/>
              </a:lnSpc>
              <a:buNone/>
            </a:pPr>
            <a:r>
              <a:rPr lang="en-US" sz="1200" b="1" dirty="0">
                <a:solidFill>
                  <a:srgbClr val="EEF2F8"/>
                </a:solidFill>
                <a:latin typeface="Arial" pitchFamily="34" charset="0"/>
                <a:ea typeface="Arial" pitchFamily="34" charset="-122"/>
                <a:cs typeface="Arial" pitchFamily="34" charset="-120"/>
              </a:rPr>
              <a:t>JSON coercion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 </a:t>
            </a:r>
            <a:pPr algn="l" indent="0" marL="0">
              <a:lnSpc>
                <a:spcPct val="140000"/>
              </a:lnSpc>
              <a:buNone/>
            </a:pPr>
            <a:r>
              <a:rPr lang="en-US" sz="1200" dirty="0">
                <a:solidFill>
                  <a:srgbClr val="B8C2D4"/>
                </a:solidFill>
                <a:latin typeface="Courier New" pitchFamily="34" charset="0"/>
                <a:ea typeface="Courier New" pitchFamily="34" charset="-122"/>
                <a:cs typeface="Courier New" pitchFamily="34" charset="-120"/>
              </a:rPr>
              <a:t>_coerce_to_dict() </a:t>
            </a:r>
            <a:pPr algn="l" indent="0" marL="0">
              <a:lnSpc>
                <a:spcPct val="140000"/>
              </a:lnSpc>
              <a:buNone/>
            </a:pPr>
            <a:r>
              <a:rPr lang="en-US" sz="1200" dirty="0">
                <a:solidFill>
                  <a:srgbClr val="B8C2D4"/>
                </a:solidFill>
                <a:latin typeface="Arial" pitchFamily="34" charset="0"/>
                <a:ea typeface="Arial" pitchFamily="34" charset="-122"/>
                <a:cs typeface="Arial" pitchFamily="34" charset="-120"/>
              </a:rPr>
              <a:t>strip fences + regex fallback</a:t>
            </a:r>
            <a:endParaRPr lang="en-US" sz="1200" dirty="0"/>
          </a:p>
        </p:txBody>
      </p:sp>
      <p:sp>
        <p:nvSpPr>
          <p:cNvPr id="88" name="Text 86"/>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89" name="Text 87"/>
          <p:cNvSpPr/>
          <p:nvPr/>
        </p:nvSpPr>
        <p:spPr>
          <a:xfrm>
            <a:off x="15310842" y="9791700"/>
            <a:ext cx="2100858"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A. LOUZAL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339453"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08 — SORTIE</a:t>
            </a:r>
            <a:endParaRPr lang="en-US" sz="1125" dirty="0"/>
          </a:p>
        </p:txBody>
      </p:sp>
      <p:sp>
        <p:nvSpPr>
          <p:cNvPr id="3" name="Text 1"/>
          <p:cNvSpPr/>
          <p:nvPr/>
        </p:nvSpPr>
        <p:spPr>
          <a:xfrm>
            <a:off x="14906179" y="342900"/>
            <a:ext cx="2505521"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RÉSULTATS &amp; OUTPUTS RÉELS</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TROIS EXEMPLES TIRÉS DES LOGS</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La confiance suit la difficulté — 0,997 sur le clair, 0,664 sur l'ambigu.</a:t>
            </a:r>
            <a:endParaRPr lang="en-US" sz="4500" dirty="0"/>
          </a:p>
        </p:txBody>
      </p:sp>
      <p:sp>
        <p:nvSpPr>
          <p:cNvPr id="6" name="Shape 4"/>
          <p:cNvSpPr/>
          <p:nvPr/>
        </p:nvSpPr>
        <p:spPr>
          <a:xfrm>
            <a:off x="952500" y="2876550"/>
            <a:ext cx="5334000" cy="6648450"/>
          </a:xfrm>
          <a:prstGeom prst="rect">
            <a:avLst/>
          </a:prstGeom>
          <a:solidFill>
            <a:srgbClr val="0F1B30"/>
          </a:solidFill>
          <a:ln w="9525">
            <a:solidFill>
              <a:srgbClr val="213251"/>
            </a:solidFill>
            <a:prstDash val="solid"/>
          </a:ln>
        </p:spPr>
      </p:sp>
      <p:sp>
        <p:nvSpPr>
          <p:cNvPr id="7" name="Shape 5"/>
          <p:cNvSpPr/>
          <p:nvPr/>
        </p:nvSpPr>
        <p:spPr>
          <a:xfrm>
            <a:off x="1209675" y="3562350"/>
            <a:ext cx="4819650" cy="9525"/>
          </a:xfrm>
          <a:prstGeom prst="rect">
            <a:avLst/>
          </a:prstGeom>
          <a:solidFill>
            <a:srgbClr val="213251"/>
          </a:solidFill>
          <a:ln/>
        </p:spPr>
      </p:sp>
      <p:sp>
        <p:nvSpPr>
          <p:cNvPr id="8" name="Shape 6"/>
          <p:cNvSpPr/>
          <p:nvPr/>
        </p:nvSpPr>
        <p:spPr>
          <a:xfrm>
            <a:off x="1209675" y="3190875"/>
            <a:ext cx="942826" cy="238125"/>
          </a:xfrm>
          <a:prstGeom prst="rect">
            <a:avLst/>
          </a:prstGeom>
          <a:ln w="9525">
            <a:solidFill>
              <a:srgbClr val="7FB88F"/>
            </a:solidFill>
            <a:prstDash val="solid"/>
          </a:ln>
        </p:spPr>
      </p:sp>
      <p:sp>
        <p:nvSpPr>
          <p:cNvPr id="9" name="Text 7"/>
          <p:cNvSpPr/>
          <p:nvPr/>
        </p:nvSpPr>
        <p:spPr>
          <a:xfrm>
            <a:off x="1314450" y="3238500"/>
            <a:ext cx="809476" cy="180975"/>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7FB88F"/>
                </a:solidFill>
                <a:latin typeface="Courier New" pitchFamily="34" charset="0"/>
                <a:ea typeface="Courier New" pitchFamily="34" charset="-122"/>
                <a:cs typeface="Courier New" pitchFamily="34" charset="-120"/>
              </a:rPr>
              <a:t>POSITIVE</a:t>
            </a:r>
            <a:endParaRPr lang="en-US" sz="975" dirty="0"/>
          </a:p>
        </p:txBody>
      </p:sp>
      <p:sp>
        <p:nvSpPr>
          <p:cNvPr id="10" name="Text 8"/>
          <p:cNvSpPr/>
          <p:nvPr/>
        </p:nvSpPr>
        <p:spPr>
          <a:xfrm>
            <a:off x="5400675" y="3133725"/>
            <a:ext cx="704850"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D4B06A"/>
                </a:solidFill>
                <a:latin typeface="Courier New" pitchFamily="34" charset="0"/>
                <a:ea typeface="Courier New" pitchFamily="34" charset="-122"/>
                <a:cs typeface="Courier New" pitchFamily="34" charset="-120"/>
              </a:rPr>
              <a:t>0.997</a:t>
            </a:r>
            <a:endParaRPr lang="en-US" sz="1650" dirty="0"/>
          </a:p>
        </p:txBody>
      </p:sp>
      <p:sp>
        <p:nvSpPr>
          <p:cNvPr id="11" name="Shape 9"/>
          <p:cNvSpPr/>
          <p:nvPr/>
        </p:nvSpPr>
        <p:spPr>
          <a:xfrm>
            <a:off x="1209675" y="3724275"/>
            <a:ext cx="19050" cy="419100"/>
          </a:xfrm>
          <a:prstGeom prst="rect">
            <a:avLst/>
          </a:prstGeom>
          <a:solidFill>
            <a:srgbClr val="2D4268"/>
          </a:solidFill>
          <a:ln/>
        </p:spPr>
      </p:sp>
      <p:sp>
        <p:nvSpPr>
          <p:cNvPr id="12" name="Text 10"/>
          <p:cNvSpPr/>
          <p:nvPr/>
        </p:nvSpPr>
        <p:spPr>
          <a:xfrm>
            <a:off x="1343025" y="3724275"/>
            <a:ext cx="4830890" cy="457200"/>
          </a:xfrm>
          <a:prstGeom prst="rect">
            <a:avLst/>
          </a:prstGeom>
          <a:noFill/>
          <a:ln/>
        </p:spPr>
        <p:txBody>
          <a:bodyPr wrap="square" lIns="25400" tIns="25400" rIns="25400" bIns="25400" rtlCol="0" anchor="t">
            <a:normAutofit/>
          </a:bodyPr>
          <a:lstStyle/>
          <a:p>
            <a:pPr algn="l" indent="0" marL="0">
              <a:lnSpc>
                <a:spcPct val="140000"/>
              </a:lnSpc>
              <a:buNone/>
            </a:pPr>
            <a:r>
              <a:rPr lang="en-US" sz="1200" i="1" dirty="0">
                <a:solidFill>
                  <a:srgbClr val="B8C2D4"/>
                </a:solidFill>
                <a:latin typeface="Georgia" pitchFamily="34" charset="0"/>
                <a:ea typeface="Georgia" pitchFamily="34" charset="-122"/>
                <a:cs typeface="Georgia" pitchFamily="34" charset="-120"/>
              </a:rPr>
              <a:t>« Absolutely love this moisturizer! My skin feels hydrated all day, the scent is subtle… »</a:t>
            </a:r>
            <a:endParaRPr lang="en-US" sz="1200" dirty="0"/>
          </a:p>
        </p:txBody>
      </p:sp>
      <p:sp>
        <p:nvSpPr>
          <p:cNvPr id="13" name="Text 11"/>
          <p:cNvSpPr/>
          <p:nvPr/>
        </p:nvSpPr>
        <p:spPr>
          <a:xfrm>
            <a:off x="1209675" y="431482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KEY_THEMES</a:t>
            </a:r>
            <a:endParaRPr lang="en-US" sz="825" dirty="0"/>
          </a:p>
        </p:txBody>
      </p:sp>
      <p:sp>
        <p:nvSpPr>
          <p:cNvPr id="14" name="Shape 12"/>
          <p:cNvSpPr/>
          <p:nvPr/>
        </p:nvSpPr>
        <p:spPr>
          <a:xfrm>
            <a:off x="1209675" y="4467225"/>
            <a:ext cx="769739" cy="190500"/>
          </a:xfrm>
          <a:prstGeom prst="rect">
            <a:avLst/>
          </a:prstGeom>
          <a:solidFill>
            <a:srgbClr val="D4B06A">
              <a:alpha val="14000"/>
            </a:srgbClr>
          </a:solidFill>
          <a:ln/>
        </p:spPr>
      </p:sp>
      <p:sp>
        <p:nvSpPr>
          <p:cNvPr id="15" name="Text 13"/>
          <p:cNvSpPr/>
          <p:nvPr/>
        </p:nvSpPr>
        <p:spPr>
          <a:xfrm>
            <a:off x="1285875" y="4495800"/>
            <a:ext cx="693539"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hydration</a:t>
            </a:r>
            <a:endParaRPr lang="en-US" sz="900" dirty="0"/>
          </a:p>
        </p:txBody>
      </p:sp>
      <p:sp>
        <p:nvSpPr>
          <p:cNvPr id="16" name="Shape 14"/>
          <p:cNvSpPr/>
          <p:nvPr/>
        </p:nvSpPr>
        <p:spPr>
          <a:xfrm>
            <a:off x="2036564" y="4467225"/>
            <a:ext cx="975568" cy="190500"/>
          </a:xfrm>
          <a:prstGeom prst="rect">
            <a:avLst/>
          </a:prstGeom>
          <a:solidFill>
            <a:srgbClr val="D4B06A">
              <a:alpha val="14000"/>
            </a:srgbClr>
          </a:solidFill>
          <a:ln/>
        </p:spPr>
      </p:sp>
      <p:sp>
        <p:nvSpPr>
          <p:cNvPr id="17" name="Text 15"/>
          <p:cNvSpPr/>
          <p:nvPr/>
        </p:nvSpPr>
        <p:spPr>
          <a:xfrm>
            <a:off x="2112764" y="4495800"/>
            <a:ext cx="899368"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subtle scent</a:t>
            </a:r>
            <a:endParaRPr lang="en-US" sz="900" dirty="0"/>
          </a:p>
        </p:txBody>
      </p:sp>
      <p:sp>
        <p:nvSpPr>
          <p:cNvPr id="18" name="Shape 16"/>
          <p:cNvSpPr/>
          <p:nvPr/>
        </p:nvSpPr>
        <p:spPr>
          <a:xfrm>
            <a:off x="3069282" y="4467225"/>
            <a:ext cx="975568" cy="190500"/>
          </a:xfrm>
          <a:prstGeom prst="rect">
            <a:avLst/>
          </a:prstGeom>
          <a:solidFill>
            <a:srgbClr val="D4B06A">
              <a:alpha val="14000"/>
            </a:srgbClr>
          </a:solidFill>
          <a:ln/>
        </p:spPr>
      </p:sp>
      <p:sp>
        <p:nvSpPr>
          <p:cNvPr id="19" name="Text 17"/>
          <p:cNvSpPr/>
          <p:nvPr/>
        </p:nvSpPr>
        <p:spPr>
          <a:xfrm>
            <a:off x="3145482" y="4495800"/>
            <a:ext cx="899368"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long-lasting</a:t>
            </a:r>
            <a:endParaRPr lang="en-US" sz="900" dirty="0"/>
          </a:p>
        </p:txBody>
      </p:sp>
      <p:sp>
        <p:nvSpPr>
          <p:cNvPr id="20" name="Shape 18"/>
          <p:cNvSpPr/>
          <p:nvPr/>
        </p:nvSpPr>
        <p:spPr>
          <a:xfrm>
            <a:off x="4102001" y="4467225"/>
            <a:ext cx="769739" cy="190500"/>
          </a:xfrm>
          <a:prstGeom prst="rect">
            <a:avLst/>
          </a:prstGeom>
          <a:solidFill>
            <a:srgbClr val="D4B06A">
              <a:alpha val="14000"/>
            </a:srgbClr>
          </a:solidFill>
          <a:ln/>
        </p:spPr>
      </p:sp>
      <p:sp>
        <p:nvSpPr>
          <p:cNvPr id="21" name="Text 19"/>
          <p:cNvSpPr/>
          <p:nvPr/>
        </p:nvSpPr>
        <p:spPr>
          <a:xfrm>
            <a:off x="4178201" y="4495800"/>
            <a:ext cx="693539"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effective</a:t>
            </a:r>
            <a:endParaRPr lang="en-US" sz="900" dirty="0"/>
          </a:p>
        </p:txBody>
      </p:sp>
      <p:sp>
        <p:nvSpPr>
          <p:cNvPr id="22" name="Shape 20"/>
          <p:cNvSpPr/>
          <p:nvPr/>
        </p:nvSpPr>
        <p:spPr>
          <a:xfrm>
            <a:off x="4928890" y="4467225"/>
            <a:ext cx="289620" cy="190500"/>
          </a:xfrm>
          <a:prstGeom prst="rect">
            <a:avLst/>
          </a:prstGeom>
          <a:solidFill>
            <a:srgbClr val="D4B06A">
              <a:alpha val="14000"/>
            </a:srgbClr>
          </a:solidFill>
          <a:ln/>
        </p:spPr>
      </p:sp>
      <p:sp>
        <p:nvSpPr>
          <p:cNvPr id="23" name="Text 21"/>
          <p:cNvSpPr/>
          <p:nvPr/>
        </p:nvSpPr>
        <p:spPr>
          <a:xfrm>
            <a:off x="5005090" y="4495800"/>
            <a:ext cx="213420"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UX</a:t>
            </a:r>
            <a:endParaRPr lang="en-US" sz="900" dirty="0"/>
          </a:p>
        </p:txBody>
      </p:sp>
      <p:sp>
        <p:nvSpPr>
          <p:cNvPr id="24" name="Text 22"/>
          <p:cNvSpPr/>
          <p:nvPr/>
        </p:nvSpPr>
        <p:spPr>
          <a:xfrm>
            <a:off x="1209675" y="477202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SUMMARY</a:t>
            </a:r>
            <a:endParaRPr lang="en-US" sz="825" dirty="0"/>
          </a:p>
        </p:txBody>
      </p:sp>
      <p:sp>
        <p:nvSpPr>
          <p:cNvPr id="25" name="Text 23"/>
          <p:cNvSpPr/>
          <p:nvPr/>
        </p:nvSpPr>
        <p:spPr>
          <a:xfrm>
            <a:off x="1209675" y="4924425"/>
            <a:ext cx="4964240" cy="228600"/>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EEF2F8"/>
                </a:solidFill>
                <a:latin typeface="Arial" pitchFamily="34" charset="0"/>
                <a:ea typeface="Arial" pitchFamily="34" charset="-122"/>
                <a:cs typeface="Arial" pitchFamily="34" charset="-120"/>
              </a:rPr>
              <a:t>The reviewer absolutely loves the moisturizer for its hydration and pleasant scent.</a:t>
            </a:r>
            <a:endParaRPr lang="en-US" sz="1050" dirty="0"/>
          </a:p>
        </p:txBody>
      </p:sp>
      <p:sp>
        <p:nvSpPr>
          <p:cNvPr id="26" name="Text 24"/>
          <p:cNvSpPr/>
          <p:nvPr/>
        </p:nvSpPr>
        <p:spPr>
          <a:xfrm>
            <a:off x="1209675" y="522922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MARKET_CONTEXT</a:t>
            </a:r>
            <a:endParaRPr lang="en-US" sz="825" dirty="0"/>
          </a:p>
        </p:txBody>
      </p:sp>
      <p:sp>
        <p:nvSpPr>
          <p:cNvPr id="27" name="Text 25"/>
          <p:cNvSpPr/>
          <p:nvPr/>
        </p:nvSpPr>
        <p:spPr>
          <a:xfrm>
            <a:off x="1209675" y="5381625"/>
            <a:ext cx="4964240" cy="381000"/>
          </a:xfrm>
          <a:prstGeom prst="rect">
            <a:avLst/>
          </a:prstGeom>
          <a:noFill/>
          <a:ln/>
        </p:spPr>
        <p:txBody>
          <a:bodyPr wrap="square" lIns="25400" tIns="25400" rIns="25400" bIns="25400" rtlCol="0" anchor="t">
            <a:normAutofit/>
          </a:bodyPr>
          <a:lstStyle/>
          <a:p>
            <a:pPr algn="l" indent="0" marL="0">
              <a:lnSpc>
                <a:spcPct val="145000"/>
              </a:lnSpc>
              <a:buNone/>
            </a:pPr>
            <a:r>
              <a:rPr lang="en-US" sz="975" dirty="0">
                <a:solidFill>
                  <a:srgbClr val="B8C2D4"/>
                </a:solidFill>
                <a:latin typeface="Arial" pitchFamily="34" charset="0"/>
                <a:ea typeface="Arial" pitchFamily="34" charset="-122"/>
                <a:cs typeface="Arial" pitchFamily="34" charset="-120"/>
              </a:rPr>
              <a:t>Catégorie hydratants faciaux — concurrents CeraVe, Neutrogena, La Roche-Posay; emphasis sur hydratation longue durée et formulations skin-friendly.</a:t>
            </a:r>
            <a:endParaRPr lang="en-US" sz="975" dirty="0"/>
          </a:p>
        </p:txBody>
      </p:sp>
      <p:sp>
        <p:nvSpPr>
          <p:cNvPr id="28" name="Shape 26"/>
          <p:cNvSpPr/>
          <p:nvPr/>
        </p:nvSpPr>
        <p:spPr>
          <a:xfrm>
            <a:off x="6477000" y="2876550"/>
            <a:ext cx="5334000" cy="6648450"/>
          </a:xfrm>
          <a:prstGeom prst="rect">
            <a:avLst/>
          </a:prstGeom>
          <a:solidFill>
            <a:srgbClr val="0F1B30"/>
          </a:solidFill>
          <a:ln w="9525">
            <a:solidFill>
              <a:srgbClr val="213251"/>
            </a:solidFill>
            <a:prstDash val="solid"/>
          </a:ln>
        </p:spPr>
      </p:sp>
      <p:sp>
        <p:nvSpPr>
          <p:cNvPr id="29" name="Shape 27"/>
          <p:cNvSpPr/>
          <p:nvPr/>
        </p:nvSpPr>
        <p:spPr>
          <a:xfrm>
            <a:off x="6734175" y="3562350"/>
            <a:ext cx="4819650" cy="9525"/>
          </a:xfrm>
          <a:prstGeom prst="rect">
            <a:avLst/>
          </a:prstGeom>
          <a:solidFill>
            <a:srgbClr val="213251"/>
          </a:solidFill>
          <a:ln/>
        </p:spPr>
      </p:sp>
      <p:sp>
        <p:nvSpPr>
          <p:cNvPr id="30" name="Shape 28"/>
          <p:cNvSpPr/>
          <p:nvPr/>
        </p:nvSpPr>
        <p:spPr>
          <a:xfrm>
            <a:off x="6734175" y="3190875"/>
            <a:ext cx="942826" cy="238125"/>
          </a:xfrm>
          <a:prstGeom prst="rect">
            <a:avLst/>
          </a:prstGeom>
          <a:ln w="9525">
            <a:solidFill>
              <a:srgbClr val="D97A6C"/>
            </a:solidFill>
            <a:prstDash val="solid"/>
          </a:ln>
        </p:spPr>
      </p:sp>
      <p:sp>
        <p:nvSpPr>
          <p:cNvPr id="31" name="Text 29"/>
          <p:cNvSpPr/>
          <p:nvPr/>
        </p:nvSpPr>
        <p:spPr>
          <a:xfrm>
            <a:off x="6838950" y="3238500"/>
            <a:ext cx="809476" cy="180975"/>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D97A6C"/>
                </a:solidFill>
                <a:latin typeface="Courier New" pitchFamily="34" charset="0"/>
                <a:ea typeface="Courier New" pitchFamily="34" charset="-122"/>
                <a:cs typeface="Courier New" pitchFamily="34" charset="-120"/>
              </a:rPr>
              <a:t>NEGATIVE</a:t>
            </a:r>
            <a:endParaRPr lang="en-US" sz="975" dirty="0"/>
          </a:p>
        </p:txBody>
      </p:sp>
      <p:sp>
        <p:nvSpPr>
          <p:cNvPr id="32" name="Text 30"/>
          <p:cNvSpPr/>
          <p:nvPr/>
        </p:nvSpPr>
        <p:spPr>
          <a:xfrm>
            <a:off x="10925175" y="3133725"/>
            <a:ext cx="704850"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D4B06A"/>
                </a:solidFill>
                <a:latin typeface="Courier New" pitchFamily="34" charset="0"/>
                <a:ea typeface="Courier New" pitchFamily="34" charset="-122"/>
                <a:cs typeface="Courier New" pitchFamily="34" charset="-120"/>
              </a:rPr>
              <a:t>0.971</a:t>
            </a:r>
            <a:endParaRPr lang="en-US" sz="1650" dirty="0"/>
          </a:p>
        </p:txBody>
      </p:sp>
      <p:sp>
        <p:nvSpPr>
          <p:cNvPr id="33" name="Shape 31"/>
          <p:cNvSpPr/>
          <p:nvPr/>
        </p:nvSpPr>
        <p:spPr>
          <a:xfrm>
            <a:off x="6734175" y="3724275"/>
            <a:ext cx="19050" cy="419100"/>
          </a:xfrm>
          <a:prstGeom prst="rect">
            <a:avLst/>
          </a:prstGeom>
          <a:solidFill>
            <a:srgbClr val="2D4268"/>
          </a:solidFill>
          <a:ln/>
        </p:spPr>
      </p:sp>
      <p:sp>
        <p:nvSpPr>
          <p:cNvPr id="34" name="Text 32"/>
          <p:cNvSpPr/>
          <p:nvPr/>
        </p:nvSpPr>
        <p:spPr>
          <a:xfrm>
            <a:off x="6867525" y="3724275"/>
            <a:ext cx="4830890" cy="457200"/>
          </a:xfrm>
          <a:prstGeom prst="rect">
            <a:avLst/>
          </a:prstGeom>
          <a:noFill/>
          <a:ln/>
        </p:spPr>
        <p:txBody>
          <a:bodyPr wrap="square" lIns="25400" tIns="25400" rIns="25400" bIns="25400" rtlCol="0" anchor="t">
            <a:normAutofit/>
          </a:bodyPr>
          <a:lstStyle/>
          <a:p>
            <a:pPr algn="l" indent="0" marL="0">
              <a:lnSpc>
                <a:spcPct val="140000"/>
              </a:lnSpc>
              <a:buNone/>
            </a:pPr>
            <a:r>
              <a:rPr lang="en-US" sz="1200" i="1" dirty="0">
                <a:solidFill>
                  <a:srgbClr val="B8C2D4"/>
                </a:solidFill>
                <a:latin typeface="Georgia" pitchFamily="34" charset="0"/>
                <a:ea typeface="Georgia" pitchFamily="34" charset="-122"/>
                <a:cs typeface="Georgia" pitchFamily="34" charset="-120"/>
              </a:rPr>
              <a:t>« Terrible experience. The bottle arrived half-empty, the product smells chemical… »</a:t>
            </a:r>
            <a:endParaRPr lang="en-US" sz="1200" dirty="0"/>
          </a:p>
        </p:txBody>
      </p:sp>
      <p:sp>
        <p:nvSpPr>
          <p:cNvPr id="35" name="Text 33"/>
          <p:cNvSpPr/>
          <p:nvPr/>
        </p:nvSpPr>
        <p:spPr>
          <a:xfrm>
            <a:off x="6734175" y="431482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KEY_THEMES</a:t>
            </a:r>
            <a:endParaRPr lang="en-US" sz="825" dirty="0"/>
          </a:p>
        </p:txBody>
      </p:sp>
      <p:sp>
        <p:nvSpPr>
          <p:cNvPr id="36" name="Shape 34"/>
          <p:cNvSpPr/>
          <p:nvPr/>
        </p:nvSpPr>
        <p:spPr>
          <a:xfrm>
            <a:off x="6734175" y="4467225"/>
            <a:ext cx="838349" cy="190500"/>
          </a:xfrm>
          <a:prstGeom prst="rect">
            <a:avLst/>
          </a:prstGeom>
          <a:solidFill>
            <a:srgbClr val="D4B06A">
              <a:alpha val="14000"/>
            </a:srgbClr>
          </a:solidFill>
          <a:ln/>
        </p:spPr>
      </p:sp>
      <p:sp>
        <p:nvSpPr>
          <p:cNvPr id="37" name="Text 35"/>
          <p:cNvSpPr/>
          <p:nvPr/>
        </p:nvSpPr>
        <p:spPr>
          <a:xfrm>
            <a:off x="6810375" y="4495800"/>
            <a:ext cx="762149"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half-empty</a:t>
            </a:r>
            <a:endParaRPr lang="en-US" sz="900" dirty="0"/>
          </a:p>
        </p:txBody>
      </p:sp>
      <p:sp>
        <p:nvSpPr>
          <p:cNvPr id="38" name="Shape 36"/>
          <p:cNvSpPr/>
          <p:nvPr/>
        </p:nvSpPr>
        <p:spPr>
          <a:xfrm>
            <a:off x="7629674" y="4467225"/>
            <a:ext cx="1112788" cy="190500"/>
          </a:xfrm>
          <a:prstGeom prst="rect">
            <a:avLst/>
          </a:prstGeom>
          <a:solidFill>
            <a:srgbClr val="D4B06A">
              <a:alpha val="14000"/>
            </a:srgbClr>
          </a:solidFill>
          <a:ln/>
        </p:spPr>
      </p:sp>
      <p:sp>
        <p:nvSpPr>
          <p:cNvPr id="39" name="Text 37"/>
          <p:cNvSpPr/>
          <p:nvPr/>
        </p:nvSpPr>
        <p:spPr>
          <a:xfrm>
            <a:off x="7705874" y="4495800"/>
            <a:ext cx="1036588"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chemical smell</a:t>
            </a:r>
            <a:endParaRPr lang="en-US" sz="900" dirty="0"/>
          </a:p>
        </p:txBody>
      </p:sp>
      <p:sp>
        <p:nvSpPr>
          <p:cNvPr id="40" name="Shape 38"/>
          <p:cNvSpPr/>
          <p:nvPr/>
        </p:nvSpPr>
        <p:spPr>
          <a:xfrm>
            <a:off x="8799612" y="4467225"/>
            <a:ext cx="769739" cy="190500"/>
          </a:xfrm>
          <a:prstGeom prst="rect">
            <a:avLst/>
          </a:prstGeom>
          <a:solidFill>
            <a:srgbClr val="D4B06A">
              <a:alpha val="14000"/>
            </a:srgbClr>
          </a:solidFill>
          <a:ln/>
        </p:spPr>
      </p:sp>
      <p:sp>
        <p:nvSpPr>
          <p:cNvPr id="41" name="Text 39"/>
          <p:cNvSpPr/>
          <p:nvPr/>
        </p:nvSpPr>
        <p:spPr>
          <a:xfrm>
            <a:off x="8875812" y="4495800"/>
            <a:ext cx="693539"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breakouts</a:t>
            </a:r>
            <a:endParaRPr lang="en-US" sz="900" dirty="0"/>
          </a:p>
        </p:txBody>
      </p:sp>
      <p:sp>
        <p:nvSpPr>
          <p:cNvPr id="42" name="Shape 40"/>
          <p:cNvSpPr/>
          <p:nvPr/>
        </p:nvSpPr>
        <p:spPr>
          <a:xfrm>
            <a:off x="9626501" y="4467225"/>
            <a:ext cx="975568" cy="190500"/>
          </a:xfrm>
          <a:prstGeom prst="rect">
            <a:avLst/>
          </a:prstGeom>
          <a:solidFill>
            <a:srgbClr val="D4B06A">
              <a:alpha val="14000"/>
            </a:srgbClr>
          </a:solidFill>
          <a:ln/>
        </p:spPr>
      </p:sp>
      <p:sp>
        <p:nvSpPr>
          <p:cNvPr id="43" name="Text 41"/>
          <p:cNvSpPr/>
          <p:nvPr/>
        </p:nvSpPr>
        <p:spPr>
          <a:xfrm>
            <a:off x="9702701" y="4495800"/>
            <a:ext cx="899368"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wasted money</a:t>
            </a:r>
            <a:endParaRPr lang="en-US" sz="900" dirty="0"/>
          </a:p>
        </p:txBody>
      </p:sp>
      <p:sp>
        <p:nvSpPr>
          <p:cNvPr id="44" name="Shape 42"/>
          <p:cNvSpPr/>
          <p:nvPr/>
        </p:nvSpPr>
        <p:spPr>
          <a:xfrm>
            <a:off x="6734175" y="4714875"/>
            <a:ext cx="975568" cy="190500"/>
          </a:xfrm>
          <a:prstGeom prst="rect">
            <a:avLst/>
          </a:prstGeom>
          <a:solidFill>
            <a:srgbClr val="D4B06A">
              <a:alpha val="14000"/>
            </a:srgbClr>
          </a:solidFill>
          <a:ln/>
        </p:spPr>
      </p:sp>
      <p:sp>
        <p:nvSpPr>
          <p:cNvPr id="45" name="Text 43"/>
          <p:cNvSpPr/>
          <p:nvPr/>
        </p:nvSpPr>
        <p:spPr>
          <a:xfrm>
            <a:off x="6810375" y="4743450"/>
            <a:ext cx="899368"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no recommend</a:t>
            </a:r>
            <a:endParaRPr lang="en-US" sz="900" dirty="0"/>
          </a:p>
        </p:txBody>
      </p:sp>
      <p:sp>
        <p:nvSpPr>
          <p:cNvPr id="46" name="Text 44"/>
          <p:cNvSpPr/>
          <p:nvPr/>
        </p:nvSpPr>
        <p:spPr>
          <a:xfrm>
            <a:off x="6734175" y="501967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SUMMARY</a:t>
            </a:r>
            <a:endParaRPr lang="en-US" sz="825" dirty="0"/>
          </a:p>
        </p:txBody>
      </p:sp>
      <p:sp>
        <p:nvSpPr>
          <p:cNvPr id="47" name="Text 45"/>
          <p:cNvSpPr/>
          <p:nvPr/>
        </p:nvSpPr>
        <p:spPr>
          <a:xfrm>
            <a:off x="6734175" y="5172075"/>
            <a:ext cx="4964240" cy="228600"/>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EEF2F8"/>
                </a:solidFill>
                <a:latin typeface="Arial" pitchFamily="34" charset="0"/>
                <a:ea typeface="Arial" pitchFamily="34" charset="-122"/>
                <a:cs typeface="Arial" pitchFamily="34" charset="-120"/>
              </a:rPr>
              <a:t>Negative experience — chemical smell and skin breakouts highlighted.</a:t>
            </a:r>
            <a:endParaRPr lang="en-US" sz="1050" dirty="0"/>
          </a:p>
        </p:txBody>
      </p:sp>
      <p:sp>
        <p:nvSpPr>
          <p:cNvPr id="48" name="Text 46"/>
          <p:cNvSpPr/>
          <p:nvPr/>
        </p:nvSpPr>
        <p:spPr>
          <a:xfrm>
            <a:off x="6734175" y="547687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MARKET_CONTEXT</a:t>
            </a:r>
            <a:endParaRPr lang="en-US" sz="825" dirty="0"/>
          </a:p>
        </p:txBody>
      </p:sp>
      <p:sp>
        <p:nvSpPr>
          <p:cNvPr id="49" name="Text 47"/>
          <p:cNvSpPr/>
          <p:nvPr/>
        </p:nvSpPr>
        <p:spPr>
          <a:xfrm>
            <a:off x="6734175" y="5629275"/>
            <a:ext cx="4964240" cy="381000"/>
          </a:xfrm>
          <a:prstGeom prst="rect">
            <a:avLst/>
          </a:prstGeom>
          <a:noFill/>
          <a:ln/>
        </p:spPr>
        <p:txBody>
          <a:bodyPr wrap="square" lIns="25400" tIns="25400" rIns="25400" bIns="25400" rtlCol="0" anchor="t">
            <a:normAutofit/>
          </a:bodyPr>
          <a:lstStyle/>
          <a:p>
            <a:pPr algn="l" indent="0" marL="0">
              <a:lnSpc>
                <a:spcPct val="145000"/>
              </a:lnSpc>
              <a:buNone/>
            </a:pPr>
            <a:r>
              <a:rPr lang="en-US" sz="975" dirty="0">
                <a:solidFill>
                  <a:srgbClr val="B8C2D4"/>
                </a:solidFill>
                <a:latin typeface="Arial" pitchFamily="34" charset="0"/>
                <a:ea typeface="Arial" pitchFamily="34" charset="-122"/>
                <a:cs typeface="Arial" pitchFamily="34" charset="-120"/>
              </a:rPr>
              <a:t>Tendance clean-beauty et formulations hypoallergéniques; marques transparentes sur ingrédients performent mieux face à ce type de plainte.</a:t>
            </a:r>
            <a:endParaRPr lang="en-US" sz="975" dirty="0"/>
          </a:p>
        </p:txBody>
      </p:sp>
      <p:sp>
        <p:nvSpPr>
          <p:cNvPr id="50" name="Shape 48"/>
          <p:cNvSpPr/>
          <p:nvPr/>
        </p:nvSpPr>
        <p:spPr>
          <a:xfrm>
            <a:off x="12001500" y="2876550"/>
            <a:ext cx="5334000" cy="6648450"/>
          </a:xfrm>
          <a:prstGeom prst="rect">
            <a:avLst/>
          </a:prstGeom>
          <a:solidFill>
            <a:srgbClr val="0F1B30"/>
          </a:solidFill>
          <a:ln w="9525">
            <a:solidFill>
              <a:srgbClr val="213251"/>
            </a:solidFill>
            <a:prstDash val="solid"/>
          </a:ln>
        </p:spPr>
      </p:sp>
      <p:sp>
        <p:nvSpPr>
          <p:cNvPr id="51" name="Shape 49"/>
          <p:cNvSpPr/>
          <p:nvPr/>
        </p:nvSpPr>
        <p:spPr>
          <a:xfrm>
            <a:off x="12258675" y="3562350"/>
            <a:ext cx="4819650" cy="9525"/>
          </a:xfrm>
          <a:prstGeom prst="rect">
            <a:avLst/>
          </a:prstGeom>
          <a:solidFill>
            <a:srgbClr val="213251"/>
          </a:solidFill>
          <a:ln/>
        </p:spPr>
      </p:sp>
      <p:sp>
        <p:nvSpPr>
          <p:cNvPr id="52" name="Shape 50"/>
          <p:cNvSpPr/>
          <p:nvPr/>
        </p:nvSpPr>
        <p:spPr>
          <a:xfrm>
            <a:off x="12258675" y="3190875"/>
            <a:ext cx="851148" cy="238125"/>
          </a:xfrm>
          <a:prstGeom prst="rect">
            <a:avLst/>
          </a:prstGeom>
          <a:ln w="9525">
            <a:solidFill>
              <a:srgbClr val="6FA3D2"/>
            </a:solidFill>
            <a:prstDash val="solid"/>
          </a:ln>
        </p:spPr>
      </p:sp>
      <p:sp>
        <p:nvSpPr>
          <p:cNvPr id="53" name="Text 51"/>
          <p:cNvSpPr/>
          <p:nvPr/>
        </p:nvSpPr>
        <p:spPr>
          <a:xfrm>
            <a:off x="12363450" y="3238500"/>
            <a:ext cx="717798" cy="180975"/>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6FA3D2"/>
                </a:solidFill>
                <a:latin typeface="Courier New" pitchFamily="34" charset="0"/>
                <a:ea typeface="Courier New" pitchFamily="34" charset="-122"/>
                <a:cs typeface="Courier New" pitchFamily="34" charset="-120"/>
              </a:rPr>
              <a:t>NEUTRAL</a:t>
            </a:r>
            <a:endParaRPr lang="en-US" sz="975" dirty="0"/>
          </a:p>
        </p:txBody>
      </p:sp>
      <p:sp>
        <p:nvSpPr>
          <p:cNvPr id="54" name="Text 52"/>
          <p:cNvSpPr/>
          <p:nvPr/>
        </p:nvSpPr>
        <p:spPr>
          <a:xfrm>
            <a:off x="16449675" y="3133725"/>
            <a:ext cx="704850"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D4B06A"/>
                </a:solidFill>
                <a:latin typeface="Courier New" pitchFamily="34" charset="0"/>
                <a:ea typeface="Courier New" pitchFamily="34" charset="-122"/>
                <a:cs typeface="Courier New" pitchFamily="34" charset="-120"/>
              </a:rPr>
              <a:t>0.664</a:t>
            </a:r>
            <a:endParaRPr lang="en-US" sz="1650" dirty="0"/>
          </a:p>
        </p:txBody>
      </p:sp>
      <p:sp>
        <p:nvSpPr>
          <p:cNvPr id="55" name="Shape 53"/>
          <p:cNvSpPr/>
          <p:nvPr/>
        </p:nvSpPr>
        <p:spPr>
          <a:xfrm>
            <a:off x="12258675" y="3724275"/>
            <a:ext cx="19050" cy="419100"/>
          </a:xfrm>
          <a:prstGeom prst="rect">
            <a:avLst/>
          </a:prstGeom>
          <a:solidFill>
            <a:srgbClr val="2D4268"/>
          </a:solidFill>
          <a:ln/>
        </p:spPr>
      </p:sp>
      <p:sp>
        <p:nvSpPr>
          <p:cNvPr id="56" name="Text 54"/>
          <p:cNvSpPr/>
          <p:nvPr/>
        </p:nvSpPr>
        <p:spPr>
          <a:xfrm>
            <a:off x="12392025" y="3724275"/>
            <a:ext cx="4830890" cy="457200"/>
          </a:xfrm>
          <a:prstGeom prst="rect">
            <a:avLst/>
          </a:prstGeom>
          <a:noFill/>
          <a:ln/>
        </p:spPr>
        <p:txBody>
          <a:bodyPr wrap="square" lIns="25400" tIns="25400" rIns="25400" bIns="25400" rtlCol="0" anchor="t">
            <a:normAutofit/>
          </a:bodyPr>
          <a:lstStyle/>
          <a:p>
            <a:pPr algn="l" indent="0" marL="0">
              <a:lnSpc>
                <a:spcPct val="140000"/>
              </a:lnSpc>
              <a:buNone/>
            </a:pPr>
            <a:r>
              <a:rPr lang="en-US" sz="1200" i="1" dirty="0">
                <a:solidFill>
                  <a:srgbClr val="B8C2D4"/>
                </a:solidFill>
                <a:latin typeface="Georgia" pitchFamily="34" charset="0"/>
                <a:ea typeface="Georgia" pitchFamily="34" charset="-122"/>
                <a:cs typeface="Georgia" pitchFamily="34" charset="-120"/>
              </a:rPr>
              <a:t>« The packaging is gorgeous and the shade range is impressive, but the formula is way too drying… »</a:t>
            </a:r>
            <a:endParaRPr lang="en-US" sz="1200" dirty="0"/>
          </a:p>
        </p:txBody>
      </p:sp>
      <p:sp>
        <p:nvSpPr>
          <p:cNvPr id="57" name="Text 55"/>
          <p:cNvSpPr/>
          <p:nvPr/>
        </p:nvSpPr>
        <p:spPr>
          <a:xfrm>
            <a:off x="12258675" y="431482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KEY_THEMES</a:t>
            </a:r>
            <a:endParaRPr lang="en-US" sz="825" dirty="0"/>
          </a:p>
        </p:txBody>
      </p:sp>
      <p:sp>
        <p:nvSpPr>
          <p:cNvPr id="58" name="Shape 56"/>
          <p:cNvSpPr/>
          <p:nvPr/>
        </p:nvSpPr>
        <p:spPr>
          <a:xfrm>
            <a:off x="12258675" y="4467225"/>
            <a:ext cx="769739" cy="190500"/>
          </a:xfrm>
          <a:prstGeom prst="rect">
            <a:avLst/>
          </a:prstGeom>
          <a:solidFill>
            <a:srgbClr val="D4B06A">
              <a:alpha val="14000"/>
            </a:srgbClr>
          </a:solidFill>
          <a:ln/>
        </p:spPr>
      </p:sp>
      <p:sp>
        <p:nvSpPr>
          <p:cNvPr id="59" name="Text 57"/>
          <p:cNvSpPr/>
          <p:nvPr/>
        </p:nvSpPr>
        <p:spPr>
          <a:xfrm>
            <a:off x="12334875" y="4495800"/>
            <a:ext cx="693539"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packaging</a:t>
            </a:r>
            <a:endParaRPr lang="en-US" sz="900" dirty="0"/>
          </a:p>
        </p:txBody>
      </p:sp>
      <p:sp>
        <p:nvSpPr>
          <p:cNvPr id="60" name="Shape 58"/>
          <p:cNvSpPr/>
          <p:nvPr/>
        </p:nvSpPr>
        <p:spPr>
          <a:xfrm>
            <a:off x="13085564" y="4467225"/>
            <a:ext cx="906959" cy="190500"/>
          </a:xfrm>
          <a:prstGeom prst="rect">
            <a:avLst/>
          </a:prstGeom>
          <a:solidFill>
            <a:srgbClr val="D4B06A">
              <a:alpha val="14000"/>
            </a:srgbClr>
          </a:solidFill>
          <a:ln/>
        </p:spPr>
      </p:sp>
      <p:sp>
        <p:nvSpPr>
          <p:cNvPr id="61" name="Text 59"/>
          <p:cNvSpPr/>
          <p:nvPr/>
        </p:nvSpPr>
        <p:spPr>
          <a:xfrm>
            <a:off x="13161764" y="4495800"/>
            <a:ext cx="830759"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shade range</a:t>
            </a:r>
            <a:endParaRPr lang="en-US" sz="900" dirty="0"/>
          </a:p>
        </p:txBody>
      </p:sp>
      <p:sp>
        <p:nvSpPr>
          <p:cNvPr id="62" name="Shape 60"/>
          <p:cNvSpPr/>
          <p:nvPr/>
        </p:nvSpPr>
        <p:spPr>
          <a:xfrm>
            <a:off x="14049673" y="4467225"/>
            <a:ext cx="1112788" cy="190500"/>
          </a:xfrm>
          <a:prstGeom prst="rect">
            <a:avLst/>
          </a:prstGeom>
          <a:solidFill>
            <a:srgbClr val="D4B06A">
              <a:alpha val="14000"/>
            </a:srgbClr>
          </a:solidFill>
          <a:ln/>
        </p:spPr>
      </p:sp>
      <p:sp>
        <p:nvSpPr>
          <p:cNvPr id="63" name="Text 61"/>
          <p:cNvSpPr/>
          <p:nvPr/>
        </p:nvSpPr>
        <p:spPr>
          <a:xfrm>
            <a:off x="14125873" y="4495800"/>
            <a:ext cx="1036588"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drying formula</a:t>
            </a:r>
            <a:endParaRPr lang="en-US" sz="900" dirty="0"/>
          </a:p>
        </p:txBody>
      </p:sp>
      <p:sp>
        <p:nvSpPr>
          <p:cNvPr id="64" name="Shape 62"/>
          <p:cNvSpPr/>
          <p:nvPr/>
        </p:nvSpPr>
        <p:spPr>
          <a:xfrm>
            <a:off x="15219611" y="4467225"/>
            <a:ext cx="632668" cy="190500"/>
          </a:xfrm>
          <a:prstGeom prst="rect">
            <a:avLst/>
          </a:prstGeom>
          <a:solidFill>
            <a:srgbClr val="D4B06A">
              <a:alpha val="14000"/>
            </a:srgbClr>
          </a:solidFill>
          <a:ln/>
        </p:spPr>
      </p:sp>
      <p:sp>
        <p:nvSpPr>
          <p:cNvPr id="65" name="Text 63"/>
          <p:cNvSpPr/>
          <p:nvPr/>
        </p:nvSpPr>
        <p:spPr>
          <a:xfrm>
            <a:off x="15295811" y="4495800"/>
            <a:ext cx="556468"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creases</a:t>
            </a:r>
            <a:endParaRPr lang="en-US" sz="900" dirty="0"/>
          </a:p>
        </p:txBody>
      </p:sp>
      <p:sp>
        <p:nvSpPr>
          <p:cNvPr id="66" name="Shape 64"/>
          <p:cNvSpPr/>
          <p:nvPr/>
        </p:nvSpPr>
        <p:spPr>
          <a:xfrm>
            <a:off x="15909429" y="4467225"/>
            <a:ext cx="769739" cy="190500"/>
          </a:xfrm>
          <a:prstGeom prst="rect">
            <a:avLst/>
          </a:prstGeom>
          <a:solidFill>
            <a:srgbClr val="D4B06A">
              <a:alpha val="14000"/>
            </a:srgbClr>
          </a:solidFill>
          <a:ln/>
        </p:spPr>
      </p:sp>
      <p:sp>
        <p:nvSpPr>
          <p:cNvPr id="67" name="Text 65"/>
          <p:cNvSpPr/>
          <p:nvPr/>
        </p:nvSpPr>
        <p:spPr>
          <a:xfrm>
            <a:off x="15985629" y="4495800"/>
            <a:ext cx="693539" cy="171450"/>
          </a:xfrm>
          <a:prstGeom prst="rect">
            <a:avLst/>
          </a:prstGeom>
          <a:noFill/>
          <a:ln/>
        </p:spPr>
        <p:txBody>
          <a:bodyPr wrap="square" lIns="25400" tIns="25400" rIns="25400" bIns="25400" rtlCol="0" anchor="t">
            <a:normAutofit/>
          </a:bodyPr>
          <a:lstStyle/>
          <a:p>
            <a:pPr algn="l" indent="0" marL="0">
              <a:buNone/>
            </a:pPr>
            <a:r>
              <a:rPr lang="en-US" sz="900" dirty="0">
                <a:solidFill>
                  <a:srgbClr val="E9C984"/>
                </a:solidFill>
                <a:latin typeface="Courier New" pitchFamily="34" charset="0"/>
                <a:ea typeface="Courier New" pitchFamily="34" charset="-122"/>
                <a:cs typeface="Courier New" pitchFamily="34" charset="-120"/>
              </a:rPr>
              <a:t>uncertain</a:t>
            </a:r>
            <a:endParaRPr lang="en-US" sz="900" dirty="0"/>
          </a:p>
        </p:txBody>
      </p:sp>
      <p:sp>
        <p:nvSpPr>
          <p:cNvPr id="68" name="Text 66"/>
          <p:cNvSpPr/>
          <p:nvPr/>
        </p:nvSpPr>
        <p:spPr>
          <a:xfrm>
            <a:off x="12258675" y="477202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SUMMARY</a:t>
            </a:r>
            <a:endParaRPr lang="en-US" sz="825" dirty="0"/>
          </a:p>
        </p:txBody>
      </p:sp>
      <p:sp>
        <p:nvSpPr>
          <p:cNvPr id="69" name="Text 67"/>
          <p:cNvSpPr/>
          <p:nvPr/>
        </p:nvSpPr>
        <p:spPr>
          <a:xfrm>
            <a:off x="12258675" y="4924425"/>
            <a:ext cx="4964240" cy="419100"/>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EEF2F8"/>
                </a:solidFill>
                <a:latin typeface="Arial" pitchFamily="34" charset="0"/>
                <a:ea typeface="Arial" pitchFamily="34" charset="-122"/>
                <a:cs typeface="Arial" pitchFamily="34" charset="-120"/>
              </a:rPr>
              <a:t>Attractive packaging and broad shade range, but formula is too drying with creasing issues.</a:t>
            </a:r>
            <a:endParaRPr lang="en-US" sz="1050" dirty="0"/>
          </a:p>
        </p:txBody>
      </p:sp>
      <p:sp>
        <p:nvSpPr>
          <p:cNvPr id="70" name="Text 68"/>
          <p:cNvSpPr/>
          <p:nvPr/>
        </p:nvSpPr>
        <p:spPr>
          <a:xfrm>
            <a:off x="12258675" y="5419725"/>
            <a:ext cx="4964240" cy="152400"/>
          </a:xfrm>
          <a:prstGeom prst="rect">
            <a:avLst/>
          </a:prstGeom>
          <a:noFill/>
          <a:ln/>
        </p:spPr>
        <p:txBody>
          <a:bodyPr wrap="square" lIns="25400" tIns="25400" rIns="25400" bIns="25400" rtlCol="0" anchor="t">
            <a:normAutofit/>
          </a:bodyPr>
          <a:lstStyle/>
          <a:p>
            <a:pPr algn="l" indent="0" marL="0">
              <a:buNone/>
            </a:pPr>
            <a:r>
              <a:rPr lang="en-US" sz="825" spc="116" kern="0" dirty="0">
                <a:solidFill>
                  <a:srgbClr val="7D8AA3"/>
                </a:solidFill>
                <a:latin typeface="Courier New" pitchFamily="34" charset="0"/>
                <a:ea typeface="Courier New" pitchFamily="34" charset="-122"/>
                <a:cs typeface="Courier New" pitchFamily="34" charset="-120"/>
              </a:rPr>
              <a:t>MARKET_CONTEXT</a:t>
            </a:r>
            <a:endParaRPr lang="en-US" sz="825" dirty="0"/>
          </a:p>
        </p:txBody>
      </p:sp>
      <p:sp>
        <p:nvSpPr>
          <p:cNvPr id="71" name="Text 69"/>
          <p:cNvSpPr/>
          <p:nvPr/>
        </p:nvSpPr>
        <p:spPr>
          <a:xfrm>
            <a:off x="12258675" y="5572125"/>
            <a:ext cx="4964240" cy="381000"/>
          </a:xfrm>
          <a:prstGeom prst="rect">
            <a:avLst/>
          </a:prstGeom>
          <a:noFill/>
          <a:ln/>
        </p:spPr>
        <p:txBody>
          <a:bodyPr wrap="square" lIns="25400" tIns="25400" rIns="25400" bIns="25400" rtlCol="0" anchor="t">
            <a:normAutofit/>
          </a:bodyPr>
          <a:lstStyle/>
          <a:p>
            <a:pPr algn="l" indent="0" marL="0">
              <a:lnSpc>
                <a:spcPct val="145000"/>
              </a:lnSpc>
              <a:buNone/>
            </a:pPr>
            <a:r>
              <a:rPr lang="en-US" sz="975" dirty="0">
                <a:solidFill>
                  <a:srgbClr val="B8C2D4"/>
                </a:solidFill>
                <a:latin typeface="Arial" pitchFamily="34" charset="0"/>
                <a:ea typeface="Arial" pitchFamily="34" charset="-122"/>
                <a:cs typeface="Arial" pitchFamily="34" charset="-120"/>
              </a:rPr>
              <a:t>Concealers 2023 — Tarte Shape Tape, NARS Radiant Creamy; tendance hydratants et longévité contre sécheresse et creasing.</a:t>
            </a:r>
            <a:endParaRPr lang="en-US" sz="975" dirty="0"/>
          </a:p>
        </p:txBody>
      </p:sp>
      <p:sp>
        <p:nvSpPr>
          <p:cNvPr id="72" name="Text 70"/>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73" name="Text 71"/>
          <p:cNvSpPr/>
          <p:nvPr/>
        </p:nvSpPr>
        <p:spPr>
          <a:xfrm>
            <a:off x="15310842" y="9791700"/>
            <a:ext cx="2100858"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A. LOUZAL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436638"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09 — RETOURS</a:t>
            </a:r>
            <a:endParaRPr lang="en-US" sz="1125" dirty="0"/>
          </a:p>
        </p:txBody>
      </p:sp>
      <p:sp>
        <p:nvSpPr>
          <p:cNvPr id="3" name="Text 1"/>
          <p:cNvSpPr/>
          <p:nvPr/>
        </p:nvSpPr>
        <p:spPr>
          <a:xfrm>
            <a:off x="14614624" y="342900"/>
            <a:ext cx="2802502"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DÉFIS TECHNIQUES &amp; SOLUTIONS</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DIX OBSTACLES, DIX RÉSOLUTIONS</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Ce qui n'a pas marché du premier coup — et comment on l'a résolu.</a:t>
            </a:r>
            <a:endParaRPr lang="en-US" sz="4500" dirty="0"/>
          </a:p>
        </p:txBody>
      </p:sp>
      <p:sp>
        <p:nvSpPr>
          <p:cNvPr id="6" name="Shape 4"/>
          <p:cNvSpPr/>
          <p:nvPr/>
        </p:nvSpPr>
        <p:spPr>
          <a:xfrm>
            <a:off x="952500" y="3609975"/>
            <a:ext cx="8020050" cy="9525"/>
          </a:xfrm>
          <a:prstGeom prst="rect">
            <a:avLst/>
          </a:prstGeom>
          <a:solidFill>
            <a:srgbClr val="213251"/>
          </a:solidFill>
          <a:ln/>
        </p:spPr>
      </p:sp>
      <p:sp>
        <p:nvSpPr>
          <p:cNvPr id="7" name="Shape 5"/>
          <p:cNvSpPr/>
          <p:nvPr/>
        </p:nvSpPr>
        <p:spPr>
          <a:xfrm>
            <a:off x="952500" y="3048000"/>
            <a:ext cx="285750" cy="285750"/>
          </a:xfrm>
          <a:prstGeom prst="rect">
            <a:avLst/>
          </a:prstGeom>
          <a:ln w="9525">
            <a:solidFill>
              <a:srgbClr val="D4B06A"/>
            </a:solidFill>
            <a:prstDash val="solid"/>
          </a:ln>
        </p:spPr>
      </p:sp>
      <p:sp>
        <p:nvSpPr>
          <p:cNvPr id="8" name="Text 6"/>
          <p:cNvSpPr/>
          <p:nvPr/>
        </p:nvSpPr>
        <p:spPr>
          <a:xfrm>
            <a:off x="962025" y="3057525"/>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1</a:t>
            </a:r>
            <a:endParaRPr lang="en-US" sz="1050" dirty="0"/>
          </a:p>
        </p:txBody>
      </p:sp>
      <p:sp>
        <p:nvSpPr>
          <p:cNvPr id="9" name="Text 7"/>
          <p:cNvSpPr/>
          <p:nvPr/>
        </p:nvSpPr>
        <p:spPr>
          <a:xfrm>
            <a:off x="1447800" y="3028950"/>
            <a:ext cx="7750492" cy="247650"/>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CrewAI 0.5.0 ne ship pas </a:t>
            </a:r>
            <a:pPr algn="l" indent="0" marL="0">
              <a:lnSpc>
                <a:spcPct val="145000"/>
              </a:lnSpc>
              <a:buNone/>
            </a:pPr>
            <a:r>
              <a:rPr lang="en-US" sz="1125" dirty="0">
                <a:solidFill>
                  <a:srgbClr val="EEF2F8"/>
                </a:solidFill>
                <a:latin typeface="Courier New" pitchFamily="34" charset="0"/>
                <a:ea typeface="Courier New" pitchFamily="34" charset="-122"/>
                <a:cs typeface="Courier New" pitchFamily="34" charset="-120"/>
              </a:rPr>
              <a:t>crewai.tools.BaseTool</a:t>
            </a:r>
            <a:endParaRPr lang="en-US" sz="1125" dirty="0"/>
          </a:p>
        </p:txBody>
      </p:sp>
      <p:sp>
        <p:nvSpPr>
          <p:cNvPr id="10" name="Text 8"/>
          <p:cNvSpPr/>
          <p:nvPr/>
        </p:nvSpPr>
        <p:spPr>
          <a:xfrm>
            <a:off x="1447800" y="3276600"/>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Fallback try/except sur langchain.tools.BaseTool</a:t>
            </a:r>
            <a:endParaRPr lang="en-US" sz="975" dirty="0"/>
          </a:p>
        </p:txBody>
      </p:sp>
      <p:sp>
        <p:nvSpPr>
          <p:cNvPr id="11" name="Shape 9"/>
          <p:cNvSpPr/>
          <p:nvPr/>
        </p:nvSpPr>
        <p:spPr>
          <a:xfrm>
            <a:off x="9315450" y="3609975"/>
            <a:ext cx="8020050" cy="9525"/>
          </a:xfrm>
          <a:prstGeom prst="rect">
            <a:avLst/>
          </a:prstGeom>
          <a:solidFill>
            <a:srgbClr val="213251"/>
          </a:solidFill>
          <a:ln/>
        </p:spPr>
      </p:sp>
      <p:sp>
        <p:nvSpPr>
          <p:cNvPr id="12" name="Shape 10"/>
          <p:cNvSpPr/>
          <p:nvPr/>
        </p:nvSpPr>
        <p:spPr>
          <a:xfrm>
            <a:off x="9315450" y="3048000"/>
            <a:ext cx="285750" cy="285750"/>
          </a:xfrm>
          <a:prstGeom prst="rect">
            <a:avLst/>
          </a:prstGeom>
          <a:ln w="9525">
            <a:solidFill>
              <a:srgbClr val="D4B06A"/>
            </a:solidFill>
            <a:prstDash val="solid"/>
          </a:ln>
        </p:spPr>
      </p:sp>
      <p:sp>
        <p:nvSpPr>
          <p:cNvPr id="13" name="Text 11"/>
          <p:cNvSpPr/>
          <p:nvPr/>
        </p:nvSpPr>
        <p:spPr>
          <a:xfrm>
            <a:off x="9324975" y="3057525"/>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2</a:t>
            </a:r>
            <a:endParaRPr lang="en-US" sz="1050" dirty="0"/>
          </a:p>
        </p:txBody>
      </p:sp>
      <p:sp>
        <p:nvSpPr>
          <p:cNvPr id="14" name="Text 12"/>
          <p:cNvSpPr/>
          <p:nvPr/>
        </p:nvSpPr>
        <p:spPr>
          <a:xfrm>
            <a:off x="9810750" y="3028950"/>
            <a:ext cx="7750492" cy="23812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Bug 0.5.0 — Agents sans outil crashent (AgentFinish)</a:t>
            </a:r>
            <a:endParaRPr lang="en-US" sz="1125" dirty="0"/>
          </a:p>
        </p:txBody>
      </p:sp>
      <p:sp>
        <p:nvSpPr>
          <p:cNvPr id="15" name="Text 13"/>
          <p:cNvSpPr/>
          <p:nvPr/>
        </p:nvSpPr>
        <p:spPr>
          <a:xfrm>
            <a:off x="9810750" y="3267075"/>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Dummy tool no_op attaché au ReportAgent, jamais appelé</a:t>
            </a:r>
            <a:endParaRPr lang="en-US" sz="975" dirty="0"/>
          </a:p>
        </p:txBody>
      </p:sp>
      <p:sp>
        <p:nvSpPr>
          <p:cNvPr id="16" name="Shape 14"/>
          <p:cNvSpPr/>
          <p:nvPr/>
        </p:nvSpPr>
        <p:spPr>
          <a:xfrm>
            <a:off x="952500" y="4514850"/>
            <a:ext cx="8020050" cy="9525"/>
          </a:xfrm>
          <a:prstGeom prst="rect">
            <a:avLst/>
          </a:prstGeom>
          <a:solidFill>
            <a:srgbClr val="213251"/>
          </a:solidFill>
          <a:ln/>
        </p:spPr>
      </p:sp>
      <p:sp>
        <p:nvSpPr>
          <p:cNvPr id="17" name="Shape 15"/>
          <p:cNvSpPr/>
          <p:nvPr/>
        </p:nvSpPr>
        <p:spPr>
          <a:xfrm>
            <a:off x="952500" y="3962400"/>
            <a:ext cx="285750" cy="285750"/>
          </a:xfrm>
          <a:prstGeom prst="rect">
            <a:avLst/>
          </a:prstGeom>
          <a:ln w="9525">
            <a:solidFill>
              <a:srgbClr val="D4B06A"/>
            </a:solidFill>
            <a:prstDash val="solid"/>
          </a:ln>
        </p:spPr>
      </p:sp>
      <p:sp>
        <p:nvSpPr>
          <p:cNvPr id="18" name="Text 16"/>
          <p:cNvSpPr/>
          <p:nvPr/>
        </p:nvSpPr>
        <p:spPr>
          <a:xfrm>
            <a:off x="962025" y="3971925"/>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3</a:t>
            </a:r>
            <a:endParaRPr lang="en-US" sz="1050" dirty="0"/>
          </a:p>
        </p:txBody>
      </p:sp>
      <p:sp>
        <p:nvSpPr>
          <p:cNvPr id="19" name="Text 17"/>
          <p:cNvSpPr/>
          <p:nvPr/>
        </p:nvSpPr>
        <p:spPr>
          <a:xfrm>
            <a:off x="1447800" y="3943350"/>
            <a:ext cx="7750492" cy="23812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Gemini 2.0 Flash — rate limits + JSON mode instables</a:t>
            </a:r>
            <a:endParaRPr lang="en-US" sz="1125" dirty="0"/>
          </a:p>
        </p:txBody>
      </p:sp>
      <p:sp>
        <p:nvSpPr>
          <p:cNvPr id="20" name="Text 18"/>
          <p:cNvSpPr/>
          <p:nvPr/>
        </p:nvSpPr>
        <p:spPr>
          <a:xfrm>
            <a:off x="1447800" y="4181475"/>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Migration vers OpenAI gpt-4o-mini pour les 3 agents</a:t>
            </a:r>
            <a:endParaRPr lang="en-US" sz="975" dirty="0"/>
          </a:p>
        </p:txBody>
      </p:sp>
      <p:sp>
        <p:nvSpPr>
          <p:cNvPr id="21" name="Shape 19"/>
          <p:cNvSpPr/>
          <p:nvPr/>
        </p:nvSpPr>
        <p:spPr>
          <a:xfrm>
            <a:off x="9315450" y="4514850"/>
            <a:ext cx="8020050" cy="9525"/>
          </a:xfrm>
          <a:prstGeom prst="rect">
            <a:avLst/>
          </a:prstGeom>
          <a:solidFill>
            <a:srgbClr val="213251"/>
          </a:solidFill>
          <a:ln/>
        </p:spPr>
      </p:sp>
      <p:sp>
        <p:nvSpPr>
          <p:cNvPr id="22" name="Shape 20"/>
          <p:cNvSpPr/>
          <p:nvPr/>
        </p:nvSpPr>
        <p:spPr>
          <a:xfrm>
            <a:off x="9315450" y="3962400"/>
            <a:ext cx="285750" cy="285750"/>
          </a:xfrm>
          <a:prstGeom prst="rect">
            <a:avLst/>
          </a:prstGeom>
          <a:ln w="9525">
            <a:solidFill>
              <a:srgbClr val="D4B06A"/>
            </a:solidFill>
            <a:prstDash val="solid"/>
          </a:ln>
        </p:spPr>
      </p:sp>
      <p:sp>
        <p:nvSpPr>
          <p:cNvPr id="23" name="Text 21"/>
          <p:cNvSpPr/>
          <p:nvPr/>
        </p:nvSpPr>
        <p:spPr>
          <a:xfrm>
            <a:off x="9324975" y="3971925"/>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4</a:t>
            </a:r>
            <a:endParaRPr lang="en-US" sz="1050" dirty="0"/>
          </a:p>
        </p:txBody>
      </p:sp>
      <p:sp>
        <p:nvSpPr>
          <p:cNvPr id="24" name="Text 22"/>
          <p:cNvSpPr/>
          <p:nvPr/>
        </p:nvSpPr>
        <p:spPr>
          <a:xfrm>
            <a:off x="9810750" y="3943350"/>
            <a:ext cx="7750492" cy="23812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Fichiers BERT ~440 MB commités, blocage GitHub 100 MB</a:t>
            </a:r>
            <a:endParaRPr lang="en-US" sz="1125" dirty="0"/>
          </a:p>
        </p:txBody>
      </p:sp>
      <p:sp>
        <p:nvSpPr>
          <p:cNvPr id="25" name="Text 23"/>
          <p:cNvSpPr/>
          <p:nvPr/>
        </p:nvSpPr>
        <p:spPr>
          <a:xfrm>
            <a:off x="9810750" y="4181475"/>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git filter-repo + tag de backup avant rewrite</a:t>
            </a:r>
            <a:endParaRPr lang="en-US" sz="975" dirty="0"/>
          </a:p>
        </p:txBody>
      </p:sp>
      <p:sp>
        <p:nvSpPr>
          <p:cNvPr id="26" name="Shape 24"/>
          <p:cNvSpPr/>
          <p:nvPr/>
        </p:nvSpPr>
        <p:spPr>
          <a:xfrm>
            <a:off x="952500" y="5429250"/>
            <a:ext cx="8020050" cy="9525"/>
          </a:xfrm>
          <a:prstGeom prst="rect">
            <a:avLst/>
          </a:prstGeom>
          <a:solidFill>
            <a:srgbClr val="213251"/>
          </a:solidFill>
          <a:ln/>
        </p:spPr>
      </p:sp>
      <p:sp>
        <p:nvSpPr>
          <p:cNvPr id="27" name="Shape 25"/>
          <p:cNvSpPr/>
          <p:nvPr/>
        </p:nvSpPr>
        <p:spPr>
          <a:xfrm>
            <a:off x="952500" y="4867275"/>
            <a:ext cx="285750" cy="285750"/>
          </a:xfrm>
          <a:prstGeom prst="rect">
            <a:avLst/>
          </a:prstGeom>
          <a:ln w="9525">
            <a:solidFill>
              <a:srgbClr val="D4B06A"/>
            </a:solidFill>
            <a:prstDash val="solid"/>
          </a:ln>
        </p:spPr>
      </p:sp>
      <p:sp>
        <p:nvSpPr>
          <p:cNvPr id="28" name="Text 26"/>
          <p:cNvSpPr/>
          <p:nvPr/>
        </p:nvSpPr>
        <p:spPr>
          <a:xfrm>
            <a:off x="962025" y="4876800"/>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5</a:t>
            </a:r>
            <a:endParaRPr lang="en-US" sz="1050" dirty="0"/>
          </a:p>
        </p:txBody>
      </p:sp>
      <p:sp>
        <p:nvSpPr>
          <p:cNvPr id="29" name="Text 27"/>
          <p:cNvSpPr/>
          <p:nvPr/>
        </p:nvSpPr>
        <p:spPr>
          <a:xfrm>
            <a:off x="1447800" y="4848225"/>
            <a:ext cx="7750492" cy="247650"/>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WeasyPrint macOS — </a:t>
            </a:r>
            <a:pPr algn="l" indent="0" marL="0">
              <a:lnSpc>
                <a:spcPct val="145000"/>
              </a:lnSpc>
              <a:buNone/>
            </a:pPr>
            <a:r>
              <a:rPr lang="en-US" sz="1125" dirty="0">
                <a:solidFill>
                  <a:srgbClr val="EEF2F8"/>
                </a:solidFill>
                <a:latin typeface="Courier New" pitchFamily="34" charset="0"/>
                <a:ea typeface="Courier New" pitchFamily="34" charset="-122"/>
                <a:cs typeface="Courier New" pitchFamily="34" charset="-120"/>
              </a:rPr>
              <a:t>libgobject </a:t>
            </a:r>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non chargée (SIP)</a:t>
            </a:r>
            <a:endParaRPr lang="en-US" sz="1125" dirty="0"/>
          </a:p>
        </p:txBody>
      </p:sp>
      <p:sp>
        <p:nvSpPr>
          <p:cNvPr id="30" name="Text 28"/>
          <p:cNvSpPr/>
          <p:nvPr/>
        </p:nvSpPr>
        <p:spPr>
          <a:xfrm>
            <a:off x="1447800" y="5095875"/>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Switch sur Python 3.10 Homebrew + brew install pango</a:t>
            </a:r>
            <a:endParaRPr lang="en-US" sz="975" dirty="0"/>
          </a:p>
        </p:txBody>
      </p:sp>
      <p:sp>
        <p:nvSpPr>
          <p:cNvPr id="31" name="Shape 29"/>
          <p:cNvSpPr/>
          <p:nvPr/>
        </p:nvSpPr>
        <p:spPr>
          <a:xfrm>
            <a:off x="9315450" y="5429250"/>
            <a:ext cx="8020050" cy="9525"/>
          </a:xfrm>
          <a:prstGeom prst="rect">
            <a:avLst/>
          </a:prstGeom>
          <a:solidFill>
            <a:srgbClr val="213251"/>
          </a:solidFill>
          <a:ln/>
        </p:spPr>
      </p:sp>
      <p:sp>
        <p:nvSpPr>
          <p:cNvPr id="32" name="Shape 30"/>
          <p:cNvSpPr/>
          <p:nvPr/>
        </p:nvSpPr>
        <p:spPr>
          <a:xfrm>
            <a:off x="9315450" y="4867275"/>
            <a:ext cx="285750" cy="285750"/>
          </a:xfrm>
          <a:prstGeom prst="rect">
            <a:avLst/>
          </a:prstGeom>
          <a:ln w="9525">
            <a:solidFill>
              <a:srgbClr val="D4B06A"/>
            </a:solidFill>
            <a:prstDash val="solid"/>
          </a:ln>
        </p:spPr>
      </p:sp>
      <p:sp>
        <p:nvSpPr>
          <p:cNvPr id="33" name="Text 31"/>
          <p:cNvSpPr/>
          <p:nvPr/>
        </p:nvSpPr>
        <p:spPr>
          <a:xfrm>
            <a:off x="9324975" y="4876800"/>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6</a:t>
            </a:r>
            <a:endParaRPr lang="en-US" sz="1050" dirty="0"/>
          </a:p>
        </p:txBody>
      </p:sp>
      <p:sp>
        <p:nvSpPr>
          <p:cNvPr id="34" name="Text 32"/>
          <p:cNvSpPr/>
          <p:nvPr/>
        </p:nvSpPr>
        <p:spPr>
          <a:xfrm>
            <a:off x="9810750" y="4848225"/>
            <a:ext cx="7750492" cy="23812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PDF rendu à 21 pages vs. cible 8–12</a:t>
            </a:r>
            <a:endParaRPr lang="en-US" sz="1125" dirty="0"/>
          </a:p>
        </p:txBody>
      </p:sp>
      <p:sp>
        <p:nvSpPr>
          <p:cNvPr id="35" name="Text 33"/>
          <p:cNvSpPr/>
          <p:nvPr/>
        </p:nvSpPr>
        <p:spPr>
          <a:xfrm>
            <a:off x="9810750" y="5086350"/>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CSS resserrée — 12pt→10.5pt, line-height, marges → 12 pages</a:t>
            </a:r>
            <a:endParaRPr lang="en-US" sz="975" dirty="0"/>
          </a:p>
        </p:txBody>
      </p:sp>
      <p:sp>
        <p:nvSpPr>
          <p:cNvPr id="36" name="Shape 34"/>
          <p:cNvSpPr/>
          <p:nvPr/>
        </p:nvSpPr>
        <p:spPr>
          <a:xfrm>
            <a:off x="952500" y="6334125"/>
            <a:ext cx="8020050" cy="9525"/>
          </a:xfrm>
          <a:prstGeom prst="rect">
            <a:avLst/>
          </a:prstGeom>
          <a:solidFill>
            <a:srgbClr val="213251"/>
          </a:solidFill>
          <a:ln/>
        </p:spPr>
      </p:sp>
      <p:sp>
        <p:nvSpPr>
          <p:cNvPr id="37" name="Shape 35"/>
          <p:cNvSpPr/>
          <p:nvPr/>
        </p:nvSpPr>
        <p:spPr>
          <a:xfrm>
            <a:off x="952500" y="5781675"/>
            <a:ext cx="285750" cy="285750"/>
          </a:xfrm>
          <a:prstGeom prst="rect">
            <a:avLst/>
          </a:prstGeom>
          <a:ln w="9525">
            <a:solidFill>
              <a:srgbClr val="D4B06A"/>
            </a:solidFill>
            <a:prstDash val="solid"/>
          </a:ln>
        </p:spPr>
      </p:sp>
      <p:sp>
        <p:nvSpPr>
          <p:cNvPr id="38" name="Text 36"/>
          <p:cNvSpPr/>
          <p:nvPr/>
        </p:nvSpPr>
        <p:spPr>
          <a:xfrm>
            <a:off x="962025" y="5791200"/>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7</a:t>
            </a:r>
            <a:endParaRPr lang="en-US" sz="1050" dirty="0"/>
          </a:p>
        </p:txBody>
      </p:sp>
      <p:sp>
        <p:nvSpPr>
          <p:cNvPr id="39" name="Text 37"/>
          <p:cNvSpPr/>
          <p:nvPr/>
        </p:nvSpPr>
        <p:spPr>
          <a:xfrm>
            <a:off x="1447800" y="5762625"/>
            <a:ext cx="7750492" cy="23812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markdown-pdf — 43 pages, abandonné</a:t>
            </a:r>
            <a:endParaRPr lang="en-US" sz="1125" dirty="0"/>
          </a:p>
        </p:txBody>
      </p:sp>
      <p:sp>
        <p:nvSpPr>
          <p:cNvPr id="40" name="Text 38"/>
          <p:cNvSpPr/>
          <p:nvPr/>
        </p:nvSpPr>
        <p:spPr>
          <a:xfrm>
            <a:off x="1447800" y="6000750"/>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Rebuild sur WeasyPrint avec @page paged-media natif</a:t>
            </a:r>
            <a:endParaRPr lang="en-US" sz="975" dirty="0"/>
          </a:p>
        </p:txBody>
      </p:sp>
      <p:sp>
        <p:nvSpPr>
          <p:cNvPr id="41" name="Shape 39"/>
          <p:cNvSpPr/>
          <p:nvPr/>
        </p:nvSpPr>
        <p:spPr>
          <a:xfrm>
            <a:off x="9315450" y="6334125"/>
            <a:ext cx="8020050" cy="9525"/>
          </a:xfrm>
          <a:prstGeom prst="rect">
            <a:avLst/>
          </a:prstGeom>
          <a:solidFill>
            <a:srgbClr val="213251"/>
          </a:solidFill>
          <a:ln/>
        </p:spPr>
      </p:sp>
      <p:sp>
        <p:nvSpPr>
          <p:cNvPr id="42" name="Shape 40"/>
          <p:cNvSpPr/>
          <p:nvPr/>
        </p:nvSpPr>
        <p:spPr>
          <a:xfrm>
            <a:off x="9315450" y="5781675"/>
            <a:ext cx="285750" cy="285750"/>
          </a:xfrm>
          <a:prstGeom prst="rect">
            <a:avLst/>
          </a:prstGeom>
          <a:ln w="9525">
            <a:solidFill>
              <a:srgbClr val="D4B06A"/>
            </a:solidFill>
            <a:prstDash val="solid"/>
          </a:ln>
        </p:spPr>
      </p:sp>
      <p:sp>
        <p:nvSpPr>
          <p:cNvPr id="43" name="Text 41"/>
          <p:cNvSpPr/>
          <p:nvPr/>
        </p:nvSpPr>
        <p:spPr>
          <a:xfrm>
            <a:off x="9324975" y="5791200"/>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8</a:t>
            </a:r>
            <a:endParaRPr lang="en-US" sz="1050" dirty="0"/>
          </a:p>
        </p:txBody>
      </p:sp>
      <p:sp>
        <p:nvSpPr>
          <p:cNvPr id="44" name="Text 42"/>
          <p:cNvSpPr/>
          <p:nvPr/>
        </p:nvSpPr>
        <p:spPr>
          <a:xfrm>
            <a:off x="9810750" y="5762625"/>
            <a:ext cx="7750492" cy="23812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PPTX — 9 régressions visuelles (overflow, connecteurs)</a:t>
            </a:r>
            <a:endParaRPr lang="en-US" sz="1125" dirty="0"/>
          </a:p>
        </p:txBody>
      </p:sp>
      <p:sp>
        <p:nvSpPr>
          <p:cNvPr id="45" name="Text 43"/>
          <p:cNvSpPr/>
          <p:nvPr/>
        </p:nvSpPr>
        <p:spPr>
          <a:xfrm>
            <a:off x="9810750" y="6000750"/>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Deux passes QA via subagent reviewer, 11 corrections totales</a:t>
            </a:r>
            <a:endParaRPr lang="en-US" sz="975" dirty="0"/>
          </a:p>
        </p:txBody>
      </p:sp>
      <p:sp>
        <p:nvSpPr>
          <p:cNvPr id="46" name="Shape 44"/>
          <p:cNvSpPr/>
          <p:nvPr/>
        </p:nvSpPr>
        <p:spPr>
          <a:xfrm>
            <a:off x="952500" y="7248525"/>
            <a:ext cx="8020050" cy="9525"/>
          </a:xfrm>
          <a:prstGeom prst="rect">
            <a:avLst/>
          </a:prstGeom>
          <a:solidFill>
            <a:srgbClr val="213251"/>
          </a:solidFill>
          <a:ln/>
        </p:spPr>
      </p:sp>
      <p:sp>
        <p:nvSpPr>
          <p:cNvPr id="47" name="Shape 45"/>
          <p:cNvSpPr/>
          <p:nvPr/>
        </p:nvSpPr>
        <p:spPr>
          <a:xfrm>
            <a:off x="952500" y="6686550"/>
            <a:ext cx="285750" cy="285750"/>
          </a:xfrm>
          <a:prstGeom prst="rect">
            <a:avLst/>
          </a:prstGeom>
          <a:ln w="9525">
            <a:solidFill>
              <a:srgbClr val="D4B06A"/>
            </a:solidFill>
            <a:prstDash val="solid"/>
          </a:ln>
        </p:spPr>
      </p:sp>
      <p:sp>
        <p:nvSpPr>
          <p:cNvPr id="48" name="Text 46"/>
          <p:cNvSpPr/>
          <p:nvPr/>
        </p:nvSpPr>
        <p:spPr>
          <a:xfrm>
            <a:off x="962025" y="6696075"/>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9</a:t>
            </a:r>
            <a:endParaRPr lang="en-US" sz="1050" dirty="0"/>
          </a:p>
        </p:txBody>
      </p:sp>
      <p:sp>
        <p:nvSpPr>
          <p:cNvPr id="49" name="Text 47"/>
          <p:cNvSpPr/>
          <p:nvPr/>
        </p:nvSpPr>
        <p:spPr>
          <a:xfrm>
            <a:off x="1447800" y="6667500"/>
            <a:ext cx="7750492" cy="238125"/>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Log JSON doit rester valide entre runs avortés</a:t>
            </a:r>
            <a:endParaRPr lang="en-US" sz="1125" dirty="0"/>
          </a:p>
        </p:txBody>
      </p:sp>
      <p:sp>
        <p:nvSpPr>
          <p:cNvPr id="50" name="Text 48"/>
          <p:cNvSpPr/>
          <p:nvPr/>
        </p:nvSpPr>
        <p:spPr>
          <a:xfrm>
            <a:off x="1447800" y="6905625"/>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Load-modify-write l'array entier, reset silencieux si corrompu</a:t>
            </a:r>
            <a:endParaRPr lang="en-US" sz="975" dirty="0"/>
          </a:p>
        </p:txBody>
      </p:sp>
      <p:sp>
        <p:nvSpPr>
          <p:cNvPr id="51" name="Shape 49"/>
          <p:cNvSpPr/>
          <p:nvPr/>
        </p:nvSpPr>
        <p:spPr>
          <a:xfrm>
            <a:off x="9315450" y="7248525"/>
            <a:ext cx="8020050" cy="9525"/>
          </a:xfrm>
          <a:prstGeom prst="rect">
            <a:avLst/>
          </a:prstGeom>
          <a:solidFill>
            <a:srgbClr val="213251"/>
          </a:solidFill>
          <a:ln/>
        </p:spPr>
      </p:sp>
      <p:sp>
        <p:nvSpPr>
          <p:cNvPr id="52" name="Shape 50"/>
          <p:cNvSpPr/>
          <p:nvPr/>
        </p:nvSpPr>
        <p:spPr>
          <a:xfrm>
            <a:off x="9315450" y="6686550"/>
            <a:ext cx="285750" cy="285750"/>
          </a:xfrm>
          <a:prstGeom prst="rect">
            <a:avLst/>
          </a:prstGeom>
          <a:ln w="9525">
            <a:solidFill>
              <a:srgbClr val="D4B06A"/>
            </a:solidFill>
            <a:prstDash val="solid"/>
          </a:ln>
        </p:spPr>
      </p:sp>
      <p:sp>
        <p:nvSpPr>
          <p:cNvPr id="53" name="Text 51"/>
          <p:cNvSpPr/>
          <p:nvPr/>
        </p:nvSpPr>
        <p:spPr>
          <a:xfrm>
            <a:off x="9324975" y="6696075"/>
            <a:ext cx="342900" cy="304800"/>
          </a:xfrm>
          <a:prstGeom prst="rect">
            <a:avLst/>
          </a:prstGeom>
          <a:noFill/>
          <a:ln/>
        </p:spPr>
        <p:txBody>
          <a:bodyPr wrap="square" lIns="25400" tIns="25400" rIns="25400" bIns="25400" rtlCol="0" anchor="t">
            <a:normAutofit/>
          </a:bodyPr>
          <a:lstStyle/>
          <a:p>
            <a:pPr algn="l" indent="0" marL="0">
              <a:buNone/>
            </a:pPr>
            <a:r>
              <a:rPr lang="en-US" sz="1050" dirty="0">
                <a:solidFill>
                  <a:srgbClr val="D4B06A"/>
                </a:solidFill>
                <a:latin typeface="Courier New" pitchFamily="34" charset="0"/>
                <a:ea typeface="Courier New" pitchFamily="34" charset="-122"/>
                <a:cs typeface="Courier New" pitchFamily="34" charset="-120"/>
              </a:rPr>
              <a:t>10</a:t>
            </a:r>
            <a:endParaRPr lang="en-US" sz="1050" dirty="0"/>
          </a:p>
        </p:txBody>
      </p:sp>
      <p:sp>
        <p:nvSpPr>
          <p:cNvPr id="54" name="Text 52"/>
          <p:cNvSpPr/>
          <p:nvPr/>
        </p:nvSpPr>
        <p:spPr>
          <a:xfrm>
            <a:off x="9810750" y="6667500"/>
            <a:ext cx="7750492" cy="247650"/>
          </a:xfrm>
          <a:prstGeom prst="rect">
            <a:avLst/>
          </a:prstGeom>
          <a:noFill/>
          <a:ln/>
        </p:spPr>
        <p:txBody>
          <a:bodyPr wrap="square" lIns="25400" tIns="25400" rIns="25400" bIns="25400" rtlCol="0" anchor="t">
            <a:normAutofit/>
          </a:bodyPr>
          <a:lstStyle/>
          <a:p>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HITL </a:t>
            </a:r>
            <a:pPr algn="l" indent="0" marL="0">
              <a:lnSpc>
                <a:spcPct val="145000"/>
              </a:lnSpc>
              <a:buNone/>
            </a:pPr>
            <a:r>
              <a:rPr lang="en-US" sz="1125" dirty="0">
                <a:solidFill>
                  <a:srgbClr val="EEF2F8"/>
                </a:solidFill>
                <a:latin typeface="Courier New" pitchFamily="34" charset="0"/>
                <a:ea typeface="Courier New" pitchFamily="34" charset="-122"/>
                <a:cs typeface="Courier New" pitchFamily="34" charset="-120"/>
              </a:rPr>
              <a:t>input() </a:t>
            </a:r>
            <a:pPr algn="l" indent="0" marL="0">
              <a:lnSpc>
                <a:spcPct val="145000"/>
              </a:lnSpc>
              <a:buNone/>
            </a:pPr>
            <a:r>
              <a:rPr lang="en-US" sz="1125" dirty="0">
                <a:solidFill>
                  <a:srgbClr val="EEF2F8"/>
                </a:solidFill>
                <a:latin typeface="Arial" pitchFamily="34" charset="0"/>
                <a:ea typeface="Arial" pitchFamily="34" charset="-122"/>
                <a:cs typeface="Arial" pitchFamily="34" charset="-120"/>
              </a:rPr>
              <a:t>bloque pytest</a:t>
            </a:r>
            <a:endParaRPr lang="en-US" sz="1125" dirty="0"/>
          </a:p>
        </p:txBody>
      </p:sp>
      <p:sp>
        <p:nvSpPr>
          <p:cNvPr id="55" name="Text 53"/>
          <p:cNvSpPr/>
          <p:nvPr/>
        </p:nvSpPr>
        <p:spPr>
          <a:xfrm>
            <a:off x="9810750" y="6915150"/>
            <a:ext cx="7750492" cy="219075"/>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8C2D4"/>
                </a:solidFill>
                <a:latin typeface="Courier New" pitchFamily="34" charset="0"/>
                <a:ea typeface="Courier New" pitchFamily="34" charset="-122"/>
                <a:cs typeface="Courier New" pitchFamily="34" charset="-120"/>
              </a:rPr>
              <a:t>Monkey-patch builtins.input = lambda: "y" avant import</a:t>
            </a:r>
            <a:endParaRPr lang="en-US" sz="975" dirty="0"/>
          </a:p>
        </p:txBody>
      </p:sp>
      <p:sp>
        <p:nvSpPr>
          <p:cNvPr id="56" name="Text 54"/>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57" name="Text 55"/>
          <p:cNvSpPr/>
          <p:nvPr/>
        </p:nvSpPr>
        <p:spPr>
          <a:xfrm>
            <a:off x="15310842" y="9791700"/>
            <a:ext cx="2100858"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A. LOUZAL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26"/>
        </a:solidFill>
      </p:bgPr>
    </p:bg>
    <p:spTree>
      <p:nvGrpSpPr>
        <p:cNvPr id="1" name=""/>
        <p:cNvGrpSpPr/>
        <p:nvPr/>
      </p:nvGrpSpPr>
      <p:grpSpPr>
        <a:xfrm>
          <a:off x="0" y="0"/>
          <a:ext cx="0" cy="0"/>
          <a:chOff x="0" y="0"/>
          <a:chExt cx="0" cy="0"/>
        </a:xfrm>
      </p:grpSpPr>
      <p:sp>
        <p:nvSpPr>
          <p:cNvPr id="2" name="Text 0"/>
          <p:cNvSpPr/>
          <p:nvPr/>
        </p:nvSpPr>
        <p:spPr>
          <a:xfrm>
            <a:off x="952500" y="342900"/>
            <a:ext cx="1728192"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D4B06A"/>
                </a:solidFill>
                <a:latin typeface="Courier New" pitchFamily="34" charset="0"/>
                <a:ea typeface="Courier New" pitchFamily="34" charset="-122"/>
                <a:cs typeface="Courier New" pitchFamily="34" charset="-120"/>
              </a:rPr>
              <a:t>● </a:t>
            </a:r>
            <a:pPr algn="l" indent="0" marL="0">
              <a:buNone/>
            </a:pPr>
            <a:r>
              <a:rPr lang="en-US" sz="1125" spc="90" kern="0" dirty="0">
                <a:solidFill>
                  <a:srgbClr val="7D8AA3"/>
                </a:solidFill>
                <a:latin typeface="Courier New" pitchFamily="34" charset="0"/>
                <a:ea typeface="Courier New" pitchFamily="34" charset="-122"/>
                <a:cs typeface="Courier New" pitchFamily="34" charset="-120"/>
              </a:rPr>
              <a:t>10 — CONCLUSION</a:t>
            </a:r>
            <a:endParaRPr lang="en-US" sz="1125" dirty="0"/>
          </a:p>
        </p:txBody>
      </p:sp>
      <p:sp>
        <p:nvSpPr>
          <p:cNvPr id="3" name="Text 1"/>
          <p:cNvSpPr/>
          <p:nvPr/>
        </p:nvSpPr>
        <p:spPr>
          <a:xfrm>
            <a:off x="14808994" y="342900"/>
            <a:ext cx="2602706" cy="200025"/>
          </a:xfrm>
          <a:prstGeom prst="rect">
            <a:avLst/>
          </a:prstGeom>
          <a:noFill/>
          <a:ln/>
        </p:spPr>
        <p:txBody>
          <a:bodyPr wrap="square" lIns="25400" tIns="25400" rIns="25400" bIns="25400" rtlCol="0" anchor="t">
            <a:normAutofit/>
          </a:bodyPr>
          <a:lstStyle/>
          <a:p>
            <a:pPr algn="l" indent="0" marL="0">
              <a:buNone/>
            </a:pPr>
            <a:r>
              <a:rPr lang="en-US" sz="1125" spc="90" kern="0" dirty="0">
                <a:solidFill>
                  <a:srgbClr val="B8C2D4"/>
                </a:solidFill>
                <a:latin typeface="Courier New" pitchFamily="34" charset="0"/>
                <a:ea typeface="Courier New" pitchFamily="34" charset="-122"/>
                <a:cs typeface="Courier New" pitchFamily="34" charset="-120"/>
              </a:rPr>
              <a:t>LIMITATIONS &amp; PERSPECTIVES</a:t>
            </a:r>
            <a:endParaRPr lang="en-US" sz="1125" dirty="0"/>
          </a:p>
        </p:txBody>
      </p:sp>
      <p:sp>
        <p:nvSpPr>
          <p:cNvPr id="4" name="Text 2"/>
          <p:cNvSpPr/>
          <p:nvPr/>
        </p:nvSpPr>
        <p:spPr>
          <a:xfrm>
            <a:off x="952500" y="838200"/>
            <a:ext cx="16874490" cy="228600"/>
          </a:xfrm>
          <a:prstGeom prst="rect">
            <a:avLst/>
          </a:prstGeom>
          <a:noFill/>
          <a:ln/>
        </p:spPr>
        <p:txBody>
          <a:bodyPr wrap="square" lIns="25400" tIns="25400" rIns="25400" bIns="25400" rtlCol="0" anchor="ctr">
            <a:normAutofit/>
          </a:bodyPr>
          <a:lstStyle/>
          <a:p>
            <a:pPr algn="l" indent="0" marL="0">
              <a:buNone/>
            </a:pPr>
            <a:r>
              <a:rPr lang="en-US" sz="1350" spc="243" kern="0" dirty="0">
                <a:solidFill>
                  <a:srgbClr val="D4B06A"/>
                </a:solidFill>
                <a:latin typeface="Courier New" pitchFamily="34" charset="0"/>
                <a:ea typeface="Courier New" pitchFamily="34" charset="-122"/>
                <a:cs typeface="Courier New" pitchFamily="34" charset="-120"/>
              </a:rPr>
              <a:t>HONNÊTE SUR LE PRÉSENT, AMBITIEUX SUR LA SUITE</a:t>
            </a:r>
            <a:endParaRPr lang="en-US" sz="1350" dirty="0"/>
          </a:p>
        </p:txBody>
      </p:sp>
      <p:sp>
        <p:nvSpPr>
          <p:cNvPr id="5" name="Text 3"/>
          <p:cNvSpPr/>
          <p:nvPr/>
        </p:nvSpPr>
        <p:spPr>
          <a:xfrm>
            <a:off x="952500" y="1257300"/>
            <a:ext cx="14716125" cy="1238250"/>
          </a:xfrm>
          <a:prstGeom prst="rect">
            <a:avLst/>
          </a:prstGeom>
          <a:noFill/>
          <a:ln/>
        </p:spPr>
        <p:txBody>
          <a:bodyPr wrap="square" lIns="25400" tIns="25400" rIns="25400" bIns="25400" rtlCol="0" anchor="t">
            <a:normAutofit/>
          </a:bodyPr>
          <a:lstStyle/>
          <a:p>
            <a:pPr algn="l" indent="0" marL="0">
              <a:lnSpc>
                <a:spcPct val="105000"/>
              </a:lnSpc>
              <a:buNone/>
            </a:pPr>
            <a:r>
              <a:rPr lang="en-US" sz="4500" b="1" spc="-90" kern="0" dirty="0">
                <a:solidFill>
                  <a:srgbClr val="EEF2F8"/>
                </a:solidFill>
                <a:latin typeface="Arial" pitchFamily="34" charset="0"/>
                <a:ea typeface="Arial" pitchFamily="34" charset="-122"/>
                <a:cs typeface="Arial" pitchFamily="34" charset="-120"/>
              </a:rPr>
              <a:t>Ce qui reste à faire, et la direction que ça prendra.</a:t>
            </a:r>
            <a:endParaRPr lang="en-US" sz="4500" dirty="0"/>
          </a:p>
        </p:txBody>
      </p:sp>
      <p:sp>
        <p:nvSpPr>
          <p:cNvPr id="6" name="Shape 4"/>
          <p:cNvSpPr/>
          <p:nvPr/>
        </p:nvSpPr>
        <p:spPr>
          <a:xfrm>
            <a:off x="952500" y="3152775"/>
            <a:ext cx="7924800" cy="9525"/>
          </a:xfrm>
          <a:prstGeom prst="rect">
            <a:avLst/>
          </a:prstGeom>
          <a:solidFill>
            <a:srgbClr val="D4B06A"/>
          </a:solidFill>
          <a:ln/>
        </p:spPr>
      </p:sp>
      <p:sp>
        <p:nvSpPr>
          <p:cNvPr id="7" name="Text 5"/>
          <p:cNvSpPr/>
          <p:nvPr/>
        </p:nvSpPr>
        <p:spPr>
          <a:xfrm>
            <a:off x="952500" y="2876550"/>
            <a:ext cx="8162544" cy="20002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D4B06A"/>
                </a:solidFill>
                <a:latin typeface="Courier New" pitchFamily="34" charset="0"/>
                <a:ea typeface="Courier New" pitchFamily="34" charset="-122"/>
                <a:cs typeface="Courier New" pitchFamily="34" charset="-120"/>
              </a:rPr>
              <a:t>LIMITATIONS ACTUELLES</a:t>
            </a:r>
            <a:endParaRPr lang="en-US" sz="1125" dirty="0"/>
          </a:p>
        </p:txBody>
      </p:sp>
      <p:sp>
        <p:nvSpPr>
          <p:cNvPr id="8" name="Shape 6"/>
          <p:cNvSpPr/>
          <p:nvPr/>
        </p:nvSpPr>
        <p:spPr>
          <a:xfrm>
            <a:off x="952500" y="3743325"/>
            <a:ext cx="7924800" cy="9525"/>
          </a:xfrm>
          <a:prstGeom prst="rect">
            <a:avLst/>
          </a:prstGeom>
          <a:solidFill>
            <a:srgbClr val="213251"/>
          </a:solidFill>
          <a:ln/>
        </p:spPr>
      </p:sp>
      <p:sp>
        <p:nvSpPr>
          <p:cNvPr id="9" name="Text 7"/>
          <p:cNvSpPr/>
          <p:nvPr/>
        </p:nvSpPr>
        <p:spPr>
          <a:xfrm>
            <a:off x="1219200" y="337185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Déséquilibre classes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neutre reste la plus difficile, F1 minimal des trois</a:t>
            </a:r>
            <a:endParaRPr lang="en-US" sz="1275" dirty="0"/>
          </a:p>
        </p:txBody>
      </p:sp>
      <p:sp>
        <p:nvSpPr>
          <p:cNvPr id="10" name="Shape 8"/>
          <p:cNvSpPr/>
          <p:nvPr/>
        </p:nvSpPr>
        <p:spPr>
          <a:xfrm>
            <a:off x="952500" y="4257675"/>
            <a:ext cx="7924800" cy="9525"/>
          </a:xfrm>
          <a:prstGeom prst="rect">
            <a:avLst/>
          </a:prstGeom>
          <a:solidFill>
            <a:srgbClr val="213251"/>
          </a:solidFill>
          <a:ln/>
        </p:spPr>
      </p:sp>
      <p:sp>
        <p:nvSpPr>
          <p:cNvPr id="11" name="Text 9"/>
          <p:cNvSpPr/>
          <p:nvPr/>
        </p:nvSpPr>
        <p:spPr>
          <a:xfrm>
            <a:off x="1219200" y="388620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Failure mode "5 5 5 5 5"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passe le guardrail mots et BERT le classe positif (0.979)</a:t>
            </a:r>
            <a:endParaRPr lang="en-US" sz="1275" dirty="0"/>
          </a:p>
        </p:txBody>
      </p:sp>
      <p:sp>
        <p:nvSpPr>
          <p:cNvPr id="12" name="Shape 10"/>
          <p:cNvSpPr/>
          <p:nvPr/>
        </p:nvSpPr>
        <p:spPr>
          <a:xfrm>
            <a:off x="952500" y="4772025"/>
            <a:ext cx="7924800" cy="9525"/>
          </a:xfrm>
          <a:prstGeom prst="rect">
            <a:avLst/>
          </a:prstGeom>
          <a:solidFill>
            <a:srgbClr val="213251"/>
          </a:solidFill>
          <a:ln/>
        </p:spPr>
      </p:sp>
      <p:sp>
        <p:nvSpPr>
          <p:cNvPr id="13" name="Text 11"/>
          <p:cNvSpPr/>
          <p:nvPr/>
        </p:nvSpPr>
        <p:spPr>
          <a:xfrm>
            <a:off x="1219200" y="440055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Fiabilité recherche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DuckDuckGo rate-limit, pas de backend de fallback</a:t>
            </a:r>
            <a:endParaRPr lang="en-US" sz="1275" dirty="0"/>
          </a:p>
        </p:txBody>
      </p:sp>
      <p:sp>
        <p:nvSpPr>
          <p:cNvPr id="14" name="Shape 12"/>
          <p:cNvSpPr/>
          <p:nvPr/>
        </p:nvSpPr>
        <p:spPr>
          <a:xfrm>
            <a:off x="952500" y="5286375"/>
            <a:ext cx="7924800" cy="9525"/>
          </a:xfrm>
          <a:prstGeom prst="rect">
            <a:avLst/>
          </a:prstGeom>
          <a:solidFill>
            <a:srgbClr val="213251"/>
          </a:solidFill>
          <a:ln/>
        </p:spPr>
      </p:sp>
      <p:sp>
        <p:nvSpPr>
          <p:cNvPr id="15" name="Text 13"/>
          <p:cNvSpPr/>
          <p:nvPr/>
        </p:nvSpPr>
        <p:spPr>
          <a:xfrm>
            <a:off x="1219200" y="491490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Lock CrewAI 0.5.0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deux workarounds spécifiques à cette version</a:t>
            </a:r>
            <a:endParaRPr lang="en-US" sz="1275" dirty="0"/>
          </a:p>
        </p:txBody>
      </p:sp>
      <p:sp>
        <p:nvSpPr>
          <p:cNvPr id="16" name="Shape 14"/>
          <p:cNvSpPr/>
          <p:nvPr/>
        </p:nvSpPr>
        <p:spPr>
          <a:xfrm>
            <a:off x="952500" y="5800725"/>
            <a:ext cx="7924800" cy="9525"/>
          </a:xfrm>
          <a:prstGeom prst="rect">
            <a:avLst/>
          </a:prstGeom>
          <a:solidFill>
            <a:srgbClr val="213251"/>
          </a:solidFill>
          <a:ln/>
        </p:spPr>
      </p:sp>
      <p:sp>
        <p:nvSpPr>
          <p:cNvPr id="17" name="Text 15"/>
          <p:cNvSpPr/>
          <p:nvPr/>
        </p:nvSpPr>
        <p:spPr>
          <a:xfrm>
            <a:off x="1219200" y="542925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BERT 128 tokens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les avis longs sont tronqués</a:t>
            </a:r>
            <a:endParaRPr lang="en-US" sz="1275" dirty="0"/>
          </a:p>
        </p:txBody>
      </p:sp>
      <p:sp>
        <p:nvSpPr>
          <p:cNvPr id="18" name="Shape 16"/>
          <p:cNvSpPr/>
          <p:nvPr/>
        </p:nvSpPr>
        <p:spPr>
          <a:xfrm>
            <a:off x="952500" y="6315075"/>
            <a:ext cx="7924800" cy="9525"/>
          </a:xfrm>
          <a:prstGeom prst="rect">
            <a:avLst/>
          </a:prstGeom>
          <a:solidFill>
            <a:srgbClr val="213251"/>
          </a:solidFill>
          <a:ln/>
        </p:spPr>
      </p:sp>
      <p:sp>
        <p:nvSpPr>
          <p:cNvPr id="19" name="Text 17"/>
          <p:cNvSpPr/>
          <p:nvPr/>
        </p:nvSpPr>
        <p:spPr>
          <a:xfrm>
            <a:off x="1219200" y="594360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Anglais uniquement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pas de garantie sur nuances non-anglaises</a:t>
            </a:r>
            <a:endParaRPr lang="en-US" sz="1275" dirty="0"/>
          </a:p>
        </p:txBody>
      </p:sp>
      <p:sp>
        <p:nvSpPr>
          <p:cNvPr id="20" name="Text 18"/>
          <p:cNvSpPr/>
          <p:nvPr/>
        </p:nvSpPr>
        <p:spPr>
          <a:xfrm>
            <a:off x="1219200" y="645795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HITL stdin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input() console, non déployable en batch / web</a:t>
            </a:r>
            <a:endParaRPr lang="en-US" sz="1275" dirty="0"/>
          </a:p>
        </p:txBody>
      </p:sp>
      <p:sp>
        <p:nvSpPr>
          <p:cNvPr id="21" name="Shape 19"/>
          <p:cNvSpPr/>
          <p:nvPr/>
        </p:nvSpPr>
        <p:spPr>
          <a:xfrm>
            <a:off x="9410700" y="3152775"/>
            <a:ext cx="7924800" cy="9525"/>
          </a:xfrm>
          <a:prstGeom prst="rect">
            <a:avLst/>
          </a:prstGeom>
          <a:solidFill>
            <a:srgbClr val="6FA3D2"/>
          </a:solidFill>
          <a:ln/>
        </p:spPr>
      </p:sp>
      <p:sp>
        <p:nvSpPr>
          <p:cNvPr id="22" name="Text 20"/>
          <p:cNvSpPr/>
          <p:nvPr/>
        </p:nvSpPr>
        <p:spPr>
          <a:xfrm>
            <a:off x="9410700" y="2876550"/>
            <a:ext cx="8162544" cy="200025"/>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6FA3D2"/>
                </a:solidFill>
                <a:latin typeface="Courier New" pitchFamily="34" charset="0"/>
                <a:ea typeface="Courier New" pitchFamily="34" charset="-122"/>
                <a:cs typeface="Courier New" pitchFamily="34" charset="-120"/>
              </a:rPr>
              <a:t>PERSPECTIVES</a:t>
            </a:r>
            <a:endParaRPr lang="en-US" sz="1125" dirty="0"/>
          </a:p>
        </p:txBody>
      </p:sp>
      <p:sp>
        <p:nvSpPr>
          <p:cNvPr id="23" name="Shape 21"/>
          <p:cNvSpPr/>
          <p:nvPr/>
        </p:nvSpPr>
        <p:spPr>
          <a:xfrm>
            <a:off x="9410700" y="3743325"/>
            <a:ext cx="7924800" cy="9525"/>
          </a:xfrm>
          <a:prstGeom prst="rect">
            <a:avLst/>
          </a:prstGeom>
          <a:solidFill>
            <a:srgbClr val="213251"/>
          </a:solidFill>
          <a:ln/>
        </p:spPr>
      </p:sp>
      <p:sp>
        <p:nvSpPr>
          <p:cNvPr id="24" name="Text 22"/>
          <p:cNvSpPr/>
          <p:nvPr/>
        </p:nvSpPr>
        <p:spPr>
          <a:xfrm>
            <a:off x="9677400" y="337185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Migration LangGraph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branchement conditionnel, retries avec backoff</a:t>
            </a:r>
            <a:endParaRPr lang="en-US" sz="1275" dirty="0"/>
          </a:p>
        </p:txBody>
      </p:sp>
      <p:sp>
        <p:nvSpPr>
          <p:cNvPr id="25" name="Shape 23"/>
          <p:cNvSpPr/>
          <p:nvPr/>
        </p:nvSpPr>
        <p:spPr>
          <a:xfrm>
            <a:off x="9410700" y="4257675"/>
            <a:ext cx="7924800" cy="9525"/>
          </a:xfrm>
          <a:prstGeom prst="rect">
            <a:avLst/>
          </a:prstGeom>
          <a:solidFill>
            <a:srgbClr val="213251"/>
          </a:solidFill>
          <a:ln/>
        </p:spPr>
      </p:sp>
      <p:sp>
        <p:nvSpPr>
          <p:cNvPr id="26" name="Text 24"/>
          <p:cNvSpPr/>
          <p:nvPr/>
        </p:nvSpPr>
        <p:spPr>
          <a:xfrm>
            <a:off x="9677400" y="388620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UI Streamlit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remplacer input() HITL par un formulaire web</a:t>
            </a:r>
            <a:endParaRPr lang="en-US" sz="1275" dirty="0"/>
          </a:p>
        </p:txBody>
      </p:sp>
      <p:sp>
        <p:nvSpPr>
          <p:cNvPr id="27" name="Shape 25"/>
          <p:cNvSpPr/>
          <p:nvPr/>
        </p:nvSpPr>
        <p:spPr>
          <a:xfrm>
            <a:off x="9410700" y="4772025"/>
            <a:ext cx="7924800" cy="9525"/>
          </a:xfrm>
          <a:prstGeom prst="rect">
            <a:avLst/>
          </a:prstGeom>
          <a:solidFill>
            <a:srgbClr val="213251"/>
          </a:solidFill>
          <a:ln/>
        </p:spPr>
      </p:sp>
      <p:sp>
        <p:nvSpPr>
          <p:cNvPr id="28" name="Text 26"/>
          <p:cNvSpPr/>
          <p:nvPr/>
        </p:nvSpPr>
        <p:spPr>
          <a:xfrm>
            <a:off x="9677400" y="440055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Modèle multilingue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XLM-RoBERTa pour le français, l'arabe, l'espagnol</a:t>
            </a:r>
            <a:endParaRPr lang="en-US" sz="1275" dirty="0"/>
          </a:p>
        </p:txBody>
      </p:sp>
      <p:sp>
        <p:nvSpPr>
          <p:cNvPr id="29" name="Shape 27"/>
          <p:cNvSpPr/>
          <p:nvPr/>
        </p:nvSpPr>
        <p:spPr>
          <a:xfrm>
            <a:off x="9410700" y="5286375"/>
            <a:ext cx="7924800" cy="9525"/>
          </a:xfrm>
          <a:prstGeom prst="rect">
            <a:avLst/>
          </a:prstGeom>
          <a:solidFill>
            <a:srgbClr val="213251"/>
          </a:solidFill>
          <a:ln/>
        </p:spPr>
      </p:sp>
      <p:sp>
        <p:nvSpPr>
          <p:cNvPr id="30" name="Text 28"/>
          <p:cNvSpPr/>
          <p:nvPr/>
        </p:nvSpPr>
        <p:spPr>
          <a:xfrm>
            <a:off x="9677400" y="491490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Schéma Pydantic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typage strict du JSON final au lieu du regex coerce</a:t>
            </a:r>
            <a:endParaRPr lang="en-US" sz="1275" dirty="0"/>
          </a:p>
        </p:txBody>
      </p:sp>
      <p:sp>
        <p:nvSpPr>
          <p:cNvPr id="31" name="Shape 29"/>
          <p:cNvSpPr/>
          <p:nvPr/>
        </p:nvSpPr>
        <p:spPr>
          <a:xfrm>
            <a:off x="9410700" y="5800725"/>
            <a:ext cx="7924800" cy="9525"/>
          </a:xfrm>
          <a:prstGeom prst="rect">
            <a:avLst/>
          </a:prstGeom>
          <a:solidFill>
            <a:srgbClr val="213251"/>
          </a:solidFill>
          <a:ln/>
        </p:spPr>
      </p:sp>
      <p:sp>
        <p:nvSpPr>
          <p:cNvPr id="32" name="Text 30"/>
          <p:cNvSpPr/>
          <p:nvPr/>
        </p:nvSpPr>
        <p:spPr>
          <a:xfrm>
            <a:off x="9677400" y="5429250"/>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Backend de recherche fiable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Brave Search ou SerpAPI derrière feature flag</a:t>
            </a:r>
            <a:endParaRPr lang="en-US" sz="1275" dirty="0"/>
          </a:p>
        </p:txBody>
      </p:sp>
      <p:sp>
        <p:nvSpPr>
          <p:cNvPr id="33" name="Shape 31"/>
          <p:cNvSpPr/>
          <p:nvPr/>
        </p:nvSpPr>
        <p:spPr>
          <a:xfrm>
            <a:off x="9410700" y="6324600"/>
            <a:ext cx="7924800" cy="9525"/>
          </a:xfrm>
          <a:prstGeom prst="rect">
            <a:avLst/>
          </a:prstGeom>
          <a:solidFill>
            <a:srgbClr val="213251"/>
          </a:solidFill>
          <a:ln/>
        </p:spPr>
      </p:sp>
      <p:sp>
        <p:nvSpPr>
          <p:cNvPr id="34" name="Text 32"/>
          <p:cNvSpPr/>
          <p:nvPr/>
        </p:nvSpPr>
        <p:spPr>
          <a:xfrm>
            <a:off x="9677400" y="5943600"/>
            <a:ext cx="7887843" cy="285750"/>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Cache LRU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a:t>
            </a:r>
            <a:pPr algn="l" indent="0" marL="0">
              <a:lnSpc>
                <a:spcPct val="145000"/>
              </a:lnSpc>
              <a:buNone/>
            </a:pPr>
            <a:r>
              <a:rPr lang="en-US" sz="1275" dirty="0">
                <a:solidFill>
                  <a:srgbClr val="B8C2D4"/>
                </a:solidFill>
                <a:latin typeface="Courier New" pitchFamily="34" charset="0"/>
                <a:ea typeface="Courier New" pitchFamily="34" charset="-122"/>
                <a:cs typeface="Courier New" pitchFamily="34" charset="-120"/>
              </a:rPr>
              <a:t>(review_hash → JSON)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pour skipper tout le crew</a:t>
            </a:r>
            <a:endParaRPr lang="en-US" sz="1275" dirty="0"/>
          </a:p>
        </p:txBody>
      </p:sp>
      <p:sp>
        <p:nvSpPr>
          <p:cNvPr id="35" name="Text 33"/>
          <p:cNvSpPr/>
          <p:nvPr/>
        </p:nvSpPr>
        <p:spPr>
          <a:xfrm>
            <a:off x="9677400" y="6467475"/>
            <a:ext cx="7887843" cy="276225"/>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EEF2F8"/>
                </a:solidFill>
                <a:latin typeface="Arial" pitchFamily="34" charset="0"/>
                <a:ea typeface="Arial" pitchFamily="34" charset="-122"/>
                <a:cs typeface="Arial" pitchFamily="34" charset="-120"/>
              </a:rPr>
              <a:t>Confiance composite </a:t>
            </a:r>
            <a:pPr algn="l" indent="0" marL="0">
              <a:lnSpc>
                <a:spcPct val="145000"/>
              </a:lnSpc>
              <a:buNone/>
            </a:pPr>
            <a:r>
              <a:rPr lang="en-US" sz="1275" dirty="0">
                <a:solidFill>
                  <a:srgbClr val="B8C2D4"/>
                </a:solidFill>
                <a:latin typeface="Arial" pitchFamily="34" charset="0"/>
                <a:ea typeface="Arial" pitchFamily="34" charset="-122"/>
                <a:cs typeface="Arial" pitchFamily="34" charset="-120"/>
              </a:rPr>
              <a:t>— BERT + logprobs LLM + qualité recherche</a:t>
            </a:r>
            <a:endParaRPr lang="en-US" sz="1275" dirty="0"/>
          </a:p>
        </p:txBody>
      </p:sp>
      <p:sp>
        <p:nvSpPr>
          <p:cNvPr id="36" name="Shape 34"/>
          <p:cNvSpPr/>
          <p:nvPr/>
        </p:nvSpPr>
        <p:spPr>
          <a:xfrm>
            <a:off x="952500" y="8839200"/>
            <a:ext cx="16383000" cy="9525"/>
          </a:xfrm>
          <a:prstGeom prst="rect">
            <a:avLst/>
          </a:prstGeom>
          <a:solidFill>
            <a:srgbClr val="2D4268"/>
          </a:solidFill>
          <a:ln/>
        </p:spPr>
      </p:sp>
      <p:sp>
        <p:nvSpPr>
          <p:cNvPr id="37" name="Text 35"/>
          <p:cNvSpPr/>
          <p:nvPr/>
        </p:nvSpPr>
        <p:spPr>
          <a:xfrm>
            <a:off x="952500" y="9115425"/>
            <a:ext cx="4552801" cy="447675"/>
          </a:xfrm>
          <a:prstGeom prst="rect">
            <a:avLst/>
          </a:prstGeom>
          <a:noFill/>
          <a:ln/>
        </p:spPr>
        <p:txBody>
          <a:bodyPr wrap="square" lIns="25400" tIns="25400" rIns="25400" bIns="25400" rtlCol="0" anchor="t">
            <a:normAutofit/>
          </a:bodyPr>
          <a:lstStyle/>
          <a:p>
            <a:pPr algn="l" indent="0" marL="0">
              <a:buNone/>
            </a:pPr>
            <a:r>
              <a:rPr lang="en-US" sz="2850" i="1" dirty="0">
                <a:solidFill>
                  <a:srgbClr val="D4B06A"/>
                </a:solidFill>
                <a:latin typeface="Georgia" pitchFamily="34" charset="0"/>
                <a:ea typeface="Georgia" pitchFamily="34" charset="-122"/>
                <a:cs typeface="Georgia" pitchFamily="34" charset="-120"/>
              </a:rPr>
              <a:t>Merci pour votre attention.</a:t>
            </a:r>
            <a:endParaRPr lang="en-US" sz="2850" dirty="0"/>
          </a:p>
        </p:txBody>
      </p:sp>
      <p:sp>
        <p:nvSpPr>
          <p:cNvPr id="38" name="Text 36"/>
          <p:cNvSpPr/>
          <p:nvPr/>
        </p:nvSpPr>
        <p:spPr>
          <a:xfrm>
            <a:off x="14786967" y="9324975"/>
            <a:ext cx="2624989"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D8AA3"/>
                </a:solidFill>
                <a:latin typeface="Courier New" pitchFamily="34" charset="0"/>
                <a:ea typeface="Courier New" pitchFamily="34" charset="-122"/>
                <a:cs typeface="Courier New" pitchFamily="34" charset="-120"/>
              </a:rPr>
              <a:t>— QUESTIONS &amp; RÉPONSES</a:t>
            </a:r>
            <a:endParaRPr lang="en-US" sz="1200" dirty="0"/>
          </a:p>
        </p:txBody>
      </p:sp>
      <p:sp>
        <p:nvSpPr>
          <p:cNvPr id="39" name="Text 37"/>
          <p:cNvSpPr/>
          <p:nvPr/>
        </p:nvSpPr>
        <p:spPr>
          <a:xfrm>
            <a:off x="952500" y="9791700"/>
            <a:ext cx="2452985"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7D8AA3"/>
                </a:solidFill>
                <a:latin typeface="Courier New" pitchFamily="34" charset="0"/>
                <a:ea typeface="Courier New" pitchFamily="34" charset="-122"/>
                <a:cs typeface="Courier New" pitchFamily="34" charset="-120"/>
              </a:rPr>
              <a:t>PRODUCT REVIEW INTELLIGENCE</a:t>
            </a:r>
            <a:endParaRPr lang="en-US" sz="1050" dirty="0"/>
          </a:p>
        </p:txBody>
      </p:sp>
      <p:sp>
        <p:nvSpPr>
          <p:cNvPr id="40" name="Text 38"/>
          <p:cNvSpPr/>
          <p:nvPr/>
        </p:nvSpPr>
        <p:spPr>
          <a:xfrm>
            <a:off x="15310842" y="9791700"/>
            <a:ext cx="2100858" cy="190500"/>
          </a:xfrm>
          <a:prstGeom prst="rect">
            <a:avLst/>
          </a:prstGeom>
          <a:noFill/>
          <a:ln/>
        </p:spPr>
        <p:txBody>
          <a:bodyPr wrap="square" lIns="25400" tIns="25400" rIns="25400" bIns="25400" rtlCol="0" anchor="t">
            <a:normAutofit/>
          </a:bodyPr>
          <a:lstStyle/>
          <a:p>
            <a:pPr algn="l" indent="0" marL="0">
              <a:buNone/>
            </a:pPr>
            <a:r>
              <a:rPr lang="en-US" sz="1050" spc="63" kern="0" dirty="0">
                <a:solidFill>
                  <a:srgbClr val="D4B06A"/>
                </a:solidFill>
                <a:latin typeface="Courier New" pitchFamily="34" charset="0"/>
                <a:ea typeface="Courier New" pitchFamily="34" charset="-122"/>
                <a:cs typeface="Courier New" pitchFamily="34" charset="-120"/>
              </a:rPr>
              <a:t>A. LOUZAL </a:t>
            </a:r>
            <a:pPr algn="l" indent="0" marL="0">
              <a:buNone/>
            </a:pPr>
            <a:r>
              <a:rPr lang="en-US" sz="1050" spc="63" kern="0" dirty="0">
                <a:solidFill>
                  <a:srgbClr val="7D8AA3"/>
                </a:solidFill>
                <a:latin typeface="Courier New" pitchFamily="34" charset="0"/>
                <a:ea typeface="Courier New" pitchFamily="34" charset="-122"/>
                <a:cs typeface="Courier New" pitchFamily="34" charset="-120"/>
              </a:rPr>
              <a:t>· S8 ESIN UIR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2026-05-21T17:44:51Z</dcterms:created>
  <dcterms:modified xsi:type="dcterms:W3CDTF">2026-05-21T17:44:51Z</dcterms:modified>
</cp:coreProperties>
</file>